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358" r:id="rId102"/>
    <p:sldId id="359" r:id="rId103"/>
    <p:sldId id="360" r:id="rId104"/>
    <p:sldId id="361" r:id="rId105"/>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presProps" Target="pres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81DCFE-E881-452B-BFD9-6FDECB98E7E6}" type="datetimeFigureOut">
              <a:rPr lang="fr-FR" smtClean="0"/>
              <a:pPr/>
              <a:t>30/10/2024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A69DD0-F7B4-44BF-B23C-75D34B657B1F}"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1</a:t>
            </a:fld>
            <a:endParaRPr lang="fr-F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8</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14</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15</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16</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17</a:t>
            </a:fld>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18</a:t>
            </a:fld>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20</a:t>
            </a:fld>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21</a:t>
            </a:fld>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22</a:t>
            </a:fld>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23</a:t>
            </a:fld>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24</a:t>
            </a:fld>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25</a:t>
            </a:fld>
            <a:endParaRPr lang="fr-F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26</a:t>
            </a:fld>
            <a:endParaRPr lang="fr-F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29</a:t>
            </a:fld>
            <a:endParaRPr lang="fr-F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30</a:t>
            </a:fld>
            <a:endParaRPr lang="fr-F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31</a:t>
            </a:fld>
            <a:endParaRPr lang="fr-F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32</a:t>
            </a:fld>
            <a:endParaRPr lang="fr-F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33</a:t>
            </a:fld>
            <a:endParaRPr lang="fr-F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34</a:t>
            </a:fld>
            <a:endParaRPr lang="fr-F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35</a:t>
            </a:fld>
            <a:endParaRPr lang="fr-F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36</a:t>
            </a:fld>
            <a:endParaRPr lang="fr-F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37</a:t>
            </a:fld>
            <a:endParaRPr lang="fr-F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38</a:t>
            </a:fld>
            <a:endParaRPr lang="fr-F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39</a:t>
            </a:fld>
            <a:endParaRPr lang="fr-F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40</a:t>
            </a:fld>
            <a:endParaRPr lang="fr-F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41</a:t>
            </a:fld>
            <a:endParaRPr lang="fr-F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42</a:t>
            </a:fld>
            <a:endParaRPr lang="fr-F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44</a:t>
            </a:fld>
            <a:endParaRPr lang="fr-F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45</a:t>
            </a:fld>
            <a:endParaRPr lang="fr-F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46</a:t>
            </a:fld>
            <a:endParaRPr lang="fr-F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47</a:t>
            </a:fld>
            <a:endParaRPr lang="fr-F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48</a:t>
            </a:fld>
            <a:endParaRPr lang="fr-F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50</a:t>
            </a:fld>
            <a:endParaRPr lang="fr-F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51</a:t>
            </a:fld>
            <a:endParaRPr lang="fr-F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52</a:t>
            </a:fld>
            <a:endParaRPr lang="fr-F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53</a:t>
            </a:fld>
            <a:endParaRPr lang="fr-F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54</a:t>
            </a:fld>
            <a:endParaRPr lang="fr-F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55</a:t>
            </a:fld>
            <a:endParaRPr lang="fr-F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56</a:t>
            </a:fld>
            <a:endParaRPr lang="fr-F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57</a:t>
            </a:fld>
            <a:endParaRPr lang="fr-F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59</a:t>
            </a:fld>
            <a:endParaRPr lang="fr-F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60</a:t>
            </a:fld>
            <a:endParaRPr lang="fr-F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27570C47-BB38-4318-8FC7-FEA18FA0795B}" type="slidenum">
              <a:rPr lang="fr-FR" smtClean="0"/>
              <a:pPr/>
              <a:t>61</a:t>
            </a:fld>
            <a:endParaRPr lang="fr-FR"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p:txBody>
          <a:bodyPr/>
          <a:lstStyle/>
          <a:p>
            <a:endParaRPr lang="en-CA"/>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p:txBody>
          <a:bodyPr/>
          <a:lstStyle/>
          <a:p>
            <a:endParaRPr lang="en-CA"/>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p:txBody>
          <a:bodyPr/>
          <a:lstStyle/>
          <a:p>
            <a:endParaRPr lang="en-CA"/>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p:txBody>
          <a:bodyPr/>
          <a:lstStyle/>
          <a:p>
            <a:endParaRPr lang="en-CA"/>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p:txBody>
          <a:bodyPr/>
          <a:lstStyle/>
          <a:p>
            <a:endParaRPr lang="en-CA"/>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endParaRPr lang="en-CA"/>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p:txBody>
          <a:bodyPr/>
          <a:lstStyle/>
          <a:p>
            <a:endParaRPr lang="en-CA"/>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p:spPr>
        <p:txBody>
          <a:bodyPr/>
          <a:lstStyle/>
          <a:p>
            <a:pPr eaLnBrk="1" hangingPunct="1"/>
            <a:endParaRPr lang="en-CA"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p:spPr>
        <p:txBody>
          <a:bodyPr/>
          <a:lstStyle/>
          <a:p>
            <a:pPr eaLnBrk="1" hangingPunct="1"/>
            <a:endParaRPr lang="en-CA"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p:spPr>
        <p:txBody>
          <a:bodyPr/>
          <a:lstStyle/>
          <a:p>
            <a:pPr eaLnBrk="1" hangingPunct="1"/>
            <a:endParaRPr lang="en-CA"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p:spPr>
        <p:txBody>
          <a:bodyPr/>
          <a:lstStyle/>
          <a:p>
            <a:pPr eaLnBrk="1" hangingPunct="1"/>
            <a:endParaRPr lang="en-CA"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p:txBody>
          <a:bodyPr/>
          <a:lstStyle/>
          <a:p>
            <a:endParaRPr lang="en-CA"/>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ectangle à coins arrondis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ous-titr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25148582-20FE-407F-B490-1604D981E456}" type="datetimeFigureOut">
              <a:rPr lang="fr-FR" smtClean="0"/>
              <a:pPr/>
              <a:t>30/10/2024</a:t>
            </a:fld>
            <a:endParaRPr lang="fr-FR"/>
          </a:p>
        </p:txBody>
      </p:sp>
      <p:sp>
        <p:nvSpPr>
          <p:cNvPr id="17" name="Espace réservé du pied de page 16"/>
          <p:cNvSpPr>
            <a:spLocks noGrp="1"/>
          </p:cNvSpPr>
          <p:nvPr>
            <p:ph type="ftr" sz="quarter" idx="11"/>
          </p:nvPr>
        </p:nvSpPr>
        <p:spPr/>
        <p:txBody>
          <a:bodyPr/>
          <a:lstStyle/>
          <a:p>
            <a:endParaRPr lang="fr-FR"/>
          </a:p>
        </p:txBody>
      </p:sp>
      <p:sp>
        <p:nvSpPr>
          <p:cNvPr id="29" name="Espace réservé du numéro de diapositive 28"/>
          <p:cNvSpPr>
            <a:spLocks noGrp="1"/>
          </p:cNvSpPr>
          <p:nvPr>
            <p:ph type="sldNum" sz="quarter" idx="12"/>
          </p:nvPr>
        </p:nvSpPr>
        <p:spPr/>
        <p:txBody>
          <a:bodyPr lIns="0" tIns="0" rIns="0" bIns="0">
            <a:noAutofit/>
          </a:bodyPr>
          <a:lstStyle>
            <a:lvl1pPr>
              <a:defRPr sz="1400">
                <a:solidFill>
                  <a:srgbClr val="FFFFFF"/>
                </a:solidFill>
              </a:defRPr>
            </a:lvl1pPr>
          </a:lstStyle>
          <a:p>
            <a:fld id="{D37953D8-D04F-47B4-AC7F-4FED7260D62A}" type="slidenum">
              <a:rPr lang="fr-FR" smtClean="0"/>
              <a:pPr/>
              <a:t>‹N°›</a:t>
            </a:fld>
            <a:endParaRPr lang="fr-FR"/>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r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25148582-20FE-407F-B490-1604D981E456}" type="datetimeFigureOut">
              <a:rPr lang="fr-FR" smtClean="0"/>
              <a:pPr/>
              <a:t>30/10/2024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37953D8-D04F-47B4-AC7F-4FED7260D62A}" type="slidenum">
              <a:rPr lang="fr-FR" smtClean="0"/>
              <a:pPr/>
              <a:t>‹N°›</a:t>
            </a:fld>
            <a:endParaRPr lang="fr-FR"/>
          </a:p>
        </p:txBody>
      </p:sp>
      <p:sp>
        <p:nvSpPr>
          <p:cNvPr id="8" name="Espace réservé du contenu 7"/>
          <p:cNvSpPr>
            <a:spLocks noGrp="1"/>
          </p:cNvSpPr>
          <p:nvPr>
            <p:ph sz="quarter" idx="1"/>
          </p:nvPr>
        </p:nvSpPr>
        <p:spPr>
          <a:xfrm>
            <a:off x="914400" y="1447800"/>
            <a:ext cx="777240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ectangle à coins arrondis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fld id="{25148582-20FE-407F-B490-1604D981E456}" type="datetimeFigureOut">
              <a:rPr lang="fr-FR" smtClean="0"/>
              <a:pPr/>
              <a:t>30/10/2024</a:t>
            </a:fld>
            <a:endParaRPr lang="fr-FR"/>
          </a:p>
        </p:txBody>
      </p:sp>
      <p:sp>
        <p:nvSpPr>
          <p:cNvPr id="5" name="Espace réservé du pied de page 4"/>
          <p:cNvSpPr>
            <a:spLocks noGrp="1"/>
          </p:cNvSpPr>
          <p:nvPr>
            <p:ph type="ftr" sz="quarter" idx="11"/>
          </p:nvPr>
        </p:nvSpPr>
        <p:spPr>
          <a:xfrm>
            <a:off x="800100" y="6172200"/>
            <a:ext cx="4000500" cy="457200"/>
          </a:xfrm>
        </p:spPr>
        <p:txBody>
          <a:bodyPr/>
          <a:lstStyle/>
          <a:p>
            <a:endParaRPr lang="fr-F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146304" y="6208776"/>
            <a:ext cx="457200" cy="457200"/>
          </a:xfrm>
        </p:spPr>
        <p:txBody>
          <a:bodyPr/>
          <a:lstStyle/>
          <a:p>
            <a:fld id="{D37953D8-D04F-47B4-AC7F-4FED7260D62A}"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25148582-20FE-407F-B490-1604D981E456}" type="datetimeFigureOut">
              <a:rPr lang="fr-FR" smtClean="0"/>
              <a:pPr/>
              <a:t>30/10/2024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37953D8-D04F-47B4-AC7F-4FED7260D62A}" type="slidenum">
              <a:rPr lang="fr-FR" smtClean="0"/>
              <a:pPr/>
              <a:t>‹N°›</a:t>
            </a:fld>
            <a:endParaRPr lang="fr-FR"/>
          </a:p>
        </p:txBody>
      </p:sp>
      <p:sp>
        <p:nvSpPr>
          <p:cNvPr id="9" name="Espace réservé du contenu 8"/>
          <p:cNvSpPr>
            <a:spLocks noGrp="1"/>
          </p:cNvSpPr>
          <p:nvPr>
            <p:ph sz="quarter" idx="1"/>
          </p:nvPr>
        </p:nvSpPr>
        <p:spPr>
          <a:xfrm>
            <a:off x="91440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93395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914400" y="273050"/>
            <a:ext cx="7772400" cy="1143000"/>
          </a:xfrm>
        </p:spPr>
        <p:txBody>
          <a:bodyPr anchor="b" anchorCtr="0"/>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25148582-20FE-407F-B490-1604D981E456}" type="datetimeFigureOut">
              <a:rPr lang="fr-FR" smtClean="0"/>
              <a:pPr/>
              <a:t>30/10/2024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D37953D8-D04F-47B4-AC7F-4FED7260D62A}" type="slidenum">
              <a:rPr lang="fr-FR" smtClean="0"/>
              <a:pPr/>
              <a:t>‹N°›</a:t>
            </a:fld>
            <a:endParaRPr lang="fr-FR"/>
          </a:p>
        </p:txBody>
      </p:sp>
      <p:sp>
        <p:nvSpPr>
          <p:cNvPr id="11" name="Espace réservé du contenu 10"/>
          <p:cNvSpPr>
            <a:spLocks noGrp="1"/>
          </p:cNvSpPr>
          <p:nvPr>
            <p:ph sz="half" idx="2"/>
          </p:nvPr>
        </p:nvSpPr>
        <p:spPr>
          <a:xfrm>
            <a:off x="9144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half" idx="4"/>
          </p:nvPr>
        </p:nvSpPr>
        <p:spPr>
          <a:xfrm>
            <a:off x="49530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25148582-20FE-407F-B490-1604D981E456}" type="datetimeFigureOut">
              <a:rPr lang="fr-FR" smtClean="0"/>
              <a:pPr/>
              <a:t>30/10/2024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D37953D8-D04F-47B4-AC7F-4FED7260D62A}"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25148582-20FE-407F-B490-1604D981E456}" type="datetimeFigureOut">
              <a:rPr lang="fr-FR" smtClean="0"/>
              <a:pPr/>
              <a:t>30/10/2024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D37953D8-D04F-47B4-AC7F-4FED7260D62A}"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ectangle à coins arrondis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914400" y="273050"/>
            <a:ext cx="7772400" cy="1143000"/>
          </a:xfrm>
        </p:spPr>
        <p:txBody>
          <a:bodyPr anchor="b" anchorCtr="0"/>
          <a:lstStyle>
            <a:lvl1pPr algn="l">
              <a:buNone/>
              <a:defRPr sz="4000" b="0"/>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25148582-20FE-407F-B490-1604D981E456}" type="datetimeFigureOut">
              <a:rPr lang="fr-FR" smtClean="0"/>
              <a:pPr/>
              <a:t>30/10/2024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37953D8-D04F-47B4-AC7F-4FED7260D62A}" type="slidenum">
              <a:rPr lang="fr-FR" smtClean="0"/>
              <a:pPr/>
              <a:t>‹N°›</a:t>
            </a:fld>
            <a:endParaRPr lang="fr-FR"/>
          </a:p>
        </p:txBody>
      </p:sp>
      <p:sp>
        <p:nvSpPr>
          <p:cNvPr id="11" name="Espace réservé du contenu 10"/>
          <p:cNvSpPr>
            <a:spLocks noGrp="1"/>
          </p:cNvSpPr>
          <p:nvPr>
            <p:ph sz="quarter" idx="1"/>
          </p:nvPr>
        </p:nvSpPr>
        <p:spPr>
          <a:xfrm>
            <a:off x="2971800" y="1600200"/>
            <a:ext cx="5715000" cy="44958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fr-FR" smtClean="0"/>
              <a:t>Cliquez pour modifier le style du titre</a:t>
            </a:r>
            <a:endParaRPr kumimoji="0" lang="en-US"/>
          </a:p>
        </p:txBody>
      </p:sp>
      <p:sp>
        <p:nvSpPr>
          <p:cNvPr id="4" name="Espace réservé du texte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25148582-20FE-407F-B490-1604D981E456}" type="datetimeFigureOut">
              <a:rPr lang="fr-FR" smtClean="0"/>
              <a:pPr/>
              <a:t>30/10/2024</a:t>
            </a:fld>
            <a:endParaRPr lang="fr-FR"/>
          </a:p>
        </p:txBody>
      </p:sp>
      <p:sp>
        <p:nvSpPr>
          <p:cNvPr id="6" name="Espace réservé du pied de page 5"/>
          <p:cNvSpPr>
            <a:spLocks noGrp="1"/>
          </p:cNvSpPr>
          <p:nvPr>
            <p:ph type="ftr" sz="quarter" idx="11"/>
          </p:nvPr>
        </p:nvSpPr>
        <p:spPr>
          <a:xfrm>
            <a:off x="914400" y="6172200"/>
            <a:ext cx="3886200" cy="457200"/>
          </a:xfrm>
        </p:spPr>
        <p:txBody>
          <a:bodyPr/>
          <a:lstStyle/>
          <a:p>
            <a:endParaRPr lang="fr-FR"/>
          </a:p>
        </p:txBody>
      </p:sp>
      <p:sp>
        <p:nvSpPr>
          <p:cNvPr id="7" name="Espace réservé du numéro de diapositive 6"/>
          <p:cNvSpPr>
            <a:spLocks noGrp="1"/>
          </p:cNvSpPr>
          <p:nvPr>
            <p:ph type="sldNum" sz="quarter" idx="12"/>
          </p:nvPr>
        </p:nvSpPr>
        <p:spPr>
          <a:xfrm>
            <a:off x="146304" y="6208776"/>
            <a:ext cx="457200" cy="457200"/>
          </a:xfrm>
        </p:spPr>
        <p:txBody>
          <a:bodyPr/>
          <a:lstStyle/>
          <a:p>
            <a:fld id="{D37953D8-D04F-47B4-AC7F-4FED7260D62A}" type="slidenum">
              <a:rPr lang="fr-FR" smtClean="0"/>
              <a:pPr/>
              <a:t>‹N°›</a:t>
            </a:fld>
            <a:endParaRPr lang="fr-FR"/>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Espace réservé pour une image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fr-FR" smtClean="0"/>
              <a:t>Cliquez sur l'icône pour ajouter une image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25148582-20FE-407F-B490-1604D981E456}" type="datetimeFigureOut">
              <a:rPr lang="fr-FR" smtClean="0"/>
              <a:pPr/>
              <a:t>30/10/2024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37953D8-D04F-47B4-AC7F-4FED7260D62A}"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1"/>
            <a:ext cx="201168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914400" y="274640"/>
            <a:ext cx="55626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25148582-20FE-407F-B490-1604D981E456}" type="datetimeFigureOut">
              <a:rPr lang="fr-FR" smtClean="0"/>
              <a:pPr/>
              <a:t>30/10/2024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37953D8-D04F-47B4-AC7F-4FED7260D62A}"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ectangle à coins arrondis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Espace réservé du titre 21"/>
          <p:cNvSpPr>
            <a:spLocks noGrp="1"/>
          </p:cNvSpPr>
          <p:nvPr>
            <p:ph type="title"/>
          </p:nvPr>
        </p:nvSpPr>
        <p:spPr>
          <a:xfrm>
            <a:off x="914400" y="274638"/>
            <a:ext cx="7772400" cy="1143000"/>
          </a:xfrm>
          <a:prstGeom prst="rect">
            <a:avLst/>
          </a:prstGeom>
        </p:spPr>
        <p:txBody>
          <a:bodyPr bIns="91440" anchor="b" anchorCtr="0">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25148582-20FE-407F-B490-1604D981E456}" type="datetimeFigureOut">
              <a:rPr lang="fr-FR" smtClean="0"/>
              <a:pPr/>
              <a:t>30/10/2024</a:t>
            </a:fld>
            <a:endParaRPr lang="fr-FR"/>
          </a:p>
        </p:txBody>
      </p:sp>
      <p:sp>
        <p:nvSpPr>
          <p:cNvPr id="3" name="Espace réservé du pied de page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fr-FR"/>
          </a:p>
        </p:txBody>
      </p:sp>
      <p:sp>
        <p:nvSpPr>
          <p:cNvPr id="23" name="Espace réservé du numéro de diapositive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D37953D8-D04F-47B4-AC7F-4FED7260D62A}"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png"/><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3.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oleObject4.bin"/></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oleObject" Target="../embeddings/oleObject5.bin"/></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50.png"/><Relationship Id="rId4" Type="http://schemas.openxmlformats.org/officeDocument/2006/relationships/oleObject" Target="../embeddings/oleObject6.bin"/></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hyperlink" Target="https://blogingenieurs.com/" TargetMode="Externa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8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4" Type="http://schemas.openxmlformats.org/officeDocument/2006/relationships/image" Target="../media/image8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b="1" dirty="0" smtClean="0">
                <a:solidFill>
                  <a:schemeClr val="tx1"/>
                </a:solidFill>
              </a:rPr>
              <a:t>TP Analyse Numérique</a:t>
            </a:r>
            <a:br>
              <a:rPr lang="fr-FR" b="1" dirty="0" smtClean="0">
                <a:solidFill>
                  <a:schemeClr val="tx1"/>
                </a:solidFill>
              </a:rPr>
            </a:br>
            <a:r>
              <a:rPr lang="fr-FR" b="1" dirty="0" smtClean="0">
                <a:solidFill>
                  <a:schemeClr val="tx1"/>
                </a:solidFill>
              </a:rPr>
              <a:t>sous MATLAB</a:t>
            </a:r>
            <a:endParaRPr lang="fr-FR" b="1" dirty="0">
              <a:solidFill>
                <a:schemeClr val="tx1"/>
              </a:solidFill>
            </a:endParaRPr>
          </a:p>
        </p:txBody>
      </p:sp>
      <p:sp>
        <p:nvSpPr>
          <p:cNvPr id="3074" name="Rectangle 2"/>
          <p:cNvSpPr>
            <a:spLocks noChangeArrowheads="1"/>
          </p:cNvSpPr>
          <p:nvPr/>
        </p:nvSpPr>
        <p:spPr bwMode="auto">
          <a:xfrm>
            <a:off x="3491880" y="3296017"/>
            <a:ext cx="1913985" cy="276999"/>
          </a:xfrm>
          <a:prstGeom prst="rect">
            <a:avLst/>
          </a:prstGeom>
          <a:solidFill>
            <a:srgbClr val="FFFFFF"/>
          </a:solidFill>
          <a:ln w="9525">
            <a:noFill/>
            <a:miter lim="800000"/>
            <a:headEnd/>
            <a:tailEnd/>
          </a:ln>
          <a:effectLst/>
        </p:spPr>
        <p:txBody>
          <a:bodyPr vert="horz" wrap="non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fr-FR" dirty="0" smtClean="0">
                <a:latin typeface="Arial" pitchFamily="34" charset="0"/>
                <a:cs typeface="Arial" pitchFamily="34" charset="0"/>
              </a:rPr>
              <a:t>  2</a:t>
            </a:r>
            <a:r>
              <a:rPr lang="fr-FR" baseline="30000" dirty="0" smtClean="0">
                <a:latin typeface="Arial" pitchFamily="34" charset="0"/>
                <a:cs typeface="Arial" pitchFamily="34" charset="0"/>
              </a:rPr>
              <a:t>ème</a:t>
            </a:r>
            <a:r>
              <a:rPr lang="fr-FR" dirty="0" smtClean="0">
                <a:latin typeface="Arial" pitchFamily="34" charset="0"/>
                <a:cs typeface="Arial" pitchFamily="34" charset="0"/>
              </a:rPr>
              <a:t> année FPST</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118785" name="Picture 1"/>
          <p:cNvPicPr>
            <a:picLocks noChangeAspect="1" noChangeArrowheads="1"/>
          </p:cNvPicPr>
          <p:nvPr/>
        </p:nvPicPr>
        <p:blipFill>
          <a:blip r:embed="rId3" cstate="print"/>
          <a:srcRect/>
          <a:stretch>
            <a:fillRect/>
          </a:stretch>
        </p:blipFill>
        <p:spPr bwMode="auto">
          <a:xfrm>
            <a:off x="2699792" y="3789040"/>
            <a:ext cx="3503720" cy="275185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47136" y="2780928"/>
            <a:ext cx="3365024" cy="646331"/>
          </a:xfrm>
          <a:prstGeom prst="rect">
            <a:avLst/>
          </a:prstGeom>
        </p:spPr>
        <p:txBody>
          <a:bodyPr wrap="none">
            <a:spAutoFit/>
          </a:bodyPr>
          <a:lstStyle/>
          <a:p>
            <a:r>
              <a:rPr lang="fr-FR" sz="3600" b="1" u="sng" dirty="0" smtClean="0">
                <a:solidFill>
                  <a:srgbClr val="FF0000"/>
                </a:solidFill>
                <a:latin typeface="Arial" pitchFamily="34" charset="0"/>
                <a:cs typeface="Arial" pitchFamily="34" charset="0"/>
              </a:rPr>
              <a:t>SEMESTRE   3</a:t>
            </a:r>
            <a:endParaRPr lang="fr-FR" sz="24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5076" y="-99392"/>
            <a:ext cx="8715436" cy="1143000"/>
          </a:xfrm>
        </p:spPr>
        <p:txBody>
          <a:bodyPr>
            <a:normAutofit/>
          </a:bodyPr>
          <a:lstStyle/>
          <a:p>
            <a:r>
              <a:rPr lang="fr-FR" sz="3000" b="1" dirty="0" smtClean="0">
                <a:solidFill>
                  <a:schemeClr val="tx1"/>
                </a:solidFill>
              </a:rPr>
              <a:t>Outils de programmation pour les mathématiques</a:t>
            </a:r>
            <a:endParaRPr lang="fr-FR" sz="3000" b="1" dirty="0">
              <a:solidFill>
                <a:schemeClr val="tx1"/>
              </a:solidFill>
            </a:endParaRPr>
          </a:p>
        </p:txBody>
      </p:sp>
      <p:sp>
        <p:nvSpPr>
          <p:cNvPr id="12" name="ZoneTexte 11"/>
          <p:cNvSpPr txBox="1"/>
          <p:nvPr/>
        </p:nvSpPr>
        <p:spPr>
          <a:xfrm>
            <a:off x="214282" y="1052736"/>
            <a:ext cx="8750206" cy="1754326"/>
          </a:xfrm>
          <a:prstGeom prst="rect">
            <a:avLst/>
          </a:prstGeom>
          <a:noFill/>
        </p:spPr>
        <p:txBody>
          <a:bodyPr wrap="square" rtlCol="0">
            <a:spAutoFit/>
          </a:bodyPr>
          <a:lstStyle/>
          <a:p>
            <a:r>
              <a:rPr lang="fr-FR" dirty="0" smtClean="0"/>
              <a:t>Logiciel de programmation qui possède :</a:t>
            </a:r>
          </a:p>
          <a:p>
            <a:endParaRPr lang="fr-FR" dirty="0" smtClean="0"/>
          </a:p>
          <a:p>
            <a:pPr lvl="1">
              <a:buFont typeface="Arial" pitchFamily="34" charset="0"/>
              <a:buChar char="•"/>
            </a:pPr>
            <a:r>
              <a:rPr lang="fr-FR" dirty="0" smtClean="0"/>
              <a:t> Un langage de programmation.</a:t>
            </a:r>
          </a:p>
          <a:p>
            <a:pPr lvl="1">
              <a:buFont typeface="Arial" pitchFamily="34" charset="0"/>
              <a:buChar char="•"/>
            </a:pPr>
            <a:r>
              <a:rPr lang="fr-FR" dirty="0" smtClean="0"/>
              <a:t> Bibliothèques de fonctions mathématiques.</a:t>
            </a:r>
          </a:p>
          <a:p>
            <a:pPr lvl="1">
              <a:buFont typeface="Arial" pitchFamily="34" charset="0"/>
              <a:buChar char="•"/>
            </a:pPr>
            <a:r>
              <a:rPr lang="fr-FR" dirty="0" smtClean="0"/>
              <a:t> Outils de manipulation de Matrice.</a:t>
            </a:r>
          </a:p>
          <a:p>
            <a:pPr lvl="1">
              <a:buFont typeface="Arial" pitchFamily="34" charset="0"/>
              <a:buChar char="•"/>
            </a:pPr>
            <a:r>
              <a:rPr lang="fr-FR" dirty="0" smtClean="0"/>
              <a:t> Outils Visualisations de données : Courbe de Fonction (2D et 3D)</a:t>
            </a:r>
            <a:endParaRPr lang="fr-FR" dirty="0"/>
          </a:p>
        </p:txBody>
      </p:sp>
      <p:sp>
        <p:nvSpPr>
          <p:cNvPr id="13" name="ZoneTexte 12"/>
          <p:cNvSpPr txBox="1"/>
          <p:nvPr/>
        </p:nvSpPr>
        <p:spPr>
          <a:xfrm>
            <a:off x="357158" y="3717032"/>
            <a:ext cx="1571636" cy="20313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smtClean="0">
              <a:latin typeface="Consolas" pitchFamily="49" charset="0"/>
            </a:endParaRPr>
          </a:p>
          <a:p>
            <a:r>
              <a:rPr lang="fr-FR" dirty="0" smtClean="0">
                <a:latin typeface="Consolas" pitchFamily="49" charset="0"/>
              </a:rPr>
              <a:t>IF ..ELSE</a:t>
            </a:r>
          </a:p>
          <a:p>
            <a:endParaRPr lang="fr-FR" dirty="0" smtClean="0">
              <a:latin typeface="Consolas" pitchFamily="49" charset="0"/>
            </a:endParaRPr>
          </a:p>
          <a:p>
            <a:r>
              <a:rPr lang="fr-FR" dirty="0" smtClean="0">
                <a:latin typeface="Consolas" pitchFamily="49" charset="0"/>
              </a:rPr>
              <a:t>FOR…</a:t>
            </a:r>
          </a:p>
          <a:p>
            <a:endParaRPr lang="fr-FR" dirty="0" smtClean="0">
              <a:latin typeface="Consolas" pitchFamily="49" charset="0"/>
            </a:endParaRPr>
          </a:p>
          <a:p>
            <a:r>
              <a:rPr lang="fr-FR" dirty="0" smtClean="0">
                <a:latin typeface="Consolas" pitchFamily="49" charset="0"/>
              </a:rPr>
              <a:t>WHILE…</a:t>
            </a:r>
          </a:p>
          <a:p>
            <a:endParaRPr lang="fr-FR" dirty="0" smtClean="0">
              <a:latin typeface="Consolas" pitchFamily="49" charset="0"/>
            </a:endParaRPr>
          </a:p>
        </p:txBody>
      </p:sp>
      <p:sp>
        <p:nvSpPr>
          <p:cNvPr id="14" name="ZoneTexte 13"/>
          <p:cNvSpPr txBox="1"/>
          <p:nvPr/>
        </p:nvSpPr>
        <p:spPr>
          <a:xfrm>
            <a:off x="1979712" y="3933056"/>
            <a:ext cx="1163528" cy="20313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dirty="0" smtClean="0">
                <a:latin typeface="Consolas" pitchFamily="49" charset="0"/>
              </a:rPr>
              <a:t> Sin</a:t>
            </a:r>
          </a:p>
          <a:p>
            <a:r>
              <a:rPr lang="fr-FR" dirty="0" smtClean="0">
                <a:latin typeface="Consolas" pitchFamily="49" charset="0"/>
              </a:rPr>
              <a:t> Cos</a:t>
            </a:r>
          </a:p>
          <a:p>
            <a:r>
              <a:rPr lang="fr-FR" dirty="0" smtClean="0">
                <a:latin typeface="Consolas" pitchFamily="49" charset="0"/>
              </a:rPr>
              <a:t> e</a:t>
            </a:r>
          </a:p>
          <a:p>
            <a:r>
              <a:rPr lang="fr-FR" dirty="0" smtClean="0">
                <a:latin typeface="Consolas" pitchFamily="49" charset="0"/>
              </a:rPr>
              <a:t> Ln</a:t>
            </a:r>
          </a:p>
          <a:p>
            <a:r>
              <a:rPr lang="fr-FR" dirty="0" smtClean="0">
                <a:latin typeface="Consolas" pitchFamily="49" charset="0"/>
              </a:rPr>
              <a:t> Log</a:t>
            </a:r>
          </a:p>
          <a:p>
            <a:endParaRPr lang="fr-FR" dirty="0" smtClean="0">
              <a:latin typeface="Consolas" pitchFamily="49" charset="0"/>
            </a:endParaRPr>
          </a:p>
          <a:p>
            <a:r>
              <a:rPr lang="fr-FR" dirty="0" smtClean="0">
                <a:latin typeface="Consolas" pitchFamily="49" charset="0"/>
              </a:rPr>
              <a:t> </a:t>
            </a:r>
          </a:p>
        </p:txBody>
      </p:sp>
      <p:graphicFrame>
        <p:nvGraphicFramePr>
          <p:cNvPr id="15" name="Objet 14"/>
          <p:cNvGraphicFramePr>
            <a:graphicFrameLocks noChangeAspect="1"/>
          </p:cNvGraphicFramePr>
          <p:nvPr/>
        </p:nvGraphicFramePr>
        <p:xfrm>
          <a:off x="2143108" y="5167325"/>
          <a:ext cx="428628" cy="476253"/>
        </p:xfrm>
        <a:graphic>
          <a:graphicData uri="http://schemas.openxmlformats.org/presentationml/2006/ole">
            <p:oleObj spid="_x0000_s2050" name="Équation" r:id="rId3" imgW="228501" imgH="253890" progId="">
              <p:embed/>
            </p:oleObj>
          </a:graphicData>
        </a:graphic>
      </p:graphicFrame>
      <p:graphicFrame>
        <p:nvGraphicFramePr>
          <p:cNvPr id="17" name="Objet 16"/>
          <p:cNvGraphicFramePr>
            <a:graphicFrameLocks noChangeAspect="1"/>
          </p:cNvGraphicFramePr>
          <p:nvPr/>
        </p:nvGraphicFramePr>
        <p:xfrm>
          <a:off x="3214678" y="4002094"/>
          <a:ext cx="3027946" cy="1570046"/>
        </p:xfrm>
        <a:graphic>
          <a:graphicData uri="http://schemas.openxmlformats.org/presentationml/2006/ole">
            <p:oleObj spid="_x0000_s2051" name="Équation" r:id="rId4" imgW="1371600" imgH="711200" progId="">
              <p:embed/>
            </p:oleObj>
          </a:graphicData>
        </a:graphic>
      </p:graphicFrame>
      <p:pic>
        <p:nvPicPr>
          <p:cNvPr id="1030" name="Picture 6" descr="http://upload.wikimedia.org/wikipedia/commons/thumb/1/16/MATLAB_surf_sinc3D.svg/512px-MATLAB_surf_sinc3D.svg.png"/>
          <p:cNvPicPr>
            <a:picLocks noChangeAspect="1" noChangeArrowheads="1"/>
          </p:cNvPicPr>
          <p:nvPr/>
        </p:nvPicPr>
        <p:blipFill>
          <a:blip r:embed="rId5" cstate="print"/>
          <a:srcRect/>
          <a:stretch>
            <a:fillRect/>
          </a:stretch>
        </p:blipFill>
        <p:spPr bwMode="auto">
          <a:xfrm>
            <a:off x="6286513" y="3857628"/>
            <a:ext cx="2714643" cy="214314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16"/>
            <a:ext cx="8715436" cy="1143000"/>
          </a:xfrm>
        </p:spPr>
        <p:txBody>
          <a:bodyPr>
            <a:normAutofit/>
          </a:bodyPr>
          <a:lstStyle/>
          <a:p>
            <a:r>
              <a:rPr lang="fr-FR" sz="3000" b="1" dirty="0" smtClean="0">
                <a:solidFill>
                  <a:schemeClr val="tx1"/>
                </a:solidFill>
              </a:rPr>
              <a:t>Objectif</a:t>
            </a:r>
            <a:endParaRPr lang="fr-FR" sz="3000" b="1" dirty="0">
              <a:solidFill>
                <a:schemeClr val="tx1"/>
              </a:solidFill>
            </a:endParaRPr>
          </a:p>
        </p:txBody>
      </p:sp>
      <p:sp>
        <p:nvSpPr>
          <p:cNvPr id="5" name="ZoneTexte 4"/>
          <p:cNvSpPr txBox="1"/>
          <p:nvPr/>
        </p:nvSpPr>
        <p:spPr>
          <a:xfrm>
            <a:off x="285720" y="1214422"/>
            <a:ext cx="8429684" cy="707886"/>
          </a:xfrm>
          <a:prstGeom prst="rect">
            <a:avLst/>
          </a:prstGeom>
          <a:noFill/>
        </p:spPr>
        <p:txBody>
          <a:bodyPr wrap="square" rtlCol="0">
            <a:spAutoFit/>
          </a:bodyPr>
          <a:lstStyle/>
          <a:p>
            <a:pPr marL="342900" indent="-342900"/>
            <a:r>
              <a:rPr lang="fr-FR" sz="2000" dirty="0" smtClean="0"/>
              <a:t>    Maitriser les logiciels de </a:t>
            </a:r>
            <a:r>
              <a:rPr lang="fr-FR" sz="2000" b="1" u="sng" dirty="0" smtClean="0"/>
              <a:t>programmation mathématique </a:t>
            </a:r>
            <a:r>
              <a:rPr lang="fr-FR" sz="2000" dirty="0" smtClean="0"/>
              <a:t>et de </a:t>
            </a:r>
            <a:r>
              <a:rPr lang="fr-FR" sz="2000" b="1" u="sng" dirty="0" smtClean="0"/>
              <a:t>calculs scientifiques</a:t>
            </a:r>
            <a:endParaRPr lang="fr-FR" sz="2000" b="1" u="sng" dirty="0"/>
          </a:p>
        </p:txBody>
      </p:sp>
      <p:sp>
        <p:nvSpPr>
          <p:cNvPr id="6" name="ZoneTexte 5"/>
          <p:cNvSpPr txBox="1"/>
          <p:nvPr/>
        </p:nvSpPr>
        <p:spPr>
          <a:xfrm>
            <a:off x="714348" y="2428868"/>
            <a:ext cx="2941831" cy="369332"/>
          </a:xfrm>
          <a:prstGeom prst="rect">
            <a:avLst/>
          </a:prstGeom>
          <a:noFill/>
        </p:spPr>
        <p:txBody>
          <a:bodyPr wrap="none" rtlCol="0">
            <a:spAutoFit/>
          </a:bodyPr>
          <a:lstStyle/>
          <a:p>
            <a:r>
              <a:rPr lang="fr-FR" b="1" dirty="0" smtClean="0"/>
              <a:t>Programmation Générale</a:t>
            </a:r>
            <a:endParaRPr lang="fr-FR" b="1" dirty="0"/>
          </a:p>
        </p:txBody>
      </p:sp>
      <p:sp>
        <p:nvSpPr>
          <p:cNvPr id="7" name="ZoneTexte 6"/>
          <p:cNvSpPr txBox="1"/>
          <p:nvPr/>
        </p:nvSpPr>
        <p:spPr>
          <a:xfrm>
            <a:off x="285720" y="3071810"/>
            <a:ext cx="3571900" cy="3970318"/>
          </a:xfrm>
          <a:prstGeom prst="rect">
            <a:avLst/>
          </a:prstGeom>
          <a:noFill/>
        </p:spPr>
        <p:txBody>
          <a:bodyPr wrap="square" rtlCol="0">
            <a:spAutoFit/>
          </a:bodyPr>
          <a:lstStyle/>
          <a:p>
            <a:pPr>
              <a:buFont typeface="Arial" pitchFamily="34" charset="0"/>
              <a:buChar char="•"/>
            </a:pPr>
            <a:r>
              <a:rPr lang="fr-FR" dirty="0" smtClean="0"/>
              <a:t> </a:t>
            </a:r>
            <a:r>
              <a:rPr lang="fr-FR" dirty="0" err="1" smtClean="0"/>
              <a:t>Dev</a:t>
            </a:r>
            <a:r>
              <a:rPr lang="fr-FR" dirty="0" smtClean="0"/>
              <a:t> C++, </a:t>
            </a:r>
          </a:p>
          <a:p>
            <a:pPr>
              <a:buFont typeface="Arial" pitchFamily="34" charset="0"/>
              <a:buChar char="•"/>
            </a:pPr>
            <a:endParaRPr lang="fr-FR" dirty="0" smtClean="0"/>
          </a:p>
          <a:p>
            <a:pPr>
              <a:buFont typeface="Arial" pitchFamily="34" charset="0"/>
              <a:buChar char="•"/>
            </a:pPr>
            <a:r>
              <a:rPr lang="fr-FR" dirty="0" smtClean="0"/>
              <a:t> Borland C++</a:t>
            </a:r>
          </a:p>
          <a:p>
            <a:pPr>
              <a:buFont typeface="Arial" pitchFamily="34" charset="0"/>
              <a:buChar char="•"/>
            </a:pPr>
            <a:endParaRPr lang="fr-FR" dirty="0" smtClean="0"/>
          </a:p>
          <a:p>
            <a:pPr>
              <a:buFont typeface="Arial" pitchFamily="34" charset="0"/>
              <a:buChar char="•"/>
            </a:pPr>
            <a:r>
              <a:rPr lang="fr-FR" dirty="0" smtClean="0"/>
              <a:t> Turbo C</a:t>
            </a:r>
          </a:p>
          <a:p>
            <a:pPr>
              <a:buFont typeface="Arial" pitchFamily="34" charset="0"/>
              <a:buChar char="•"/>
            </a:pPr>
            <a:endParaRPr lang="fr-FR" dirty="0" smtClean="0"/>
          </a:p>
          <a:p>
            <a:pPr>
              <a:buFont typeface="Arial" pitchFamily="34" charset="0"/>
              <a:buChar char="•"/>
            </a:pPr>
            <a:r>
              <a:rPr lang="fr-FR" dirty="0" smtClean="0"/>
              <a:t> Turbo Pascal</a:t>
            </a:r>
          </a:p>
          <a:p>
            <a:pPr>
              <a:buFont typeface="Arial" pitchFamily="34" charset="0"/>
              <a:buChar char="•"/>
            </a:pPr>
            <a:endParaRPr lang="fr-FR" dirty="0" smtClean="0"/>
          </a:p>
          <a:p>
            <a:pPr>
              <a:buFont typeface="Arial" pitchFamily="34" charset="0"/>
              <a:buChar char="•"/>
            </a:pPr>
            <a:r>
              <a:rPr lang="fr-FR" dirty="0" smtClean="0"/>
              <a:t> Eclipse</a:t>
            </a:r>
          </a:p>
          <a:p>
            <a:pPr>
              <a:buFont typeface="Arial" pitchFamily="34" charset="0"/>
              <a:buChar char="•"/>
            </a:pPr>
            <a:endParaRPr lang="fr-FR" dirty="0" smtClean="0"/>
          </a:p>
          <a:p>
            <a:pPr>
              <a:buFont typeface="Arial" pitchFamily="34" charset="0"/>
              <a:buChar char="•"/>
            </a:pPr>
            <a:r>
              <a:rPr lang="fr-FR" dirty="0" smtClean="0"/>
              <a:t> </a:t>
            </a:r>
            <a:r>
              <a:rPr lang="fr-FR" dirty="0" err="1" smtClean="0"/>
              <a:t>Jbuilder</a:t>
            </a:r>
            <a:endParaRPr lang="fr-FR" dirty="0" smtClean="0"/>
          </a:p>
          <a:p>
            <a:pPr>
              <a:buFont typeface="Arial" pitchFamily="34" charset="0"/>
              <a:buChar char="•"/>
            </a:pPr>
            <a:endParaRPr lang="fr-FR" dirty="0" smtClean="0"/>
          </a:p>
          <a:p>
            <a:r>
              <a:rPr lang="fr-FR" dirty="0" smtClean="0"/>
              <a:t>….</a:t>
            </a:r>
          </a:p>
          <a:p>
            <a:endParaRPr lang="fr-FR" dirty="0"/>
          </a:p>
        </p:txBody>
      </p:sp>
      <p:cxnSp>
        <p:nvCxnSpPr>
          <p:cNvPr id="9" name="Connecteur droit 8"/>
          <p:cNvCxnSpPr/>
          <p:nvPr/>
        </p:nvCxnSpPr>
        <p:spPr>
          <a:xfrm rot="5400000">
            <a:off x="2643968" y="4786322"/>
            <a:ext cx="3429024" cy="158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ZoneTexte 9"/>
          <p:cNvSpPr txBox="1"/>
          <p:nvPr/>
        </p:nvSpPr>
        <p:spPr>
          <a:xfrm>
            <a:off x="4857752" y="2428868"/>
            <a:ext cx="3506088" cy="369332"/>
          </a:xfrm>
          <a:prstGeom prst="rect">
            <a:avLst/>
          </a:prstGeom>
          <a:noFill/>
        </p:spPr>
        <p:txBody>
          <a:bodyPr wrap="none" rtlCol="0">
            <a:spAutoFit/>
          </a:bodyPr>
          <a:lstStyle/>
          <a:p>
            <a:r>
              <a:rPr lang="fr-FR" b="1" dirty="0" smtClean="0"/>
              <a:t>Programmation Mathématique</a:t>
            </a:r>
            <a:endParaRPr lang="fr-FR" b="1" dirty="0"/>
          </a:p>
        </p:txBody>
      </p:sp>
      <p:sp>
        <p:nvSpPr>
          <p:cNvPr id="11" name="ZoneTexte 10"/>
          <p:cNvSpPr txBox="1"/>
          <p:nvPr/>
        </p:nvSpPr>
        <p:spPr>
          <a:xfrm>
            <a:off x="4643438" y="3218637"/>
            <a:ext cx="4000528" cy="3139321"/>
          </a:xfrm>
          <a:prstGeom prst="rect">
            <a:avLst/>
          </a:prstGeom>
          <a:noFill/>
        </p:spPr>
        <p:txBody>
          <a:bodyPr wrap="square" rtlCol="0">
            <a:spAutoFit/>
          </a:bodyPr>
          <a:lstStyle/>
          <a:p>
            <a:endParaRPr lang="fr-FR" dirty="0" smtClean="0"/>
          </a:p>
          <a:p>
            <a:pPr>
              <a:buFont typeface="Arial" pitchFamily="34" charset="0"/>
              <a:buChar char="•"/>
            </a:pPr>
            <a:r>
              <a:rPr lang="fr-FR" dirty="0" smtClean="0"/>
              <a:t> SCILAB </a:t>
            </a:r>
          </a:p>
          <a:p>
            <a:pPr>
              <a:buFont typeface="Arial" pitchFamily="34" charset="0"/>
              <a:buChar char="•"/>
            </a:pPr>
            <a:endParaRPr lang="fr-FR" dirty="0" smtClean="0"/>
          </a:p>
          <a:p>
            <a:pPr>
              <a:buFont typeface="Arial" pitchFamily="34" charset="0"/>
              <a:buChar char="•"/>
            </a:pPr>
            <a:r>
              <a:rPr lang="fr-FR" dirty="0" smtClean="0"/>
              <a:t> MATHEMATICA</a:t>
            </a:r>
          </a:p>
          <a:p>
            <a:pPr>
              <a:buFont typeface="Arial" pitchFamily="34" charset="0"/>
              <a:buChar char="•"/>
            </a:pPr>
            <a:endParaRPr lang="fr-FR" dirty="0" smtClean="0"/>
          </a:p>
          <a:p>
            <a:pPr>
              <a:buFont typeface="Arial" pitchFamily="34" charset="0"/>
              <a:buChar char="•"/>
            </a:pPr>
            <a:r>
              <a:rPr lang="fr-FR" dirty="0" smtClean="0"/>
              <a:t> OCTAVE.</a:t>
            </a:r>
          </a:p>
          <a:p>
            <a:pPr>
              <a:buFont typeface="Arial" pitchFamily="34" charset="0"/>
              <a:buChar char="•"/>
            </a:pPr>
            <a:endParaRPr lang="fr-FR" dirty="0" smtClean="0"/>
          </a:p>
          <a:p>
            <a:pPr>
              <a:buFont typeface="Arial" pitchFamily="34" charset="0"/>
              <a:buChar char="•"/>
            </a:pPr>
            <a:r>
              <a:rPr lang="fr-FR" dirty="0" smtClean="0"/>
              <a:t> </a:t>
            </a:r>
            <a:r>
              <a:rPr lang="fr-FR" u="sng" dirty="0" smtClean="0"/>
              <a:t>MATLAB</a:t>
            </a:r>
          </a:p>
          <a:p>
            <a:endParaRPr lang="fr-FR" dirty="0" smtClean="0"/>
          </a:p>
          <a:p>
            <a:r>
              <a:rPr lang="fr-FR" dirty="0" smtClean="0"/>
              <a:t>…</a:t>
            </a:r>
          </a:p>
          <a:p>
            <a:endParaRPr lang="fr-F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2844" y="214290"/>
            <a:ext cx="7772400" cy="1143000"/>
          </a:xfrm>
        </p:spPr>
        <p:txBody>
          <a:bodyPr>
            <a:normAutofit/>
          </a:bodyPr>
          <a:lstStyle/>
          <a:p>
            <a:r>
              <a:rPr lang="fr-FR" sz="3000" b="1" dirty="0" smtClean="0">
                <a:solidFill>
                  <a:schemeClr val="tx1"/>
                </a:solidFill>
              </a:rPr>
              <a:t>Quelques Outils de programmation pour les mathématiques</a:t>
            </a:r>
            <a:endParaRPr lang="fr-FR" sz="3000" b="1" dirty="0">
              <a:solidFill>
                <a:schemeClr val="tx1"/>
              </a:solidFill>
            </a:endParaRPr>
          </a:p>
        </p:txBody>
      </p:sp>
      <p:pic>
        <p:nvPicPr>
          <p:cNvPr id="52226" name="Picture 2" descr="Image illustrative de l'article GNU Octave"/>
          <p:cNvPicPr>
            <a:picLocks noChangeAspect="1" noChangeArrowheads="1"/>
          </p:cNvPicPr>
          <p:nvPr/>
        </p:nvPicPr>
        <p:blipFill>
          <a:blip r:embed="rId2" cstate="print"/>
          <a:srcRect/>
          <a:stretch>
            <a:fillRect/>
          </a:stretch>
        </p:blipFill>
        <p:spPr bwMode="auto">
          <a:xfrm>
            <a:off x="571472" y="1571612"/>
            <a:ext cx="914400" cy="914401"/>
          </a:xfrm>
          <a:prstGeom prst="rect">
            <a:avLst/>
          </a:prstGeom>
          <a:noFill/>
        </p:spPr>
      </p:pic>
      <p:sp>
        <p:nvSpPr>
          <p:cNvPr id="20" name="ZoneTexte 19"/>
          <p:cNvSpPr txBox="1"/>
          <p:nvPr/>
        </p:nvSpPr>
        <p:spPr>
          <a:xfrm>
            <a:off x="1928794" y="1714488"/>
            <a:ext cx="7858180" cy="646331"/>
          </a:xfrm>
          <a:prstGeom prst="rect">
            <a:avLst/>
          </a:prstGeom>
          <a:noFill/>
        </p:spPr>
        <p:txBody>
          <a:bodyPr wrap="square" rtlCol="0">
            <a:spAutoFit/>
          </a:bodyPr>
          <a:lstStyle/>
          <a:p>
            <a:r>
              <a:rPr lang="fr-FR" b="1" dirty="0" smtClean="0"/>
              <a:t>Octave</a:t>
            </a:r>
          </a:p>
          <a:p>
            <a:r>
              <a:rPr lang="fr-FR" dirty="0" smtClean="0"/>
              <a:t>Crée en 1988 par John </a:t>
            </a:r>
            <a:r>
              <a:rPr lang="fr-FR" dirty="0" err="1" smtClean="0"/>
              <a:t>Eaton</a:t>
            </a:r>
            <a:endParaRPr lang="fr-FR" dirty="0" smtClean="0"/>
          </a:p>
        </p:txBody>
      </p:sp>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52230" name="Picture 6" descr="http://upload.wikimedia.org/wikipedia/fr/b/b5/Scilab_logo.jpg"/>
          <p:cNvPicPr>
            <a:picLocks noChangeAspect="1" noChangeArrowheads="1"/>
          </p:cNvPicPr>
          <p:nvPr/>
        </p:nvPicPr>
        <p:blipFill>
          <a:blip r:embed="rId3" cstate="print"/>
          <a:srcRect/>
          <a:stretch>
            <a:fillRect/>
          </a:stretch>
        </p:blipFill>
        <p:spPr bwMode="auto">
          <a:xfrm>
            <a:off x="214282" y="2857496"/>
            <a:ext cx="1428760" cy="826843"/>
          </a:xfrm>
          <a:prstGeom prst="rect">
            <a:avLst/>
          </a:prstGeom>
          <a:noFill/>
        </p:spPr>
      </p:pic>
      <p:sp>
        <p:nvSpPr>
          <p:cNvPr id="26" name="ZoneTexte 25"/>
          <p:cNvSpPr txBox="1"/>
          <p:nvPr/>
        </p:nvSpPr>
        <p:spPr>
          <a:xfrm>
            <a:off x="1857356" y="2928934"/>
            <a:ext cx="7858180" cy="646331"/>
          </a:xfrm>
          <a:prstGeom prst="rect">
            <a:avLst/>
          </a:prstGeom>
          <a:noFill/>
        </p:spPr>
        <p:txBody>
          <a:bodyPr wrap="square" rtlCol="0">
            <a:spAutoFit/>
          </a:bodyPr>
          <a:lstStyle/>
          <a:p>
            <a:r>
              <a:rPr lang="fr-FR" b="1" dirty="0" err="1" smtClean="0"/>
              <a:t>SciLab</a:t>
            </a:r>
            <a:r>
              <a:rPr lang="fr-FR" b="1" dirty="0" smtClean="0"/>
              <a:t> </a:t>
            </a:r>
            <a:r>
              <a:rPr lang="fr-FR" i="1" dirty="0" err="1" smtClean="0"/>
              <a:t>Scientific</a:t>
            </a:r>
            <a:r>
              <a:rPr lang="fr-FR" i="1" dirty="0" smtClean="0"/>
              <a:t> </a:t>
            </a:r>
            <a:r>
              <a:rPr lang="fr-FR" i="1" dirty="0" err="1" smtClean="0"/>
              <a:t>Laboratory</a:t>
            </a:r>
            <a:endParaRPr lang="fr-FR" i="1" dirty="0" smtClean="0"/>
          </a:p>
          <a:p>
            <a:r>
              <a:rPr lang="fr-FR" dirty="0" smtClean="0"/>
              <a:t>Crée en 1982 par </a:t>
            </a:r>
            <a:r>
              <a:rPr lang="fr-FR" dirty="0" err="1" smtClean="0"/>
              <a:t>Scilab</a:t>
            </a:r>
            <a:r>
              <a:rPr lang="fr-FR" dirty="0" smtClean="0"/>
              <a:t> Entreprise.</a:t>
            </a:r>
          </a:p>
        </p:txBody>
      </p:sp>
      <p:pic>
        <p:nvPicPr>
          <p:cNvPr id="3074" name="Picture 2" descr="Image illustrative de l'article Mathematica"/>
          <p:cNvPicPr>
            <a:picLocks noChangeAspect="1" noChangeArrowheads="1"/>
          </p:cNvPicPr>
          <p:nvPr/>
        </p:nvPicPr>
        <p:blipFill>
          <a:blip r:embed="rId4" cstate="print"/>
          <a:srcRect/>
          <a:stretch>
            <a:fillRect/>
          </a:stretch>
        </p:blipFill>
        <p:spPr bwMode="auto">
          <a:xfrm>
            <a:off x="642910" y="3929066"/>
            <a:ext cx="914400" cy="962025"/>
          </a:xfrm>
          <a:prstGeom prst="rect">
            <a:avLst/>
          </a:prstGeom>
          <a:noFill/>
        </p:spPr>
      </p:pic>
      <p:pic>
        <p:nvPicPr>
          <p:cNvPr id="3076" name="Picture 4" descr="Image illustrative de l'article MATLAB"/>
          <p:cNvPicPr>
            <a:picLocks noChangeAspect="1" noChangeArrowheads="1"/>
          </p:cNvPicPr>
          <p:nvPr/>
        </p:nvPicPr>
        <p:blipFill>
          <a:blip r:embed="rId5" cstate="print"/>
          <a:srcRect/>
          <a:stretch>
            <a:fillRect/>
          </a:stretch>
        </p:blipFill>
        <p:spPr bwMode="auto">
          <a:xfrm>
            <a:off x="500034" y="5286388"/>
            <a:ext cx="914400" cy="819151"/>
          </a:xfrm>
          <a:prstGeom prst="rect">
            <a:avLst/>
          </a:prstGeom>
          <a:noFill/>
        </p:spPr>
      </p:pic>
      <p:sp>
        <p:nvSpPr>
          <p:cNvPr id="10" name="ZoneTexte 9"/>
          <p:cNvSpPr txBox="1"/>
          <p:nvPr/>
        </p:nvSpPr>
        <p:spPr>
          <a:xfrm>
            <a:off x="1928794" y="4071942"/>
            <a:ext cx="7858180" cy="646331"/>
          </a:xfrm>
          <a:prstGeom prst="rect">
            <a:avLst/>
          </a:prstGeom>
          <a:noFill/>
        </p:spPr>
        <p:txBody>
          <a:bodyPr wrap="square" rtlCol="0">
            <a:spAutoFit/>
          </a:bodyPr>
          <a:lstStyle/>
          <a:p>
            <a:r>
              <a:rPr lang="fr-FR" b="1" dirty="0" err="1" smtClean="0"/>
              <a:t>Mathematica</a:t>
            </a:r>
            <a:endParaRPr lang="fr-FR" i="1" dirty="0" smtClean="0"/>
          </a:p>
          <a:p>
            <a:r>
              <a:rPr lang="fr-FR" dirty="0" smtClean="0"/>
              <a:t>Crée en 1988 par Wolfram </a:t>
            </a:r>
            <a:r>
              <a:rPr lang="fr-FR" dirty="0" err="1" smtClean="0"/>
              <a:t>Research</a:t>
            </a:r>
            <a:endParaRPr lang="fr-FR" dirty="0" smtClean="0"/>
          </a:p>
        </p:txBody>
      </p:sp>
      <p:sp>
        <p:nvSpPr>
          <p:cNvPr id="11" name="ZoneTexte 10"/>
          <p:cNvSpPr txBox="1"/>
          <p:nvPr/>
        </p:nvSpPr>
        <p:spPr>
          <a:xfrm>
            <a:off x="2000232" y="5357826"/>
            <a:ext cx="7858180" cy="646331"/>
          </a:xfrm>
          <a:prstGeom prst="rect">
            <a:avLst/>
          </a:prstGeom>
          <a:noFill/>
        </p:spPr>
        <p:txBody>
          <a:bodyPr wrap="square" rtlCol="0">
            <a:spAutoFit/>
          </a:bodyPr>
          <a:lstStyle/>
          <a:p>
            <a:r>
              <a:rPr lang="fr-FR" b="1" dirty="0" smtClean="0"/>
              <a:t>Matlab</a:t>
            </a:r>
            <a:endParaRPr lang="fr-FR" i="1" dirty="0" smtClean="0"/>
          </a:p>
          <a:p>
            <a:r>
              <a:rPr lang="fr-FR" dirty="0" smtClean="0"/>
              <a:t>Crée en 1970 par </a:t>
            </a:r>
            <a:r>
              <a:rPr lang="fr-FR" dirty="0" err="1" smtClean="0"/>
              <a:t>Cleve</a:t>
            </a:r>
            <a:r>
              <a:rPr lang="fr-FR" dirty="0" smtClean="0"/>
              <a:t> </a:t>
            </a:r>
            <a:r>
              <a:rPr lang="fr-FR" dirty="0" err="1" smtClean="0"/>
              <a:t>Moler</a:t>
            </a:r>
            <a:endParaRPr lang="fr-FR"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354560" y="274638"/>
            <a:ext cx="4881736" cy="706090"/>
          </a:xfrm>
        </p:spPr>
        <p:txBody>
          <a:bodyPr>
            <a:normAutofit fontScale="90000"/>
          </a:bodyPr>
          <a:lstStyle/>
          <a:p>
            <a:r>
              <a:rPr lang="fr-FR" b="1" dirty="0" smtClean="0"/>
              <a:t>Livres intéressants</a:t>
            </a:r>
            <a:endParaRPr lang="fr-FR" b="1" dirty="0"/>
          </a:p>
        </p:txBody>
      </p:sp>
      <p:pic>
        <p:nvPicPr>
          <p:cNvPr id="128002" name="Picture 2"/>
          <p:cNvPicPr>
            <a:picLocks noChangeAspect="1" noChangeArrowheads="1"/>
          </p:cNvPicPr>
          <p:nvPr/>
        </p:nvPicPr>
        <p:blipFill>
          <a:blip r:embed="rId2" cstate="print"/>
          <a:srcRect/>
          <a:stretch>
            <a:fillRect/>
          </a:stretch>
        </p:blipFill>
        <p:spPr bwMode="auto">
          <a:xfrm>
            <a:off x="251520" y="980728"/>
            <a:ext cx="5838825" cy="1962150"/>
          </a:xfrm>
          <a:prstGeom prst="rect">
            <a:avLst/>
          </a:prstGeom>
          <a:noFill/>
          <a:ln w="9525">
            <a:noFill/>
            <a:miter lim="800000"/>
            <a:headEnd/>
            <a:tailEnd/>
          </a:ln>
        </p:spPr>
      </p:pic>
      <p:pic>
        <p:nvPicPr>
          <p:cNvPr id="128003" name="Picture 3"/>
          <p:cNvPicPr>
            <a:picLocks noChangeAspect="1" noChangeArrowheads="1"/>
          </p:cNvPicPr>
          <p:nvPr/>
        </p:nvPicPr>
        <p:blipFill>
          <a:blip r:embed="rId3" cstate="print"/>
          <a:srcRect/>
          <a:stretch>
            <a:fillRect/>
          </a:stretch>
        </p:blipFill>
        <p:spPr bwMode="auto">
          <a:xfrm>
            <a:off x="251520" y="1772816"/>
            <a:ext cx="5267325" cy="1971675"/>
          </a:xfrm>
          <a:prstGeom prst="rect">
            <a:avLst/>
          </a:prstGeom>
          <a:noFill/>
          <a:ln w="9525">
            <a:noFill/>
            <a:miter lim="800000"/>
            <a:headEnd/>
            <a:tailEnd/>
          </a:ln>
        </p:spPr>
      </p:pic>
      <p:pic>
        <p:nvPicPr>
          <p:cNvPr id="128004" name="Picture 4"/>
          <p:cNvPicPr>
            <a:picLocks noChangeAspect="1" noChangeArrowheads="1"/>
          </p:cNvPicPr>
          <p:nvPr/>
        </p:nvPicPr>
        <p:blipFill>
          <a:blip r:embed="rId4" cstate="print"/>
          <a:srcRect/>
          <a:stretch>
            <a:fillRect/>
          </a:stretch>
        </p:blipFill>
        <p:spPr bwMode="auto">
          <a:xfrm>
            <a:off x="323528" y="2996952"/>
            <a:ext cx="6057900" cy="1924050"/>
          </a:xfrm>
          <a:prstGeom prst="rect">
            <a:avLst/>
          </a:prstGeom>
          <a:noFill/>
          <a:ln w="9525">
            <a:noFill/>
            <a:miter lim="800000"/>
            <a:headEnd/>
            <a:tailEnd/>
          </a:ln>
        </p:spPr>
      </p:pic>
      <p:pic>
        <p:nvPicPr>
          <p:cNvPr id="128005" name="Picture 5"/>
          <p:cNvPicPr>
            <a:picLocks noChangeAspect="1" noChangeArrowheads="1"/>
          </p:cNvPicPr>
          <p:nvPr/>
        </p:nvPicPr>
        <p:blipFill>
          <a:blip r:embed="rId5" cstate="print"/>
          <a:srcRect/>
          <a:stretch>
            <a:fillRect/>
          </a:stretch>
        </p:blipFill>
        <p:spPr bwMode="auto">
          <a:xfrm>
            <a:off x="4283968" y="908721"/>
            <a:ext cx="4912543" cy="1656183"/>
          </a:xfrm>
          <a:prstGeom prst="rect">
            <a:avLst/>
          </a:prstGeom>
          <a:noFill/>
          <a:ln w="9525">
            <a:noFill/>
            <a:miter lim="800000"/>
            <a:headEnd/>
            <a:tailEnd/>
          </a:ln>
        </p:spPr>
      </p:pic>
      <p:pic>
        <p:nvPicPr>
          <p:cNvPr id="128006" name="Picture 6"/>
          <p:cNvPicPr>
            <a:picLocks noChangeAspect="1" noChangeArrowheads="1"/>
          </p:cNvPicPr>
          <p:nvPr/>
        </p:nvPicPr>
        <p:blipFill>
          <a:blip r:embed="rId6" cstate="print"/>
          <a:srcRect/>
          <a:stretch>
            <a:fillRect/>
          </a:stretch>
        </p:blipFill>
        <p:spPr bwMode="auto">
          <a:xfrm>
            <a:off x="4283968" y="1700808"/>
            <a:ext cx="4533900" cy="1990725"/>
          </a:xfrm>
          <a:prstGeom prst="rect">
            <a:avLst/>
          </a:prstGeom>
          <a:noFill/>
          <a:ln w="9525">
            <a:noFill/>
            <a:miter lim="800000"/>
            <a:headEnd/>
            <a:tailEnd/>
          </a:ln>
        </p:spPr>
      </p:pic>
      <p:pic>
        <p:nvPicPr>
          <p:cNvPr id="128007" name="Picture 7"/>
          <p:cNvPicPr>
            <a:picLocks noChangeAspect="1" noChangeArrowheads="1"/>
          </p:cNvPicPr>
          <p:nvPr/>
        </p:nvPicPr>
        <p:blipFill>
          <a:blip r:embed="rId7" cstate="print"/>
          <a:srcRect/>
          <a:stretch>
            <a:fillRect/>
          </a:stretch>
        </p:blipFill>
        <p:spPr bwMode="auto">
          <a:xfrm>
            <a:off x="4267200" y="2348880"/>
            <a:ext cx="4876800" cy="1962150"/>
          </a:xfrm>
          <a:prstGeom prst="rect">
            <a:avLst/>
          </a:prstGeom>
          <a:noFill/>
          <a:ln w="9525">
            <a:noFill/>
            <a:miter lim="800000"/>
            <a:headEnd/>
            <a:tailEnd/>
          </a:ln>
        </p:spPr>
      </p:pic>
      <p:pic>
        <p:nvPicPr>
          <p:cNvPr id="128008" name="Picture 8"/>
          <p:cNvPicPr>
            <a:picLocks noChangeAspect="1" noChangeArrowheads="1"/>
          </p:cNvPicPr>
          <p:nvPr/>
        </p:nvPicPr>
        <p:blipFill>
          <a:blip r:embed="rId8" cstate="print"/>
          <a:srcRect/>
          <a:stretch>
            <a:fillRect/>
          </a:stretch>
        </p:blipFill>
        <p:spPr bwMode="auto">
          <a:xfrm>
            <a:off x="251520" y="3717032"/>
            <a:ext cx="5667375" cy="1943100"/>
          </a:xfrm>
          <a:prstGeom prst="rect">
            <a:avLst/>
          </a:prstGeom>
          <a:noFill/>
          <a:ln w="9525">
            <a:noFill/>
            <a:miter lim="800000"/>
            <a:headEnd/>
            <a:tailEnd/>
          </a:ln>
        </p:spPr>
      </p:pic>
      <p:pic>
        <p:nvPicPr>
          <p:cNvPr id="128009" name="Picture 9"/>
          <p:cNvPicPr>
            <a:picLocks noChangeAspect="1" noChangeArrowheads="1"/>
          </p:cNvPicPr>
          <p:nvPr/>
        </p:nvPicPr>
        <p:blipFill>
          <a:blip r:embed="rId9" cstate="print"/>
          <a:srcRect/>
          <a:stretch>
            <a:fillRect/>
          </a:stretch>
        </p:blipFill>
        <p:spPr bwMode="auto">
          <a:xfrm>
            <a:off x="179512" y="4581128"/>
            <a:ext cx="3295650" cy="1990725"/>
          </a:xfrm>
          <a:prstGeom prst="rect">
            <a:avLst/>
          </a:prstGeom>
          <a:noFill/>
          <a:ln w="9525">
            <a:noFill/>
            <a:miter lim="800000"/>
            <a:headEnd/>
            <a:tailEnd/>
          </a:ln>
        </p:spPr>
      </p:pic>
      <p:pic>
        <p:nvPicPr>
          <p:cNvPr id="128010" name="Picture 10"/>
          <p:cNvPicPr>
            <a:picLocks noChangeAspect="1" noChangeArrowheads="1"/>
          </p:cNvPicPr>
          <p:nvPr/>
        </p:nvPicPr>
        <p:blipFill>
          <a:blip r:embed="rId10" cstate="print"/>
          <a:srcRect/>
          <a:stretch>
            <a:fillRect/>
          </a:stretch>
        </p:blipFill>
        <p:spPr bwMode="auto">
          <a:xfrm>
            <a:off x="4283968" y="3068960"/>
            <a:ext cx="3505200" cy="2000250"/>
          </a:xfrm>
          <a:prstGeom prst="rect">
            <a:avLst/>
          </a:prstGeom>
          <a:noFill/>
          <a:ln w="9525">
            <a:noFill/>
            <a:miter lim="800000"/>
            <a:headEnd/>
            <a:tailEnd/>
          </a:ln>
        </p:spPr>
      </p:pic>
      <p:pic>
        <p:nvPicPr>
          <p:cNvPr id="128011" name="Picture 11"/>
          <p:cNvPicPr>
            <a:picLocks noChangeAspect="1" noChangeArrowheads="1"/>
          </p:cNvPicPr>
          <p:nvPr/>
        </p:nvPicPr>
        <p:blipFill>
          <a:blip r:embed="rId11" cstate="print"/>
          <a:srcRect/>
          <a:stretch>
            <a:fillRect/>
          </a:stretch>
        </p:blipFill>
        <p:spPr bwMode="auto">
          <a:xfrm>
            <a:off x="4152900" y="4509120"/>
            <a:ext cx="4991100" cy="1971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8624" y="-428652"/>
            <a:ext cx="7772400" cy="1143000"/>
          </a:xfrm>
        </p:spPr>
        <p:txBody>
          <a:bodyPr>
            <a:normAutofit/>
          </a:bodyPr>
          <a:lstStyle/>
          <a:p>
            <a:r>
              <a:rPr lang="fr-FR" sz="3000" b="1" dirty="0" smtClean="0">
                <a:solidFill>
                  <a:schemeClr val="tx1"/>
                </a:solidFill>
              </a:rPr>
              <a:t>Programme S3</a:t>
            </a:r>
            <a:endParaRPr lang="fr-FR" sz="3000" b="1" dirty="0">
              <a:solidFill>
                <a:schemeClr val="tx1"/>
              </a:solidFill>
            </a:endParaRPr>
          </a:p>
        </p:txBody>
      </p:sp>
      <p:sp>
        <p:nvSpPr>
          <p:cNvPr id="20" name="ZoneTexte 19"/>
          <p:cNvSpPr txBox="1"/>
          <p:nvPr/>
        </p:nvSpPr>
        <p:spPr>
          <a:xfrm>
            <a:off x="142844" y="719720"/>
            <a:ext cx="8786842" cy="646331"/>
          </a:xfrm>
          <a:prstGeom prst="rect">
            <a:avLst/>
          </a:prstGeom>
          <a:noFill/>
        </p:spPr>
        <p:txBody>
          <a:bodyPr wrap="square" rtlCol="0">
            <a:spAutoFit/>
          </a:bodyPr>
          <a:lstStyle/>
          <a:p>
            <a:r>
              <a:rPr lang="fr-FR" dirty="0" smtClean="0"/>
              <a:t>Dans ce cours nous allons nous intéresser spécialement au logiciel </a:t>
            </a:r>
            <a:r>
              <a:rPr lang="fr-FR" b="1" dirty="0" smtClean="0"/>
              <a:t>MATLAB</a:t>
            </a:r>
            <a:r>
              <a:rPr lang="fr-FR" dirty="0" smtClean="0"/>
              <a:t>.</a:t>
            </a:r>
          </a:p>
          <a:p>
            <a:r>
              <a:rPr lang="fr-FR" dirty="0" smtClean="0"/>
              <a:t>En abordant les points suivants :</a:t>
            </a:r>
          </a:p>
        </p:txBody>
      </p:sp>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2" name="ZoneTexte 11"/>
          <p:cNvSpPr txBox="1"/>
          <p:nvPr/>
        </p:nvSpPr>
        <p:spPr>
          <a:xfrm>
            <a:off x="1211986" y="1601822"/>
            <a:ext cx="7523150" cy="3139321"/>
          </a:xfrm>
          <a:prstGeom prst="rect">
            <a:avLst/>
          </a:prstGeom>
          <a:noFill/>
        </p:spPr>
        <p:txBody>
          <a:bodyPr wrap="none" rtlCol="0">
            <a:spAutoFit/>
          </a:bodyPr>
          <a:lstStyle/>
          <a:p>
            <a:r>
              <a:rPr lang="fr-FR" b="1" u="sng" dirty="0" smtClean="0"/>
              <a:t>Partie I : </a:t>
            </a:r>
            <a:r>
              <a:rPr lang="fr-FR" dirty="0" smtClean="0"/>
              <a:t>Prise en main  du Logiciel Matlab.</a:t>
            </a:r>
          </a:p>
          <a:p>
            <a:endParaRPr lang="fr-FR" dirty="0" smtClean="0"/>
          </a:p>
          <a:p>
            <a:r>
              <a:rPr lang="fr-FR" b="1" u="sng" dirty="0" smtClean="0"/>
              <a:t>Partie II : </a:t>
            </a:r>
            <a:r>
              <a:rPr lang="fr-FR" dirty="0" smtClean="0"/>
              <a:t>Manipulation des Vecteurs et Matrices. 	</a:t>
            </a:r>
          </a:p>
          <a:p>
            <a:endParaRPr lang="fr-FR" dirty="0" smtClean="0"/>
          </a:p>
          <a:p>
            <a:r>
              <a:rPr lang="fr-FR" b="1" u="sng" dirty="0" smtClean="0"/>
              <a:t>Partie III : </a:t>
            </a:r>
            <a:r>
              <a:rPr lang="fr-FR" dirty="0" smtClean="0"/>
              <a:t>Résolution  des équations non-Linéaires.</a:t>
            </a:r>
          </a:p>
          <a:p>
            <a:endParaRPr lang="fr-FR" dirty="0" smtClean="0"/>
          </a:p>
          <a:p>
            <a:r>
              <a:rPr lang="fr-FR" b="1" u="sng" dirty="0" smtClean="0"/>
              <a:t>Partie IV : </a:t>
            </a:r>
            <a:r>
              <a:rPr lang="fr-FR" dirty="0" smtClean="0"/>
              <a:t>Application Mathématiques : Résolution des Systèmes d'équations Linéaires:</a:t>
            </a:r>
            <a:br>
              <a:rPr lang="fr-FR" dirty="0" smtClean="0"/>
            </a:br>
            <a:r>
              <a:rPr lang="fr-FR" dirty="0" smtClean="0"/>
              <a:t>                                                                       ‘’ méthodes directes’</a:t>
            </a:r>
          </a:p>
          <a:p>
            <a:r>
              <a:rPr lang="fr-FR" b="1" u="sng" dirty="0" smtClean="0"/>
              <a:t>Partie V : </a:t>
            </a:r>
            <a:r>
              <a:rPr lang="fr-FR" dirty="0" smtClean="0"/>
              <a:t>Application Mathématiques : Résolution des Systèmes d'équations Linéaires:</a:t>
            </a:r>
            <a:br>
              <a:rPr lang="fr-FR" dirty="0" smtClean="0"/>
            </a:br>
            <a:r>
              <a:rPr lang="fr-FR" dirty="0" smtClean="0"/>
              <a:t>                                                                       ‘’ méthodes indirectes’’</a:t>
            </a:r>
          </a:p>
          <a:p>
            <a:endParaRPr lang="fr-FR" dirty="0" smtClean="0"/>
          </a:p>
        </p:txBody>
      </p:sp>
      <p:sp>
        <p:nvSpPr>
          <p:cNvPr id="13" name="ZoneTexte 12"/>
          <p:cNvSpPr txBox="1"/>
          <p:nvPr/>
        </p:nvSpPr>
        <p:spPr>
          <a:xfrm>
            <a:off x="285721" y="5715016"/>
            <a:ext cx="8572560" cy="646331"/>
          </a:xfrm>
          <a:prstGeom prst="rect">
            <a:avLst/>
          </a:prstGeom>
          <a:noFill/>
        </p:spPr>
        <p:txBody>
          <a:bodyPr wrap="square" rtlCol="0">
            <a:spAutoFit/>
          </a:bodyPr>
          <a:lstStyle/>
          <a:p>
            <a:r>
              <a:rPr lang="fr-FR" dirty="0" smtClean="0"/>
              <a:t>Lors des séances de TP nous allons résoudre des exercices de cas pratiques avec Matlab</a:t>
            </a:r>
            <a:endParaRPr lang="fr-F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b="1" dirty="0" smtClean="0">
                <a:solidFill>
                  <a:schemeClr val="tx1"/>
                </a:solidFill>
              </a:rPr>
              <a:t>Chapitre 1</a:t>
            </a:r>
            <a:br>
              <a:rPr lang="fr-FR" b="1" dirty="0" smtClean="0">
                <a:solidFill>
                  <a:schemeClr val="tx1"/>
                </a:solidFill>
              </a:rPr>
            </a:br>
            <a:r>
              <a:rPr lang="fr-FR" b="1" dirty="0" smtClean="0">
                <a:solidFill>
                  <a:schemeClr val="tx1"/>
                </a:solidFill>
              </a:rPr>
              <a:t>Introduction au Logiciel MATLAB</a:t>
            </a:r>
            <a:endParaRPr lang="fr-FR" b="1" dirty="0">
              <a:solidFill>
                <a:schemeClr val="tx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2844" y="2285992"/>
            <a:ext cx="8786874" cy="1143000"/>
          </a:xfrm>
        </p:spPr>
        <p:txBody>
          <a:bodyPr>
            <a:normAutofit/>
          </a:bodyPr>
          <a:lstStyle/>
          <a:p>
            <a:pPr algn="ctr"/>
            <a:r>
              <a:rPr lang="fr-FR" sz="3200" b="1" dirty="0" smtClean="0"/>
              <a:t>Présentation générale</a:t>
            </a:r>
            <a:endParaRPr lang="fr-FR" sz="3200" b="1" dirty="0"/>
          </a:p>
        </p:txBody>
      </p:sp>
      <p:sp>
        <p:nvSpPr>
          <p:cNvPr id="7" name="ZoneTexte 6"/>
          <p:cNvSpPr txBox="1"/>
          <p:nvPr/>
        </p:nvSpPr>
        <p:spPr>
          <a:xfrm>
            <a:off x="642910" y="2571744"/>
            <a:ext cx="184731" cy="369332"/>
          </a:xfrm>
          <a:prstGeom prst="rect">
            <a:avLst/>
          </a:prstGeom>
          <a:noFill/>
        </p:spPr>
        <p:txBody>
          <a:bodyPr wrap="none" rtlCol="0">
            <a:spAutoFit/>
          </a:bodyPr>
          <a:lstStyle/>
          <a:p>
            <a:endParaRPr lang="fr-FR"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8" name="Picture 2"/>
          <p:cNvPicPr>
            <a:picLocks noChangeAspect="1" noChangeArrowheads="1"/>
          </p:cNvPicPr>
          <p:nvPr/>
        </p:nvPicPr>
        <p:blipFill>
          <a:blip r:embed="rId2" cstate="print"/>
          <a:srcRect/>
          <a:stretch>
            <a:fillRect/>
          </a:stretch>
        </p:blipFill>
        <p:spPr bwMode="auto">
          <a:xfrm>
            <a:off x="395536" y="1196752"/>
            <a:ext cx="8518818" cy="367240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1538" y="0"/>
            <a:ext cx="7772400" cy="1143000"/>
          </a:xfrm>
        </p:spPr>
        <p:txBody>
          <a:bodyPr>
            <a:normAutofit/>
          </a:bodyPr>
          <a:lstStyle/>
          <a:p>
            <a:r>
              <a:rPr lang="fr-FR" sz="3000" dirty="0" smtClean="0">
                <a:solidFill>
                  <a:schemeClr val="tx1"/>
                </a:solidFill>
              </a:rPr>
              <a:t>Le logiciel </a:t>
            </a:r>
            <a:r>
              <a:rPr lang="fr-FR" sz="3000" b="1" dirty="0" smtClean="0">
                <a:solidFill>
                  <a:schemeClr val="tx1"/>
                </a:solidFill>
              </a:rPr>
              <a:t>Matlab </a:t>
            </a:r>
            <a:endParaRPr lang="fr-FR" sz="3000" b="1" dirty="0">
              <a:solidFill>
                <a:schemeClr val="tx1"/>
              </a:solidFill>
            </a:endParaRPr>
          </a:p>
        </p:txBody>
      </p:sp>
      <p:sp>
        <p:nvSpPr>
          <p:cNvPr id="20" name="ZoneTexte 19"/>
          <p:cNvSpPr txBox="1"/>
          <p:nvPr/>
        </p:nvSpPr>
        <p:spPr>
          <a:xfrm>
            <a:off x="107504" y="1428736"/>
            <a:ext cx="9036496" cy="1754326"/>
          </a:xfrm>
          <a:prstGeom prst="rect">
            <a:avLst/>
          </a:prstGeom>
          <a:noFill/>
        </p:spPr>
        <p:txBody>
          <a:bodyPr wrap="square" rtlCol="0">
            <a:spAutoFit/>
          </a:bodyPr>
          <a:lstStyle/>
          <a:p>
            <a:r>
              <a:rPr lang="fr-FR" dirty="0" smtClean="0"/>
              <a:t>Matlab est un logiciel de programmation mathématique et de calcul scientifique.</a:t>
            </a:r>
          </a:p>
          <a:p>
            <a:r>
              <a:rPr lang="fr-FR" dirty="0" smtClean="0"/>
              <a:t>Matlab a été crée en 1970 par </a:t>
            </a:r>
            <a:r>
              <a:rPr lang="fr-FR" dirty="0" err="1" smtClean="0"/>
              <a:t>Cleve</a:t>
            </a:r>
            <a:r>
              <a:rPr lang="fr-FR" dirty="0" smtClean="0"/>
              <a:t> </a:t>
            </a:r>
            <a:r>
              <a:rPr lang="fr-FR" dirty="0" err="1" smtClean="0"/>
              <a:t>Moler</a:t>
            </a:r>
            <a:r>
              <a:rPr lang="fr-FR" dirty="0" smtClean="0"/>
              <a:t> (Professeur de Mathématique à l’université du nouveau Mexique).</a:t>
            </a:r>
          </a:p>
          <a:p>
            <a:r>
              <a:rPr lang="fr-FR" dirty="0" smtClean="0"/>
              <a:t>Matlab (</a:t>
            </a:r>
            <a:r>
              <a:rPr lang="fr-FR" dirty="0" err="1" smtClean="0"/>
              <a:t>MATrix</a:t>
            </a:r>
            <a:r>
              <a:rPr lang="fr-FR" dirty="0" smtClean="0"/>
              <a:t> </a:t>
            </a:r>
            <a:r>
              <a:rPr lang="fr-FR" dirty="0" err="1" smtClean="0"/>
              <a:t>LABoratory</a:t>
            </a:r>
            <a:r>
              <a:rPr lang="fr-FR" dirty="0" smtClean="0"/>
              <a:t>) est un environnement de calcul numérique matriciel. En d'autre mot, on peut le considérer comme étant une calculatrice scientifique évolué avec des variables de types matriciels.</a:t>
            </a:r>
          </a:p>
          <a:p>
            <a:endParaRPr lang="fr-FR" dirty="0" smtClean="0"/>
          </a:p>
        </p:txBody>
      </p:sp>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21506" name="Picture 2" descr="Image illustrative de l'article MATLAB"/>
          <p:cNvPicPr>
            <a:picLocks noChangeAspect="1" noChangeArrowheads="1"/>
          </p:cNvPicPr>
          <p:nvPr/>
        </p:nvPicPr>
        <p:blipFill>
          <a:blip r:embed="rId2" cstate="print"/>
          <a:srcRect/>
          <a:stretch>
            <a:fillRect/>
          </a:stretch>
        </p:blipFill>
        <p:spPr bwMode="auto">
          <a:xfrm>
            <a:off x="214282" y="428604"/>
            <a:ext cx="914400" cy="819151"/>
          </a:xfrm>
          <a:prstGeom prst="rect">
            <a:avLst/>
          </a:prstGeom>
          <a:noFill/>
        </p:spPr>
      </p:pic>
      <p:sp>
        <p:nvSpPr>
          <p:cNvPr id="15" name="ZoneTexte 14"/>
          <p:cNvSpPr txBox="1"/>
          <p:nvPr/>
        </p:nvSpPr>
        <p:spPr>
          <a:xfrm>
            <a:off x="3357554" y="3143248"/>
            <a:ext cx="2139817" cy="523220"/>
          </a:xfrm>
          <a:prstGeom prst="rect">
            <a:avLst/>
          </a:prstGeom>
          <a:noFill/>
        </p:spPr>
        <p:txBody>
          <a:bodyPr wrap="none" rtlCol="0">
            <a:spAutoFit/>
          </a:bodyPr>
          <a:lstStyle/>
          <a:p>
            <a:r>
              <a:rPr lang="fr-FR" sz="2800" b="1" dirty="0" smtClean="0">
                <a:solidFill>
                  <a:srgbClr val="92D050"/>
                </a:solidFill>
              </a:rPr>
              <a:t>M A T </a:t>
            </a:r>
            <a:r>
              <a:rPr lang="fr-FR" sz="2800" b="1" dirty="0" smtClean="0">
                <a:solidFill>
                  <a:schemeClr val="accent1">
                    <a:lumMod val="75000"/>
                  </a:schemeClr>
                </a:solidFill>
              </a:rPr>
              <a:t>L A B</a:t>
            </a:r>
            <a:endParaRPr lang="fr-FR" sz="2800" b="1" dirty="0">
              <a:solidFill>
                <a:schemeClr val="accent1">
                  <a:lumMod val="75000"/>
                </a:schemeClr>
              </a:solidFill>
            </a:endParaRPr>
          </a:p>
        </p:txBody>
      </p:sp>
      <p:sp>
        <p:nvSpPr>
          <p:cNvPr id="16" name="Rectangle 15"/>
          <p:cNvSpPr/>
          <p:nvPr/>
        </p:nvSpPr>
        <p:spPr>
          <a:xfrm>
            <a:off x="4559182" y="4214818"/>
            <a:ext cx="2347694" cy="369332"/>
          </a:xfrm>
          <a:prstGeom prst="rect">
            <a:avLst/>
          </a:prstGeom>
        </p:spPr>
        <p:txBody>
          <a:bodyPr wrap="none">
            <a:spAutoFit/>
          </a:bodyPr>
          <a:lstStyle/>
          <a:p>
            <a:r>
              <a:rPr lang="fr-FR" b="1" dirty="0" smtClean="0">
                <a:solidFill>
                  <a:schemeClr val="accent1">
                    <a:lumMod val="75000"/>
                  </a:schemeClr>
                </a:solidFill>
              </a:rPr>
              <a:t>L A B O R A T O R Y</a:t>
            </a:r>
            <a:endParaRPr lang="fr-FR" dirty="0"/>
          </a:p>
        </p:txBody>
      </p:sp>
      <p:sp>
        <p:nvSpPr>
          <p:cNvPr id="17" name="Rectangle 16"/>
          <p:cNvSpPr/>
          <p:nvPr/>
        </p:nvSpPr>
        <p:spPr>
          <a:xfrm>
            <a:off x="2357422" y="4214818"/>
            <a:ext cx="1437060" cy="369332"/>
          </a:xfrm>
          <a:prstGeom prst="rect">
            <a:avLst/>
          </a:prstGeom>
        </p:spPr>
        <p:txBody>
          <a:bodyPr wrap="none">
            <a:spAutoFit/>
          </a:bodyPr>
          <a:lstStyle/>
          <a:p>
            <a:r>
              <a:rPr lang="fr-FR" b="1" dirty="0" smtClean="0">
                <a:solidFill>
                  <a:srgbClr val="92D050"/>
                </a:solidFill>
              </a:rPr>
              <a:t>M A T R I X </a:t>
            </a:r>
            <a:endParaRPr lang="fr-FR" dirty="0"/>
          </a:p>
        </p:txBody>
      </p:sp>
      <p:cxnSp>
        <p:nvCxnSpPr>
          <p:cNvPr id="19" name="Connecteur droit avec flèche 18"/>
          <p:cNvCxnSpPr/>
          <p:nvPr/>
        </p:nvCxnSpPr>
        <p:spPr>
          <a:xfrm>
            <a:off x="4857752" y="3643316"/>
            <a:ext cx="857258" cy="50006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p:nvPr/>
        </p:nvCxnSpPr>
        <p:spPr>
          <a:xfrm rot="10800000" flipV="1">
            <a:off x="3071800" y="3643314"/>
            <a:ext cx="857258" cy="50006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ZoneTexte 23"/>
          <p:cNvSpPr txBox="1"/>
          <p:nvPr/>
        </p:nvSpPr>
        <p:spPr>
          <a:xfrm>
            <a:off x="214282" y="5500702"/>
            <a:ext cx="8643998" cy="369332"/>
          </a:xfrm>
          <a:prstGeom prst="rect">
            <a:avLst/>
          </a:prstGeom>
          <a:noFill/>
          <a:ln w="6350">
            <a:solidFill>
              <a:schemeClr val="tx1"/>
            </a:solidFill>
          </a:ln>
        </p:spPr>
        <p:txBody>
          <a:bodyPr wrap="square" rtlCol="0">
            <a:spAutoFit/>
          </a:bodyPr>
          <a:lstStyle/>
          <a:p>
            <a:pPr algn="ctr"/>
            <a:r>
              <a:rPr lang="fr-FR" dirty="0" smtClean="0"/>
              <a:t>Toute variable utilisée par Matlab est une </a:t>
            </a:r>
            <a:r>
              <a:rPr lang="fr-FR" b="1" u="sng" dirty="0" smtClean="0"/>
              <a:t>Matrice</a:t>
            </a:r>
            <a:endParaRPr lang="fr-FR" b="1" u="sng" dirty="0"/>
          </a:p>
        </p:txBody>
      </p:sp>
      <p:sp>
        <p:nvSpPr>
          <p:cNvPr id="12" name="ZoneTexte 11"/>
          <p:cNvSpPr txBox="1"/>
          <p:nvPr/>
        </p:nvSpPr>
        <p:spPr>
          <a:xfrm>
            <a:off x="8501090" y="6286520"/>
            <a:ext cx="312906" cy="369332"/>
          </a:xfrm>
          <a:prstGeom prst="rect">
            <a:avLst/>
          </a:prstGeom>
          <a:noFill/>
        </p:spPr>
        <p:txBody>
          <a:bodyPr wrap="none" rtlCol="0">
            <a:spAutoFit/>
          </a:bodyPr>
          <a:lstStyle/>
          <a:p>
            <a:r>
              <a:rPr lang="fr-FR" dirty="0" smtClean="0"/>
              <a:t>1</a:t>
            </a:r>
            <a:endParaRPr lang="fr-F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p:cNvPicPr>
            <a:picLocks noChangeAspect="1" noChangeArrowheads="1"/>
          </p:cNvPicPr>
          <p:nvPr/>
        </p:nvPicPr>
        <p:blipFill>
          <a:blip r:embed="rId2" cstate="print"/>
          <a:srcRect/>
          <a:stretch>
            <a:fillRect/>
          </a:stretch>
        </p:blipFill>
        <p:spPr bwMode="auto">
          <a:xfrm>
            <a:off x="107504" y="692696"/>
            <a:ext cx="8865985" cy="720080"/>
          </a:xfrm>
          <a:prstGeom prst="rect">
            <a:avLst/>
          </a:prstGeom>
          <a:noFill/>
          <a:ln w="9525">
            <a:noFill/>
            <a:miter lim="800000"/>
            <a:headEnd/>
            <a:tailEnd/>
          </a:ln>
        </p:spPr>
      </p:pic>
      <p:pic>
        <p:nvPicPr>
          <p:cNvPr id="124931" name="Picture 3"/>
          <p:cNvPicPr>
            <a:picLocks noChangeAspect="1" noChangeArrowheads="1"/>
          </p:cNvPicPr>
          <p:nvPr/>
        </p:nvPicPr>
        <p:blipFill>
          <a:blip r:embed="rId3" cstate="print"/>
          <a:srcRect/>
          <a:stretch>
            <a:fillRect/>
          </a:stretch>
        </p:blipFill>
        <p:spPr bwMode="auto">
          <a:xfrm>
            <a:off x="2295525" y="1562100"/>
            <a:ext cx="4822840" cy="395513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9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24931"/>
                                        </p:tgtEl>
                                        <p:attrNameLst>
                                          <p:attrName>style.visibility</p:attrName>
                                        </p:attrNameLst>
                                      </p:cBhvr>
                                      <p:to>
                                        <p:strVal val="visible"/>
                                      </p:to>
                                    </p:set>
                                    <p:anim calcmode="lin" valueType="num">
                                      <p:cBhvr additive="base">
                                        <p:cTn id="11" dur="500" fill="hold"/>
                                        <p:tgtEl>
                                          <p:spTgt spid="124931"/>
                                        </p:tgtEl>
                                        <p:attrNameLst>
                                          <p:attrName>ppt_x</p:attrName>
                                        </p:attrNameLst>
                                      </p:cBhvr>
                                      <p:tavLst>
                                        <p:tav tm="0">
                                          <p:val>
                                            <p:strVal val="#ppt_x"/>
                                          </p:val>
                                        </p:tav>
                                        <p:tav tm="100000">
                                          <p:val>
                                            <p:strVal val="#ppt_x"/>
                                          </p:val>
                                        </p:tav>
                                      </p:tavLst>
                                    </p:anim>
                                    <p:anim calcmode="lin" valueType="num">
                                      <p:cBhvr additive="base">
                                        <p:cTn id="12" dur="500" fill="hold"/>
                                        <p:tgtEl>
                                          <p:spTgt spid="1249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1538" y="0"/>
            <a:ext cx="7772400" cy="1143000"/>
          </a:xfrm>
        </p:spPr>
        <p:txBody>
          <a:bodyPr>
            <a:normAutofit/>
          </a:bodyPr>
          <a:lstStyle/>
          <a:p>
            <a:r>
              <a:rPr lang="fr-FR" sz="3000" dirty="0" smtClean="0">
                <a:solidFill>
                  <a:schemeClr val="tx1"/>
                </a:solidFill>
              </a:rPr>
              <a:t>Le logiciel </a:t>
            </a:r>
            <a:r>
              <a:rPr lang="fr-FR" sz="3000" b="1" dirty="0" smtClean="0">
                <a:solidFill>
                  <a:schemeClr val="tx1"/>
                </a:solidFill>
              </a:rPr>
              <a:t>Matlab </a:t>
            </a:r>
            <a:endParaRPr lang="fr-FR" sz="3000" b="1" dirty="0">
              <a:solidFill>
                <a:schemeClr val="tx1"/>
              </a:solidFill>
            </a:endParaRPr>
          </a:p>
        </p:txBody>
      </p:sp>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21506" name="Picture 2" descr="Image illustrative de l'article MATLAB"/>
          <p:cNvPicPr>
            <a:picLocks noChangeAspect="1" noChangeArrowheads="1"/>
          </p:cNvPicPr>
          <p:nvPr/>
        </p:nvPicPr>
        <p:blipFill>
          <a:blip r:embed="rId2" cstate="print"/>
          <a:srcRect/>
          <a:stretch>
            <a:fillRect/>
          </a:stretch>
        </p:blipFill>
        <p:spPr bwMode="auto">
          <a:xfrm>
            <a:off x="214282" y="428604"/>
            <a:ext cx="914400" cy="819151"/>
          </a:xfrm>
          <a:prstGeom prst="rect">
            <a:avLst/>
          </a:prstGeom>
          <a:noFill/>
        </p:spPr>
      </p:pic>
      <p:sp>
        <p:nvSpPr>
          <p:cNvPr id="12" name="ZoneTexte 11"/>
          <p:cNvSpPr txBox="1"/>
          <p:nvPr/>
        </p:nvSpPr>
        <p:spPr>
          <a:xfrm>
            <a:off x="285720" y="1772816"/>
            <a:ext cx="6481261" cy="369332"/>
          </a:xfrm>
          <a:prstGeom prst="rect">
            <a:avLst/>
          </a:prstGeom>
          <a:noFill/>
        </p:spPr>
        <p:txBody>
          <a:bodyPr wrap="none" rtlCol="0">
            <a:spAutoFit/>
          </a:bodyPr>
          <a:lstStyle/>
          <a:p>
            <a:r>
              <a:rPr lang="fr-FR" dirty="0" smtClean="0"/>
              <a:t>La fenêtre principale de Matlab est divisée en 4 sous-fenêtres</a:t>
            </a:r>
            <a:endParaRPr lang="fr-FR" dirty="0"/>
          </a:p>
        </p:txBody>
      </p:sp>
      <p:pic>
        <p:nvPicPr>
          <p:cNvPr id="28674" name="Picture 2"/>
          <p:cNvPicPr>
            <a:picLocks noChangeAspect="1" noChangeArrowheads="1"/>
          </p:cNvPicPr>
          <p:nvPr/>
        </p:nvPicPr>
        <p:blipFill>
          <a:blip r:embed="rId3" cstate="print"/>
          <a:srcRect/>
          <a:stretch>
            <a:fillRect/>
          </a:stretch>
        </p:blipFill>
        <p:spPr bwMode="auto">
          <a:xfrm>
            <a:off x="285720" y="2714620"/>
            <a:ext cx="4714908" cy="2653423"/>
          </a:xfrm>
          <a:prstGeom prst="rect">
            <a:avLst/>
          </a:prstGeom>
          <a:noFill/>
          <a:ln w="9525">
            <a:noFill/>
            <a:miter lim="800000"/>
            <a:headEnd/>
            <a:tailEnd/>
          </a:ln>
          <a:effectLst/>
        </p:spPr>
      </p:pic>
      <p:sp>
        <p:nvSpPr>
          <p:cNvPr id="14" name="ZoneTexte 13"/>
          <p:cNvSpPr txBox="1"/>
          <p:nvPr/>
        </p:nvSpPr>
        <p:spPr>
          <a:xfrm>
            <a:off x="5357818" y="2852936"/>
            <a:ext cx="3643338" cy="2031325"/>
          </a:xfrm>
          <a:prstGeom prst="rect">
            <a:avLst/>
          </a:prstGeom>
          <a:noFill/>
        </p:spPr>
        <p:txBody>
          <a:bodyPr wrap="square" rtlCol="0">
            <a:spAutoFit/>
          </a:bodyPr>
          <a:lstStyle/>
          <a:p>
            <a:pPr marL="342900" indent="-342900">
              <a:buAutoNum type="arabicPeriod"/>
            </a:pPr>
            <a:r>
              <a:rPr lang="fr-FR" b="1" dirty="0" smtClean="0"/>
              <a:t>Fenêtre de Commande</a:t>
            </a:r>
          </a:p>
          <a:p>
            <a:pPr marL="342900" indent="-342900"/>
            <a:endParaRPr lang="fr-FR" b="1" dirty="0" smtClean="0"/>
          </a:p>
          <a:p>
            <a:pPr marL="342900" indent="-342900"/>
            <a:r>
              <a:rPr lang="fr-FR" b="1" dirty="0" smtClean="0"/>
              <a:t>2.   Espace de travail</a:t>
            </a:r>
          </a:p>
          <a:p>
            <a:pPr marL="342900" indent="-342900"/>
            <a:endParaRPr lang="fr-FR" b="1" dirty="0" smtClean="0"/>
          </a:p>
          <a:p>
            <a:pPr marL="342900" indent="-342900"/>
            <a:r>
              <a:rPr lang="fr-FR" b="1" dirty="0" smtClean="0"/>
              <a:t>3.  Historique des commandes</a:t>
            </a:r>
          </a:p>
          <a:p>
            <a:pPr marL="342900" indent="-342900"/>
            <a:endParaRPr lang="fr-FR" b="1" dirty="0" smtClean="0"/>
          </a:p>
          <a:p>
            <a:pPr marL="342900" indent="-342900"/>
            <a:r>
              <a:rPr lang="fr-FR" b="1" dirty="0" smtClean="0"/>
              <a:t>4.  Dossier en cours</a:t>
            </a:r>
            <a:endParaRPr lang="fr-FR" b="1" dirty="0"/>
          </a:p>
        </p:txBody>
      </p:sp>
      <p:sp>
        <p:nvSpPr>
          <p:cNvPr id="21" name="Rectangle 20"/>
          <p:cNvSpPr/>
          <p:nvPr/>
        </p:nvSpPr>
        <p:spPr>
          <a:xfrm>
            <a:off x="1357290" y="2928934"/>
            <a:ext cx="2786082" cy="242889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22"/>
          <p:cNvSpPr/>
          <p:nvPr/>
        </p:nvSpPr>
        <p:spPr>
          <a:xfrm>
            <a:off x="285720" y="2928934"/>
            <a:ext cx="1000132" cy="242889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p:cNvSpPr/>
          <p:nvPr/>
        </p:nvSpPr>
        <p:spPr>
          <a:xfrm>
            <a:off x="4214810" y="2928934"/>
            <a:ext cx="1000132" cy="12144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25"/>
          <p:cNvSpPr/>
          <p:nvPr/>
        </p:nvSpPr>
        <p:spPr>
          <a:xfrm>
            <a:off x="4214810" y="4214818"/>
            <a:ext cx="1000132" cy="114300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p:cNvSpPr txBox="1"/>
          <p:nvPr/>
        </p:nvSpPr>
        <p:spPr>
          <a:xfrm>
            <a:off x="2472446" y="3857628"/>
            <a:ext cx="385042" cy="523220"/>
          </a:xfrm>
          <a:prstGeom prst="rect">
            <a:avLst/>
          </a:prstGeom>
          <a:noFill/>
        </p:spPr>
        <p:txBody>
          <a:bodyPr wrap="none" rtlCol="0">
            <a:spAutoFit/>
          </a:bodyPr>
          <a:lstStyle/>
          <a:p>
            <a:r>
              <a:rPr lang="fr-FR" sz="2800" b="1" dirty="0" smtClean="0"/>
              <a:t>1</a:t>
            </a:r>
            <a:endParaRPr lang="fr-FR" sz="2800" b="1" dirty="0"/>
          </a:p>
        </p:txBody>
      </p:sp>
      <p:sp>
        <p:nvSpPr>
          <p:cNvPr id="28" name="ZoneTexte 27"/>
          <p:cNvSpPr txBox="1"/>
          <p:nvPr/>
        </p:nvSpPr>
        <p:spPr>
          <a:xfrm>
            <a:off x="4500562" y="3286124"/>
            <a:ext cx="385042" cy="523220"/>
          </a:xfrm>
          <a:prstGeom prst="rect">
            <a:avLst/>
          </a:prstGeom>
          <a:noFill/>
        </p:spPr>
        <p:txBody>
          <a:bodyPr wrap="none" rtlCol="0">
            <a:spAutoFit/>
          </a:bodyPr>
          <a:lstStyle/>
          <a:p>
            <a:r>
              <a:rPr lang="fr-FR" sz="2800" b="1" dirty="0" smtClean="0"/>
              <a:t>2</a:t>
            </a:r>
            <a:endParaRPr lang="fr-FR" sz="2800" b="1" dirty="0"/>
          </a:p>
        </p:txBody>
      </p:sp>
      <p:sp>
        <p:nvSpPr>
          <p:cNvPr id="29" name="ZoneTexte 28"/>
          <p:cNvSpPr txBox="1"/>
          <p:nvPr/>
        </p:nvSpPr>
        <p:spPr>
          <a:xfrm>
            <a:off x="4500562" y="4572008"/>
            <a:ext cx="385042" cy="523220"/>
          </a:xfrm>
          <a:prstGeom prst="rect">
            <a:avLst/>
          </a:prstGeom>
          <a:noFill/>
        </p:spPr>
        <p:txBody>
          <a:bodyPr wrap="none" rtlCol="0">
            <a:spAutoFit/>
          </a:bodyPr>
          <a:lstStyle/>
          <a:p>
            <a:r>
              <a:rPr lang="fr-FR" sz="2800" b="1" dirty="0" smtClean="0"/>
              <a:t>3</a:t>
            </a:r>
            <a:endParaRPr lang="fr-FR" sz="2800" b="1" dirty="0"/>
          </a:p>
        </p:txBody>
      </p:sp>
      <p:sp>
        <p:nvSpPr>
          <p:cNvPr id="30" name="ZoneTexte 29"/>
          <p:cNvSpPr txBox="1"/>
          <p:nvPr/>
        </p:nvSpPr>
        <p:spPr>
          <a:xfrm>
            <a:off x="642910" y="3786190"/>
            <a:ext cx="385042" cy="523220"/>
          </a:xfrm>
          <a:prstGeom prst="rect">
            <a:avLst/>
          </a:prstGeom>
          <a:noFill/>
        </p:spPr>
        <p:txBody>
          <a:bodyPr wrap="none" rtlCol="0">
            <a:spAutoFit/>
          </a:bodyPr>
          <a:lstStyle/>
          <a:p>
            <a:r>
              <a:rPr lang="fr-FR" sz="2800" b="1" dirty="0" smtClean="0"/>
              <a:t>4</a:t>
            </a:r>
            <a:endParaRPr lang="fr-FR" sz="2800" b="1" dirty="0"/>
          </a:p>
        </p:txBody>
      </p:sp>
      <p:sp>
        <p:nvSpPr>
          <p:cNvPr id="16" name="ZoneTexte 15"/>
          <p:cNvSpPr txBox="1"/>
          <p:nvPr/>
        </p:nvSpPr>
        <p:spPr>
          <a:xfrm>
            <a:off x="8501090" y="6286520"/>
            <a:ext cx="312906" cy="369332"/>
          </a:xfrm>
          <a:prstGeom prst="rect">
            <a:avLst/>
          </a:prstGeom>
          <a:noFill/>
        </p:spPr>
        <p:txBody>
          <a:bodyPr wrap="none" rtlCol="0">
            <a:spAutoFit/>
          </a:bodyPr>
          <a:lstStyle/>
          <a:p>
            <a:r>
              <a:rPr lang="fr-FR" dirty="0" smtClean="0"/>
              <a:t>2</a:t>
            </a:r>
            <a:endParaRPr lang="fr-FR"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24578" name="Picture 2"/>
          <p:cNvPicPr>
            <a:picLocks noChangeAspect="1" noChangeArrowheads="1"/>
          </p:cNvPicPr>
          <p:nvPr/>
        </p:nvPicPr>
        <p:blipFill>
          <a:blip r:embed="rId3" cstate="print"/>
          <a:srcRect/>
          <a:stretch>
            <a:fillRect/>
          </a:stretch>
        </p:blipFill>
        <p:spPr bwMode="auto">
          <a:xfrm>
            <a:off x="571472" y="2357430"/>
            <a:ext cx="3214708" cy="2411033"/>
          </a:xfrm>
          <a:prstGeom prst="rect">
            <a:avLst/>
          </a:prstGeom>
          <a:noFill/>
          <a:ln w="9525">
            <a:noFill/>
            <a:miter lim="800000"/>
            <a:headEnd/>
            <a:tailEnd/>
          </a:ln>
          <a:effectLst/>
        </p:spPr>
      </p:pic>
      <p:pic>
        <p:nvPicPr>
          <p:cNvPr id="24580" name="Picture 4"/>
          <p:cNvPicPr>
            <a:picLocks noChangeAspect="1" noChangeArrowheads="1"/>
          </p:cNvPicPr>
          <p:nvPr/>
        </p:nvPicPr>
        <p:blipFill>
          <a:blip r:embed="rId4" cstate="print"/>
          <a:srcRect/>
          <a:stretch>
            <a:fillRect/>
          </a:stretch>
        </p:blipFill>
        <p:spPr bwMode="auto">
          <a:xfrm>
            <a:off x="3929058" y="2000240"/>
            <a:ext cx="5037682" cy="3014676"/>
          </a:xfrm>
          <a:prstGeom prst="rect">
            <a:avLst/>
          </a:prstGeom>
          <a:noFill/>
          <a:ln w="9525">
            <a:noFill/>
            <a:miter lim="800000"/>
            <a:headEnd/>
            <a:tailEnd/>
          </a:ln>
          <a:effectLst/>
        </p:spPr>
      </p:pic>
      <p:sp>
        <p:nvSpPr>
          <p:cNvPr id="18" name="Rectangle 17"/>
          <p:cNvSpPr/>
          <p:nvPr/>
        </p:nvSpPr>
        <p:spPr>
          <a:xfrm>
            <a:off x="1285852" y="2571744"/>
            <a:ext cx="1857388" cy="214314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p:cNvSpPr txBox="1"/>
          <p:nvPr/>
        </p:nvSpPr>
        <p:spPr>
          <a:xfrm>
            <a:off x="214282" y="857232"/>
            <a:ext cx="8643998" cy="1292662"/>
          </a:xfrm>
          <a:prstGeom prst="rect">
            <a:avLst/>
          </a:prstGeom>
          <a:noFill/>
        </p:spPr>
        <p:txBody>
          <a:bodyPr wrap="square" rtlCol="0">
            <a:spAutoFit/>
          </a:bodyPr>
          <a:lstStyle/>
          <a:p>
            <a:r>
              <a:rPr lang="fr-FR" dirty="0" smtClean="0"/>
              <a:t>Il s’agit de la fenêtre la plus importante. Elle permet à l’utilisateur de saisir directement les commandes (instructions) à exécutées</a:t>
            </a:r>
          </a:p>
          <a:p>
            <a:r>
              <a:rPr lang="fr-FR" dirty="0" smtClean="0"/>
              <a:t>Le Curseur </a:t>
            </a:r>
            <a:r>
              <a:rPr lang="fr-FR" sz="2400" b="1" dirty="0" smtClean="0">
                <a:latin typeface="Consolas" pitchFamily="49" charset="0"/>
              </a:rPr>
              <a:t>&gt;&gt;</a:t>
            </a:r>
            <a:r>
              <a:rPr lang="fr-FR" b="1" dirty="0" smtClean="0"/>
              <a:t> </a:t>
            </a:r>
            <a:r>
              <a:rPr lang="fr-FR" dirty="0" smtClean="0"/>
              <a:t>indique que </a:t>
            </a:r>
            <a:r>
              <a:rPr lang="fr-FR" dirty="0" err="1" smtClean="0"/>
              <a:t>matlab</a:t>
            </a:r>
            <a:r>
              <a:rPr lang="fr-FR" dirty="0" smtClean="0"/>
              <a:t> est en attente d’une Commande</a:t>
            </a:r>
            <a:endParaRPr lang="fr-FR" b="1" dirty="0" smtClean="0"/>
          </a:p>
          <a:p>
            <a:endParaRPr lang="fr-FR" dirty="0"/>
          </a:p>
        </p:txBody>
      </p:sp>
      <p:sp>
        <p:nvSpPr>
          <p:cNvPr id="23" name="Flèche droite 22"/>
          <p:cNvSpPr/>
          <p:nvPr/>
        </p:nvSpPr>
        <p:spPr>
          <a:xfrm>
            <a:off x="3214678" y="3429000"/>
            <a:ext cx="1000132" cy="28575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dirty="0">
              <a:ln>
                <a:solidFill>
                  <a:sysClr val="windowText" lastClr="000000"/>
                </a:solidFill>
              </a:ln>
              <a:solidFill>
                <a:sysClr val="windowText" lastClr="000000"/>
              </a:solidFill>
            </a:endParaRPr>
          </a:p>
        </p:txBody>
      </p:sp>
      <p:sp>
        <p:nvSpPr>
          <p:cNvPr id="26" name="Rectangle 25"/>
          <p:cNvSpPr/>
          <p:nvPr/>
        </p:nvSpPr>
        <p:spPr>
          <a:xfrm>
            <a:off x="214282" y="357166"/>
            <a:ext cx="7786742" cy="461665"/>
          </a:xfrm>
          <a:prstGeom prst="rect">
            <a:avLst/>
          </a:prstGeom>
        </p:spPr>
        <p:txBody>
          <a:bodyPr wrap="square">
            <a:spAutoFit/>
          </a:bodyPr>
          <a:lstStyle/>
          <a:p>
            <a:r>
              <a:rPr lang="fr-FR" sz="2400" b="1" dirty="0" smtClean="0"/>
              <a:t>Fenêtre de Commande : (Command </a:t>
            </a:r>
            <a:r>
              <a:rPr lang="fr-FR" sz="2400" b="1" dirty="0" err="1" smtClean="0"/>
              <a:t>Window</a:t>
            </a:r>
            <a:r>
              <a:rPr lang="fr-FR" sz="2400" b="1" dirty="0" smtClean="0"/>
              <a:t>)</a:t>
            </a:r>
          </a:p>
        </p:txBody>
      </p:sp>
      <p:sp>
        <p:nvSpPr>
          <p:cNvPr id="27" name="ZoneTexte 26"/>
          <p:cNvSpPr txBox="1"/>
          <p:nvPr/>
        </p:nvSpPr>
        <p:spPr>
          <a:xfrm>
            <a:off x="2000232" y="3357562"/>
            <a:ext cx="385042" cy="523220"/>
          </a:xfrm>
          <a:prstGeom prst="rect">
            <a:avLst/>
          </a:prstGeom>
          <a:noFill/>
        </p:spPr>
        <p:txBody>
          <a:bodyPr wrap="none" rtlCol="0">
            <a:spAutoFit/>
          </a:bodyPr>
          <a:lstStyle/>
          <a:p>
            <a:r>
              <a:rPr lang="fr-FR" sz="2800" b="1" dirty="0" smtClean="0"/>
              <a:t>1</a:t>
            </a:r>
            <a:endParaRPr lang="fr-FR" sz="2800" b="1" dirty="0"/>
          </a:p>
        </p:txBody>
      </p:sp>
      <p:sp>
        <p:nvSpPr>
          <p:cNvPr id="10" name="ZoneTexte 9"/>
          <p:cNvSpPr txBox="1"/>
          <p:nvPr/>
        </p:nvSpPr>
        <p:spPr>
          <a:xfrm>
            <a:off x="8501090" y="6286520"/>
            <a:ext cx="312906" cy="369332"/>
          </a:xfrm>
          <a:prstGeom prst="rect">
            <a:avLst/>
          </a:prstGeom>
          <a:noFill/>
        </p:spPr>
        <p:txBody>
          <a:bodyPr wrap="none" rtlCol="0">
            <a:spAutoFit/>
          </a:bodyPr>
          <a:lstStyle/>
          <a:p>
            <a:r>
              <a:rPr lang="fr-FR" dirty="0" smtClean="0"/>
              <a:t>3</a:t>
            </a:r>
            <a:endParaRPr lang="fr-FR"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24578" name="Picture 2"/>
          <p:cNvPicPr>
            <a:picLocks noChangeAspect="1" noChangeArrowheads="1"/>
          </p:cNvPicPr>
          <p:nvPr/>
        </p:nvPicPr>
        <p:blipFill>
          <a:blip r:embed="rId3" cstate="print"/>
          <a:srcRect/>
          <a:stretch>
            <a:fillRect/>
          </a:stretch>
        </p:blipFill>
        <p:spPr bwMode="auto">
          <a:xfrm>
            <a:off x="1285852" y="2714620"/>
            <a:ext cx="3214708" cy="2411033"/>
          </a:xfrm>
          <a:prstGeom prst="rect">
            <a:avLst/>
          </a:prstGeom>
          <a:noFill/>
          <a:ln w="9525">
            <a:noFill/>
            <a:miter lim="800000"/>
            <a:headEnd/>
            <a:tailEnd/>
          </a:ln>
          <a:effectLst/>
        </p:spPr>
      </p:pic>
      <p:sp>
        <p:nvSpPr>
          <p:cNvPr id="18" name="Rectangle 17"/>
          <p:cNvSpPr/>
          <p:nvPr/>
        </p:nvSpPr>
        <p:spPr>
          <a:xfrm>
            <a:off x="3786182" y="2928934"/>
            <a:ext cx="714380" cy="10001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p:cNvSpPr txBox="1"/>
          <p:nvPr/>
        </p:nvSpPr>
        <p:spPr>
          <a:xfrm>
            <a:off x="142844" y="1000108"/>
            <a:ext cx="8643998" cy="1200329"/>
          </a:xfrm>
          <a:prstGeom prst="rect">
            <a:avLst/>
          </a:prstGeom>
          <a:noFill/>
        </p:spPr>
        <p:txBody>
          <a:bodyPr wrap="square" rtlCol="0">
            <a:spAutoFit/>
          </a:bodyPr>
          <a:lstStyle/>
          <a:p>
            <a:r>
              <a:rPr lang="fr-FR" dirty="0" smtClean="0"/>
              <a:t>Cette fenêtre affiche l’</a:t>
            </a:r>
            <a:r>
              <a:rPr lang="fr-FR" dirty="0" err="1" smtClean="0"/>
              <a:t>ensembe</a:t>
            </a:r>
            <a:r>
              <a:rPr lang="fr-FR" dirty="0" smtClean="0"/>
              <a:t> des variable utilisées par Matlab.</a:t>
            </a:r>
          </a:p>
          <a:p>
            <a:r>
              <a:rPr lang="fr-FR" dirty="0" smtClean="0"/>
              <a:t>	La colonne « Name » indique le nom de la variable (identifiant).</a:t>
            </a:r>
          </a:p>
          <a:p>
            <a:r>
              <a:rPr lang="fr-FR" dirty="0" smtClean="0"/>
              <a:t>	La colonne « Value » indique sa valeur.</a:t>
            </a:r>
          </a:p>
          <a:p>
            <a:endParaRPr lang="fr-FR" dirty="0"/>
          </a:p>
        </p:txBody>
      </p:sp>
      <p:pic>
        <p:nvPicPr>
          <p:cNvPr id="25602" name="Picture 2"/>
          <p:cNvPicPr>
            <a:picLocks noChangeAspect="1" noChangeArrowheads="1"/>
          </p:cNvPicPr>
          <p:nvPr/>
        </p:nvPicPr>
        <p:blipFill>
          <a:blip r:embed="rId4" cstate="print"/>
          <a:srcRect/>
          <a:stretch>
            <a:fillRect/>
          </a:stretch>
        </p:blipFill>
        <p:spPr bwMode="auto">
          <a:xfrm>
            <a:off x="5500694" y="2428868"/>
            <a:ext cx="2848755" cy="1785950"/>
          </a:xfrm>
          <a:prstGeom prst="rect">
            <a:avLst/>
          </a:prstGeom>
          <a:noFill/>
          <a:ln w="9525">
            <a:noFill/>
            <a:miter lim="800000"/>
            <a:headEnd/>
            <a:tailEnd/>
          </a:ln>
          <a:effectLst/>
        </p:spPr>
      </p:pic>
      <p:sp>
        <p:nvSpPr>
          <p:cNvPr id="10" name="Flèche droite 9"/>
          <p:cNvSpPr/>
          <p:nvPr/>
        </p:nvSpPr>
        <p:spPr>
          <a:xfrm>
            <a:off x="4500562" y="3357562"/>
            <a:ext cx="1000132" cy="28575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dirty="0">
              <a:ln>
                <a:solidFill>
                  <a:sysClr val="windowText" lastClr="000000"/>
                </a:solidFill>
              </a:ln>
              <a:solidFill>
                <a:sysClr val="windowText" lastClr="000000"/>
              </a:solidFill>
            </a:endParaRPr>
          </a:p>
        </p:txBody>
      </p:sp>
      <p:sp>
        <p:nvSpPr>
          <p:cNvPr id="12" name="ZoneTexte 11"/>
          <p:cNvSpPr txBox="1"/>
          <p:nvPr/>
        </p:nvSpPr>
        <p:spPr>
          <a:xfrm>
            <a:off x="285720" y="285728"/>
            <a:ext cx="6357982" cy="461665"/>
          </a:xfrm>
          <a:prstGeom prst="rect">
            <a:avLst/>
          </a:prstGeom>
          <a:noFill/>
        </p:spPr>
        <p:txBody>
          <a:bodyPr wrap="square" rtlCol="0">
            <a:spAutoFit/>
          </a:bodyPr>
          <a:lstStyle/>
          <a:p>
            <a:r>
              <a:rPr lang="fr-FR" sz="2400" b="1" dirty="0" smtClean="0"/>
              <a:t>Espace de Travail : (</a:t>
            </a:r>
            <a:r>
              <a:rPr lang="fr-FR" sz="2400" b="1" dirty="0" err="1" smtClean="0"/>
              <a:t>Workspace</a:t>
            </a:r>
            <a:r>
              <a:rPr lang="fr-FR" sz="2400" b="1" dirty="0" smtClean="0"/>
              <a:t>)</a:t>
            </a:r>
          </a:p>
        </p:txBody>
      </p:sp>
      <p:sp>
        <p:nvSpPr>
          <p:cNvPr id="13" name="ZoneTexte 12"/>
          <p:cNvSpPr txBox="1"/>
          <p:nvPr/>
        </p:nvSpPr>
        <p:spPr>
          <a:xfrm>
            <a:off x="4000496" y="3214686"/>
            <a:ext cx="385042" cy="523220"/>
          </a:xfrm>
          <a:prstGeom prst="rect">
            <a:avLst/>
          </a:prstGeom>
          <a:noFill/>
        </p:spPr>
        <p:txBody>
          <a:bodyPr wrap="none" rtlCol="0">
            <a:spAutoFit/>
          </a:bodyPr>
          <a:lstStyle/>
          <a:p>
            <a:r>
              <a:rPr lang="fr-FR" sz="2800" b="1" dirty="0" smtClean="0"/>
              <a:t>2</a:t>
            </a:r>
            <a:endParaRPr lang="fr-FR" sz="2800" b="1" dirty="0"/>
          </a:p>
        </p:txBody>
      </p:sp>
      <p:sp>
        <p:nvSpPr>
          <p:cNvPr id="11" name="ZoneTexte 10"/>
          <p:cNvSpPr txBox="1"/>
          <p:nvPr/>
        </p:nvSpPr>
        <p:spPr>
          <a:xfrm>
            <a:off x="8501090" y="6286520"/>
            <a:ext cx="312906" cy="369332"/>
          </a:xfrm>
          <a:prstGeom prst="rect">
            <a:avLst/>
          </a:prstGeom>
          <a:noFill/>
        </p:spPr>
        <p:txBody>
          <a:bodyPr wrap="none" rtlCol="0">
            <a:spAutoFit/>
          </a:bodyPr>
          <a:lstStyle/>
          <a:p>
            <a:r>
              <a:rPr lang="fr-FR" dirty="0" smtClean="0"/>
              <a:t>4</a:t>
            </a:r>
            <a:endParaRPr lang="fr-F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24578" name="Picture 2"/>
          <p:cNvPicPr>
            <a:picLocks noChangeAspect="1" noChangeArrowheads="1"/>
          </p:cNvPicPr>
          <p:nvPr/>
        </p:nvPicPr>
        <p:blipFill>
          <a:blip r:embed="rId3" cstate="print"/>
          <a:srcRect/>
          <a:stretch>
            <a:fillRect/>
          </a:stretch>
        </p:blipFill>
        <p:spPr bwMode="auto">
          <a:xfrm>
            <a:off x="857224" y="3500438"/>
            <a:ext cx="3214708" cy="2411033"/>
          </a:xfrm>
          <a:prstGeom prst="rect">
            <a:avLst/>
          </a:prstGeom>
          <a:noFill/>
          <a:ln w="9525">
            <a:noFill/>
            <a:miter lim="800000"/>
            <a:headEnd/>
            <a:tailEnd/>
          </a:ln>
          <a:effectLst/>
        </p:spPr>
      </p:pic>
      <p:sp>
        <p:nvSpPr>
          <p:cNvPr id="18" name="Rectangle 17"/>
          <p:cNvSpPr/>
          <p:nvPr/>
        </p:nvSpPr>
        <p:spPr>
          <a:xfrm>
            <a:off x="3368843" y="4763744"/>
            <a:ext cx="714380" cy="10001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p:cNvSpPr txBox="1"/>
          <p:nvPr/>
        </p:nvSpPr>
        <p:spPr>
          <a:xfrm>
            <a:off x="285720" y="871349"/>
            <a:ext cx="8643998" cy="1200329"/>
          </a:xfrm>
          <a:prstGeom prst="rect">
            <a:avLst/>
          </a:prstGeom>
          <a:noFill/>
        </p:spPr>
        <p:txBody>
          <a:bodyPr wrap="square" rtlCol="0">
            <a:spAutoFit/>
          </a:bodyPr>
          <a:lstStyle/>
          <a:p>
            <a:r>
              <a:rPr lang="fr-FR" dirty="0" smtClean="0"/>
              <a:t>Comme son nom l’indique cette fenêtre affiche l’historique des commandes exécutés par l’utilisateur</a:t>
            </a:r>
          </a:p>
          <a:p>
            <a:r>
              <a:rPr lang="fr-FR" dirty="0" smtClean="0"/>
              <a:t>À chaque fois que l’utilisateur saisie une commande, celle-ci est ajoutée à la liste d’historique.</a:t>
            </a:r>
            <a:endParaRPr lang="fr-FR" dirty="0"/>
          </a:p>
        </p:txBody>
      </p:sp>
      <p:sp>
        <p:nvSpPr>
          <p:cNvPr id="10" name="Flèche droite 9"/>
          <p:cNvSpPr/>
          <p:nvPr/>
        </p:nvSpPr>
        <p:spPr>
          <a:xfrm>
            <a:off x="4071934" y="4143380"/>
            <a:ext cx="1000132" cy="28575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dirty="0">
              <a:ln>
                <a:solidFill>
                  <a:sysClr val="windowText" lastClr="000000"/>
                </a:solidFill>
              </a:ln>
              <a:solidFill>
                <a:sysClr val="windowText" lastClr="000000"/>
              </a:solidFill>
            </a:endParaRPr>
          </a:p>
        </p:txBody>
      </p:sp>
      <p:pic>
        <p:nvPicPr>
          <p:cNvPr id="26626" name="Picture 2"/>
          <p:cNvPicPr>
            <a:picLocks noChangeAspect="1" noChangeArrowheads="1"/>
          </p:cNvPicPr>
          <p:nvPr/>
        </p:nvPicPr>
        <p:blipFill>
          <a:blip r:embed="rId4" cstate="print"/>
          <a:srcRect/>
          <a:stretch>
            <a:fillRect/>
          </a:stretch>
        </p:blipFill>
        <p:spPr bwMode="auto">
          <a:xfrm>
            <a:off x="5143504" y="2433869"/>
            <a:ext cx="3143272" cy="3638337"/>
          </a:xfrm>
          <a:prstGeom prst="rect">
            <a:avLst/>
          </a:prstGeom>
          <a:noFill/>
          <a:ln w="9525">
            <a:noFill/>
            <a:miter lim="800000"/>
            <a:headEnd/>
            <a:tailEnd/>
          </a:ln>
          <a:effectLst/>
        </p:spPr>
      </p:pic>
      <p:sp>
        <p:nvSpPr>
          <p:cNvPr id="12" name="ZoneTexte 11"/>
          <p:cNvSpPr txBox="1"/>
          <p:nvPr/>
        </p:nvSpPr>
        <p:spPr>
          <a:xfrm>
            <a:off x="357158" y="357166"/>
            <a:ext cx="7196201" cy="461665"/>
          </a:xfrm>
          <a:prstGeom prst="rect">
            <a:avLst/>
          </a:prstGeom>
          <a:noFill/>
        </p:spPr>
        <p:txBody>
          <a:bodyPr wrap="none" rtlCol="0">
            <a:spAutoFit/>
          </a:bodyPr>
          <a:lstStyle/>
          <a:p>
            <a:r>
              <a:rPr lang="fr-FR" sz="2400" b="1" dirty="0" smtClean="0"/>
              <a:t>Historique des Commandes (Command </a:t>
            </a:r>
            <a:r>
              <a:rPr lang="fr-FR" sz="2400" b="1" dirty="0" err="1" smtClean="0"/>
              <a:t>History</a:t>
            </a:r>
            <a:r>
              <a:rPr lang="fr-FR" sz="2400" b="1" dirty="0" smtClean="0"/>
              <a:t>)</a:t>
            </a:r>
          </a:p>
        </p:txBody>
      </p:sp>
      <p:sp>
        <p:nvSpPr>
          <p:cNvPr id="13" name="ZoneTexte 12"/>
          <p:cNvSpPr txBox="1"/>
          <p:nvPr/>
        </p:nvSpPr>
        <p:spPr>
          <a:xfrm>
            <a:off x="3500430" y="5000636"/>
            <a:ext cx="385042" cy="523220"/>
          </a:xfrm>
          <a:prstGeom prst="rect">
            <a:avLst/>
          </a:prstGeom>
          <a:noFill/>
        </p:spPr>
        <p:txBody>
          <a:bodyPr wrap="none" rtlCol="0">
            <a:spAutoFit/>
          </a:bodyPr>
          <a:lstStyle/>
          <a:p>
            <a:r>
              <a:rPr lang="fr-FR" sz="2800" b="1" dirty="0" smtClean="0"/>
              <a:t>3</a:t>
            </a:r>
            <a:endParaRPr lang="fr-FR" sz="2800" b="1" dirty="0"/>
          </a:p>
        </p:txBody>
      </p:sp>
      <p:sp>
        <p:nvSpPr>
          <p:cNvPr id="14" name="ZoneTexte 13"/>
          <p:cNvSpPr txBox="1"/>
          <p:nvPr/>
        </p:nvSpPr>
        <p:spPr>
          <a:xfrm>
            <a:off x="8501090" y="6286520"/>
            <a:ext cx="312906" cy="369332"/>
          </a:xfrm>
          <a:prstGeom prst="rect">
            <a:avLst/>
          </a:prstGeom>
          <a:noFill/>
        </p:spPr>
        <p:txBody>
          <a:bodyPr wrap="none" rtlCol="0">
            <a:spAutoFit/>
          </a:bodyPr>
          <a:lstStyle/>
          <a:p>
            <a:r>
              <a:rPr lang="fr-FR" dirty="0" smtClean="0"/>
              <a:t>5</a:t>
            </a:r>
            <a:endParaRPr lang="fr-F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24578" name="Picture 2"/>
          <p:cNvPicPr>
            <a:picLocks noChangeAspect="1" noChangeArrowheads="1"/>
          </p:cNvPicPr>
          <p:nvPr/>
        </p:nvPicPr>
        <p:blipFill>
          <a:blip r:embed="rId3" cstate="print"/>
          <a:srcRect/>
          <a:stretch>
            <a:fillRect/>
          </a:stretch>
        </p:blipFill>
        <p:spPr bwMode="auto">
          <a:xfrm>
            <a:off x="642910" y="3661173"/>
            <a:ext cx="3214708" cy="2411033"/>
          </a:xfrm>
          <a:prstGeom prst="rect">
            <a:avLst/>
          </a:prstGeom>
          <a:noFill/>
          <a:ln w="9525">
            <a:noFill/>
            <a:miter lim="800000"/>
            <a:headEnd/>
            <a:tailEnd/>
          </a:ln>
          <a:effectLst/>
        </p:spPr>
      </p:pic>
      <p:sp>
        <p:nvSpPr>
          <p:cNvPr id="18" name="Rectangle 17"/>
          <p:cNvSpPr/>
          <p:nvPr/>
        </p:nvSpPr>
        <p:spPr>
          <a:xfrm>
            <a:off x="642910" y="3875487"/>
            <a:ext cx="714380" cy="1785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p:cNvSpPr txBox="1"/>
          <p:nvPr/>
        </p:nvSpPr>
        <p:spPr>
          <a:xfrm>
            <a:off x="214282" y="826171"/>
            <a:ext cx="8643998" cy="2308324"/>
          </a:xfrm>
          <a:prstGeom prst="rect">
            <a:avLst/>
          </a:prstGeom>
          <a:noFill/>
        </p:spPr>
        <p:txBody>
          <a:bodyPr wrap="square" rtlCol="0">
            <a:spAutoFit/>
          </a:bodyPr>
          <a:lstStyle/>
          <a:p>
            <a:r>
              <a:rPr lang="fr-FR" dirty="0" smtClean="0"/>
              <a:t>Cette fenêtre affiche le dossier en cours ainsi que la liste des dossiers et fichiers contenus dans ce dossier. Le dossier en cours peut être modifier en navigant à l’intérieur de cette fenêtre.</a:t>
            </a:r>
          </a:p>
          <a:p>
            <a:r>
              <a:rPr lang="fr-FR" dirty="0" smtClean="0"/>
              <a:t>Dans cet exemple, nous sommes positionnés au dossier :</a:t>
            </a:r>
          </a:p>
          <a:p>
            <a:r>
              <a:rPr lang="fr-FR" dirty="0" smtClean="0">
                <a:latin typeface="Consolas" pitchFamily="49" charset="0"/>
              </a:rPr>
              <a:t>« C:\Exemples Matlab »</a:t>
            </a:r>
          </a:p>
          <a:p>
            <a:endParaRPr lang="fr-FR" dirty="0" smtClean="0"/>
          </a:p>
          <a:p>
            <a:r>
              <a:rPr lang="fr-FR" dirty="0" smtClean="0"/>
              <a:t>Il est aussi possible de changer de dossier en cours à l’aide de la commande </a:t>
            </a:r>
            <a:r>
              <a:rPr lang="fr-FR" b="1" dirty="0" smtClean="0"/>
              <a:t>CD</a:t>
            </a:r>
          </a:p>
          <a:p>
            <a:r>
              <a:rPr lang="fr-FR" i="1" dirty="0" smtClean="0"/>
              <a:t>Exemples :  cd(‘Exemple Matlab’) 		 cd ..		Cd c:</a:t>
            </a:r>
          </a:p>
        </p:txBody>
      </p:sp>
      <p:sp>
        <p:nvSpPr>
          <p:cNvPr id="10" name="Flèche droite 9"/>
          <p:cNvSpPr/>
          <p:nvPr/>
        </p:nvSpPr>
        <p:spPr>
          <a:xfrm>
            <a:off x="1357290" y="4304115"/>
            <a:ext cx="3500462" cy="28575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dirty="0">
              <a:ln>
                <a:solidFill>
                  <a:sysClr val="windowText" lastClr="000000"/>
                </a:solidFill>
              </a:ln>
              <a:solidFill>
                <a:sysClr val="windowText" lastClr="000000"/>
              </a:solidFill>
            </a:endParaRPr>
          </a:p>
        </p:txBody>
      </p:sp>
      <p:pic>
        <p:nvPicPr>
          <p:cNvPr id="27651" name="Picture 3"/>
          <p:cNvPicPr>
            <a:picLocks noChangeAspect="1" noChangeArrowheads="1"/>
          </p:cNvPicPr>
          <p:nvPr/>
        </p:nvPicPr>
        <p:blipFill>
          <a:blip r:embed="rId4" cstate="print"/>
          <a:srcRect/>
          <a:stretch>
            <a:fillRect/>
          </a:stretch>
        </p:blipFill>
        <p:spPr bwMode="auto">
          <a:xfrm>
            <a:off x="4929190" y="3589735"/>
            <a:ext cx="3971925" cy="1990725"/>
          </a:xfrm>
          <a:prstGeom prst="rect">
            <a:avLst/>
          </a:prstGeom>
          <a:noFill/>
          <a:ln w="9525">
            <a:noFill/>
            <a:miter lim="800000"/>
            <a:headEnd/>
            <a:tailEnd/>
          </a:ln>
          <a:effectLst/>
        </p:spPr>
      </p:pic>
      <p:sp>
        <p:nvSpPr>
          <p:cNvPr id="13" name="ZoneTexte 12"/>
          <p:cNvSpPr txBox="1"/>
          <p:nvPr/>
        </p:nvSpPr>
        <p:spPr>
          <a:xfrm>
            <a:off x="285720" y="285728"/>
            <a:ext cx="5160387" cy="461665"/>
          </a:xfrm>
          <a:prstGeom prst="rect">
            <a:avLst/>
          </a:prstGeom>
          <a:noFill/>
        </p:spPr>
        <p:txBody>
          <a:bodyPr wrap="none" rtlCol="0">
            <a:spAutoFit/>
          </a:bodyPr>
          <a:lstStyle/>
          <a:p>
            <a:r>
              <a:rPr lang="fr-FR" sz="2400" b="1" dirty="0" smtClean="0"/>
              <a:t>Dossier en Cours (</a:t>
            </a:r>
            <a:r>
              <a:rPr lang="fr-FR" sz="2400" b="1" dirty="0" err="1" smtClean="0"/>
              <a:t>Current</a:t>
            </a:r>
            <a:r>
              <a:rPr lang="fr-FR" sz="2400" b="1" dirty="0" smtClean="0"/>
              <a:t> </a:t>
            </a:r>
            <a:r>
              <a:rPr lang="fr-FR" sz="2400" b="1" dirty="0" err="1" smtClean="0"/>
              <a:t>Folder</a:t>
            </a:r>
            <a:r>
              <a:rPr lang="fr-FR" sz="2400" b="1" dirty="0" smtClean="0"/>
              <a:t>)</a:t>
            </a:r>
          </a:p>
        </p:txBody>
      </p:sp>
      <p:sp>
        <p:nvSpPr>
          <p:cNvPr id="14" name="ZoneTexte 13"/>
          <p:cNvSpPr txBox="1"/>
          <p:nvPr/>
        </p:nvSpPr>
        <p:spPr>
          <a:xfrm>
            <a:off x="785786" y="4500570"/>
            <a:ext cx="385042" cy="523220"/>
          </a:xfrm>
          <a:prstGeom prst="rect">
            <a:avLst/>
          </a:prstGeom>
          <a:noFill/>
        </p:spPr>
        <p:txBody>
          <a:bodyPr wrap="none" rtlCol="0">
            <a:spAutoFit/>
          </a:bodyPr>
          <a:lstStyle/>
          <a:p>
            <a:r>
              <a:rPr lang="fr-FR" sz="2800" b="1" dirty="0" smtClean="0"/>
              <a:t>4</a:t>
            </a:r>
            <a:endParaRPr lang="fr-FR" sz="2800" b="1" dirty="0"/>
          </a:p>
        </p:txBody>
      </p:sp>
      <p:sp>
        <p:nvSpPr>
          <p:cNvPr id="11" name="ZoneTexte 10"/>
          <p:cNvSpPr txBox="1"/>
          <p:nvPr/>
        </p:nvSpPr>
        <p:spPr>
          <a:xfrm>
            <a:off x="8501090" y="6286520"/>
            <a:ext cx="312906" cy="369332"/>
          </a:xfrm>
          <a:prstGeom prst="rect">
            <a:avLst/>
          </a:prstGeom>
          <a:noFill/>
        </p:spPr>
        <p:txBody>
          <a:bodyPr wrap="none" rtlCol="0">
            <a:spAutoFit/>
          </a:bodyPr>
          <a:lstStyle/>
          <a:p>
            <a:r>
              <a:rPr lang="fr-FR" dirty="0" smtClean="0"/>
              <a:t>6</a:t>
            </a:r>
            <a:endParaRPr lang="fr-FR"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3" name="ZoneTexte 12"/>
          <p:cNvSpPr txBox="1"/>
          <p:nvPr/>
        </p:nvSpPr>
        <p:spPr>
          <a:xfrm>
            <a:off x="285720" y="285728"/>
            <a:ext cx="3039615" cy="461665"/>
          </a:xfrm>
          <a:prstGeom prst="rect">
            <a:avLst/>
          </a:prstGeom>
          <a:noFill/>
        </p:spPr>
        <p:txBody>
          <a:bodyPr wrap="none" rtlCol="0">
            <a:spAutoFit/>
          </a:bodyPr>
          <a:lstStyle/>
          <a:p>
            <a:r>
              <a:rPr lang="fr-FR" sz="2400" b="1" dirty="0" smtClean="0"/>
              <a:t>Changer l’affichage</a:t>
            </a:r>
          </a:p>
        </p:txBody>
      </p:sp>
      <p:sp>
        <p:nvSpPr>
          <p:cNvPr id="11" name="ZoneTexte 10"/>
          <p:cNvSpPr txBox="1"/>
          <p:nvPr/>
        </p:nvSpPr>
        <p:spPr>
          <a:xfrm>
            <a:off x="281637" y="928670"/>
            <a:ext cx="8648081" cy="923330"/>
          </a:xfrm>
          <a:prstGeom prst="rect">
            <a:avLst/>
          </a:prstGeom>
          <a:noFill/>
        </p:spPr>
        <p:txBody>
          <a:bodyPr wrap="square" rtlCol="0">
            <a:spAutoFit/>
          </a:bodyPr>
          <a:lstStyle/>
          <a:p>
            <a:r>
              <a:rPr lang="fr-FR" dirty="0" smtClean="0"/>
              <a:t>Il est possible d’afficher ou de masquer chacune des 4 fenêtres vues précédemment en utilisant le menu </a:t>
            </a:r>
            <a:r>
              <a:rPr lang="fr-FR" b="1" dirty="0" smtClean="0"/>
              <a:t>DESKTOP </a:t>
            </a:r>
            <a:r>
              <a:rPr lang="fr-FR" dirty="0" smtClean="0"/>
              <a:t>puis en cochant/décochant le fenêtres à afficher/masquer.</a:t>
            </a:r>
          </a:p>
        </p:txBody>
      </p:sp>
      <p:sp>
        <p:nvSpPr>
          <p:cNvPr id="15" name="ZoneTexte 14"/>
          <p:cNvSpPr txBox="1"/>
          <p:nvPr/>
        </p:nvSpPr>
        <p:spPr>
          <a:xfrm>
            <a:off x="214282" y="5500702"/>
            <a:ext cx="8429684" cy="646331"/>
          </a:xfrm>
          <a:prstGeom prst="rect">
            <a:avLst/>
          </a:prstGeom>
          <a:noFill/>
        </p:spPr>
        <p:txBody>
          <a:bodyPr wrap="square" rtlCol="0">
            <a:spAutoFit/>
          </a:bodyPr>
          <a:lstStyle/>
          <a:p>
            <a:r>
              <a:rPr lang="fr-FR" dirty="0" smtClean="0"/>
              <a:t>Il est aussi possible de rétablir l’affichage par défaut à tout moment :</a:t>
            </a:r>
          </a:p>
          <a:p>
            <a:r>
              <a:rPr lang="fr-FR" dirty="0" smtClean="0"/>
              <a:t>Menu </a:t>
            </a:r>
            <a:r>
              <a:rPr lang="fr-FR" b="1" dirty="0" smtClean="0"/>
              <a:t>Desktop</a:t>
            </a:r>
            <a:r>
              <a:rPr lang="fr-FR" dirty="0" smtClean="0"/>
              <a:t> </a:t>
            </a:r>
            <a:r>
              <a:rPr lang="fr-FR" dirty="0" smtClean="0">
                <a:sym typeface="Wingdings" pitchFamily="2" charset="2"/>
              </a:rPr>
              <a:t> </a:t>
            </a:r>
            <a:r>
              <a:rPr lang="fr-FR" b="1" dirty="0" smtClean="0">
                <a:sym typeface="Wingdings" pitchFamily="2" charset="2"/>
              </a:rPr>
              <a:t>Desktop </a:t>
            </a:r>
            <a:r>
              <a:rPr lang="fr-FR" b="1" dirty="0" err="1" smtClean="0">
                <a:sym typeface="Wingdings" pitchFamily="2" charset="2"/>
              </a:rPr>
              <a:t>Layout</a:t>
            </a:r>
            <a:r>
              <a:rPr lang="fr-FR" dirty="0" smtClean="0">
                <a:sym typeface="Wingdings" pitchFamily="2" charset="2"/>
              </a:rPr>
              <a:t>  </a:t>
            </a:r>
            <a:r>
              <a:rPr lang="fr-FR" b="1" dirty="0" smtClean="0">
                <a:sym typeface="Wingdings" pitchFamily="2" charset="2"/>
              </a:rPr>
              <a:t>Default</a:t>
            </a:r>
            <a:endParaRPr lang="fr-FR" b="1" dirty="0" smtClean="0"/>
          </a:p>
        </p:txBody>
      </p:sp>
      <p:pic>
        <p:nvPicPr>
          <p:cNvPr id="29699" name="Picture 3"/>
          <p:cNvPicPr>
            <a:picLocks noChangeAspect="1" noChangeArrowheads="1"/>
          </p:cNvPicPr>
          <p:nvPr/>
        </p:nvPicPr>
        <p:blipFill>
          <a:blip r:embed="rId3" cstate="print"/>
          <a:srcRect/>
          <a:stretch>
            <a:fillRect/>
          </a:stretch>
        </p:blipFill>
        <p:spPr bwMode="auto">
          <a:xfrm>
            <a:off x="928662" y="2071678"/>
            <a:ext cx="4200525" cy="2933700"/>
          </a:xfrm>
          <a:prstGeom prst="rect">
            <a:avLst/>
          </a:prstGeom>
          <a:noFill/>
          <a:ln w="9525">
            <a:noFill/>
            <a:miter lim="800000"/>
            <a:headEnd/>
            <a:tailEnd/>
          </a:ln>
          <a:effectLst/>
        </p:spPr>
      </p:pic>
      <p:sp>
        <p:nvSpPr>
          <p:cNvPr id="16" name="Rectangle 15"/>
          <p:cNvSpPr/>
          <p:nvPr/>
        </p:nvSpPr>
        <p:spPr>
          <a:xfrm>
            <a:off x="785786" y="3797479"/>
            <a:ext cx="2428892" cy="85725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p:cNvSpPr/>
          <p:nvPr/>
        </p:nvSpPr>
        <p:spPr>
          <a:xfrm>
            <a:off x="3143240" y="3214686"/>
            <a:ext cx="2000264" cy="28575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p:cNvSpPr txBox="1"/>
          <p:nvPr/>
        </p:nvSpPr>
        <p:spPr>
          <a:xfrm>
            <a:off x="8501090" y="6286520"/>
            <a:ext cx="312906" cy="369332"/>
          </a:xfrm>
          <a:prstGeom prst="rect">
            <a:avLst/>
          </a:prstGeom>
          <a:noFill/>
        </p:spPr>
        <p:txBody>
          <a:bodyPr wrap="none" rtlCol="0">
            <a:spAutoFit/>
          </a:bodyPr>
          <a:lstStyle/>
          <a:p>
            <a:r>
              <a:rPr lang="fr-FR" dirty="0" smtClean="0"/>
              <a:t>7</a:t>
            </a:r>
            <a:endParaRPr lang="fr-FR"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2844" y="2285992"/>
            <a:ext cx="8786874" cy="1143000"/>
          </a:xfrm>
        </p:spPr>
        <p:txBody>
          <a:bodyPr>
            <a:normAutofit/>
          </a:bodyPr>
          <a:lstStyle/>
          <a:p>
            <a:pPr algn="ctr"/>
            <a:r>
              <a:rPr lang="fr-FR" sz="3200" b="1" dirty="0" smtClean="0"/>
              <a:t>Premières Commandes</a:t>
            </a:r>
            <a:br>
              <a:rPr lang="fr-FR" sz="3200" b="1" dirty="0" smtClean="0"/>
            </a:br>
            <a:r>
              <a:rPr lang="fr-FR" sz="3200" b="1" dirty="0" smtClean="0"/>
              <a:t>Matlab</a:t>
            </a:r>
            <a:endParaRPr lang="fr-FR" sz="3200" b="1" dirty="0"/>
          </a:p>
        </p:txBody>
      </p:sp>
      <p:sp>
        <p:nvSpPr>
          <p:cNvPr id="7" name="ZoneTexte 6"/>
          <p:cNvSpPr txBox="1"/>
          <p:nvPr/>
        </p:nvSpPr>
        <p:spPr>
          <a:xfrm>
            <a:off x="642910" y="2571744"/>
            <a:ext cx="184731" cy="369332"/>
          </a:xfrm>
          <a:prstGeom prst="rect">
            <a:avLst/>
          </a:prstGeom>
          <a:noFill/>
        </p:spPr>
        <p:txBody>
          <a:bodyPr wrap="none" rtlCol="0">
            <a:spAutoFit/>
          </a:bodyPr>
          <a:lstStyle/>
          <a:p>
            <a:endParaRPr lang="fr-FR"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3" name="ZoneTexte 12"/>
          <p:cNvSpPr txBox="1"/>
          <p:nvPr/>
        </p:nvSpPr>
        <p:spPr>
          <a:xfrm>
            <a:off x="285720" y="285728"/>
            <a:ext cx="3608680" cy="461665"/>
          </a:xfrm>
          <a:prstGeom prst="rect">
            <a:avLst/>
          </a:prstGeom>
          <a:noFill/>
        </p:spPr>
        <p:txBody>
          <a:bodyPr wrap="none" rtlCol="0">
            <a:spAutoFit/>
          </a:bodyPr>
          <a:lstStyle/>
          <a:p>
            <a:r>
              <a:rPr lang="fr-FR" sz="2400" b="1" dirty="0" smtClean="0"/>
              <a:t>Premières Commandes</a:t>
            </a:r>
          </a:p>
        </p:txBody>
      </p:sp>
      <p:sp>
        <p:nvSpPr>
          <p:cNvPr id="9" name="ZoneTexte 8"/>
          <p:cNvSpPr txBox="1"/>
          <p:nvPr/>
        </p:nvSpPr>
        <p:spPr>
          <a:xfrm>
            <a:off x="214282" y="928670"/>
            <a:ext cx="7443063" cy="923330"/>
          </a:xfrm>
          <a:prstGeom prst="rect">
            <a:avLst/>
          </a:prstGeom>
          <a:noFill/>
        </p:spPr>
        <p:txBody>
          <a:bodyPr wrap="none" rtlCol="0">
            <a:spAutoFit/>
          </a:bodyPr>
          <a:lstStyle/>
          <a:p>
            <a:r>
              <a:rPr lang="fr-FR" dirty="0" smtClean="0"/>
              <a:t>Après avoir lancé Matlab nous allons écrire les commandes suivantes :</a:t>
            </a:r>
          </a:p>
          <a:p>
            <a:endParaRPr lang="fr-FR" dirty="0" smtClean="0"/>
          </a:p>
          <a:p>
            <a:r>
              <a:rPr lang="fr-FR" b="1" u="sng" dirty="0" smtClean="0"/>
              <a:t>Commande 1</a:t>
            </a:r>
            <a:r>
              <a:rPr lang="fr-FR" dirty="0" smtClean="0"/>
              <a:t> </a:t>
            </a:r>
            <a:endParaRPr lang="fr-FR" dirty="0"/>
          </a:p>
        </p:txBody>
      </p:sp>
      <p:sp>
        <p:nvSpPr>
          <p:cNvPr id="10" name="ZoneTexte 9"/>
          <p:cNvSpPr txBox="1"/>
          <p:nvPr/>
        </p:nvSpPr>
        <p:spPr>
          <a:xfrm>
            <a:off x="357158" y="2428868"/>
            <a:ext cx="7366119" cy="369332"/>
          </a:xfrm>
          <a:prstGeom prst="rect">
            <a:avLst/>
          </a:prstGeom>
          <a:noFill/>
        </p:spPr>
        <p:txBody>
          <a:bodyPr wrap="none" rtlCol="0">
            <a:spAutoFit/>
          </a:bodyPr>
          <a:lstStyle/>
          <a:p>
            <a:r>
              <a:rPr lang="fr-FR" dirty="0" smtClean="0"/>
              <a:t>On doit valider chaque commande en appuyant sur le bouton </a:t>
            </a:r>
            <a:r>
              <a:rPr lang="fr-FR" b="1" dirty="0" smtClean="0"/>
              <a:t>ENTREE</a:t>
            </a:r>
            <a:endParaRPr lang="fr-FR" b="1" dirty="0"/>
          </a:p>
        </p:txBody>
      </p:sp>
      <p:graphicFrame>
        <p:nvGraphicFramePr>
          <p:cNvPr id="12" name="Tableau 11"/>
          <p:cNvGraphicFramePr>
            <a:graphicFrameLocks noGrp="1"/>
          </p:cNvGraphicFramePr>
          <p:nvPr/>
        </p:nvGraphicFramePr>
        <p:xfrm>
          <a:off x="357158" y="1928802"/>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5 + 10</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Rectangle 13"/>
          <p:cNvSpPr/>
          <p:nvPr/>
        </p:nvSpPr>
        <p:spPr>
          <a:xfrm>
            <a:off x="357158" y="2857496"/>
            <a:ext cx="1095172" cy="369332"/>
          </a:xfrm>
          <a:prstGeom prst="rect">
            <a:avLst/>
          </a:prstGeom>
        </p:spPr>
        <p:txBody>
          <a:bodyPr wrap="none">
            <a:spAutoFit/>
          </a:bodyPr>
          <a:lstStyle/>
          <a:p>
            <a:r>
              <a:rPr lang="fr-FR" b="1" u="sng" dirty="0" smtClean="0"/>
              <a:t>Résultat</a:t>
            </a:r>
            <a:endParaRPr lang="fr-FR" dirty="0"/>
          </a:p>
        </p:txBody>
      </p:sp>
      <p:graphicFrame>
        <p:nvGraphicFramePr>
          <p:cNvPr id="18" name="Tableau 17"/>
          <p:cNvGraphicFramePr>
            <a:graphicFrameLocks noGrp="1"/>
          </p:cNvGraphicFramePr>
          <p:nvPr/>
        </p:nvGraphicFramePr>
        <p:xfrm>
          <a:off x="428596" y="3357562"/>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0" dirty="0" smtClean="0">
                          <a:solidFill>
                            <a:schemeClr val="tx1"/>
                          </a:solidFill>
                          <a:latin typeface="Consolas" pitchFamily="49" charset="0"/>
                        </a:rPr>
                        <a:t>ans =</a:t>
                      </a:r>
                      <a:r>
                        <a:rPr lang="fr-FR" b="0" baseline="0" dirty="0" smtClean="0">
                          <a:solidFill>
                            <a:schemeClr val="tx1"/>
                          </a:solidFill>
                          <a:latin typeface="Consolas" pitchFamily="49" charset="0"/>
                        </a:rPr>
                        <a:t> </a:t>
                      </a:r>
                      <a:r>
                        <a:rPr lang="fr-FR" b="0" dirty="0" smtClean="0">
                          <a:solidFill>
                            <a:schemeClr val="tx1"/>
                          </a:solidFill>
                          <a:latin typeface="Consolas" pitchFamily="49" charset="0"/>
                        </a:rPr>
                        <a:t>15</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9" name="ZoneTexte 18"/>
          <p:cNvSpPr txBox="1"/>
          <p:nvPr/>
        </p:nvSpPr>
        <p:spPr>
          <a:xfrm>
            <a:off x="357159" y="4000504"/>
            <a:ext cx="8358246" cy="646331"/>
          </a:xfrm>
          <a:prstGeom prst="rect">
            <a:avLst/>
          </a:prstGeom>
          <a:noFill/>
        </p:spPr>
        <p:txBody>
          <a:bodyPr wrap="square" rtlCol="0">
            <a:spAutoFit/>
          </a:bodyPr>
          <a:lstStyle/>
          <a:p>
            <a:r>
              <a:rPr lang="fr-FR" dirty="0" smtClean="0"/>
              <a:t>Matlab nous informe du résultat de l’opération en le mettant dans une variable </a:t>
            </a:r>
            <a:r>
              <a:rPr lang="fr-FR" b="1" dirty="0" smtClean="0"/>
              <a:t>ans </a:t>
            </a:r>
            <a:r>
              <a:rPr lang="fr-FR" dirty="0" smtClean="0"/>
              <a:t>(</a:t>
            </a:r>
            <a:r>
              <a:rPr lang="fr-FR" dirty="0" err="1" smtClean="0"/>
              <a:t>Answer</a:t>
            </a:r>
            <a:r>
              <a:rPr lang="fr-FR" dirty="0" smtClean="0"/>
              <a:t> = Réponse)</a:t>
            </a:r>
            <a:endParaRPr lang="fr-FR" dirty="0"/>
          </a:p>
        </p:txBody>
      </p:sp>
      <p:pic>
        <p:nvPicPr>
          <p:cNvPr id="30722" name="Picture 2"/>
          <p:cNvPicPr>
            <a:picLocks noChangeAspect="1" noChangeArrowheads="1"/>
          </p:cNvPicPr>
          <p:nvPr/>
        </p:nvPicPr>
        <p:blipFill>
          <a:blip r:embed="rId3" cstate="print"/>
          <a:srcRect/>
          <a:stretch>
            <a:fillRect/>
          </a:stretch>
        </p:blipFill>
        <p:spPr bwMode="auto">
          <a:xfrm>
            <a:off x="428596" y="4929198"/>
            <a:ext cx="2486025" cy="1143000"/>
          </a:xfrm>
          <a:prstGeom prst="rect">
            <a:avLst/>
          </a:prstGeom>
          <a:noFill/>
          <a:ln w="9525">
            <a:noFill/>
            <a:miter lim="800000"/>
            <a:headEnd/>
            <a:tailEnd/>
          </a:ln>
          <a:effectLst/>
        </p:spPr>
      </p:pic>
      <p:sp>
        <p:nvSpPr>
          <p:cNvPr id="20" name="ZoneTexte 19"/>
          <p:cNvSpPr txBox="1"/>
          <p:nvPr/>
        </p:nvSpPr>
        <p:spPr>
          <a:xfrm>
            <a:off x="3000364" y="4929198"/>
            <a:ext cx="5857916" cy="646331"/>
          </a:xfrm>
          <a:prstGeom prst="rect">
            <a:avLst/>
          </a:prstGeom>
          <a:noFill/>
        </p:spPr>
        <p:txBody>
          <a:bodyPr wrap="square" rtlCol="0">
            <a:spAutoFit/>
          </a:bodyPr>
          <a:lstStyle/>
          <a:p>
            <a:r>
              <a:rPr lang="fr-FR" dirty="0" smtClean="0"/>
              <a:t>On remarque la création automatique de la nouvelle variable </a:t>
            </a:r>
            <a:r>
              <a:rPr lang="fr-FR" b="1" dirty="0" smtClean="0"/>
              <a:t>ans=15</a:t>
            </a:r>
            <a:r>
              <a:rPr lang="fr-FR" dirty="0" smtClean="0"/>
              <a:t> dans le </a:t>
            </a:r>
            <a:r>
              <a:rPr lang="fr-FR" dirty="0" err="1" smtClean="0"/>
              <a:t>Workspace</a:t>
            </a:r>
            <a:endParaRPr lang="fr-FR" dirty="0"/>
          </a:p>
        </p:txBody>
      </p:sp>
      <p:sp>
        <p:nvSpPr>
          <p:cNvPr id="15" name="ZoneTexte 14"/>
          <p:cNvSpPr txBox="1"/>
          <p:nvPr/>
        </p:nvSpPr>
        <p:spPr>
          <a:xfrm>
            <a:off x="8501090" y="6286520"/>
            <a:ext cx="312906" cy="369332"/>
          </a:xfrm>
          <a:prstGeom prst="rect">
            <a:avLst/>
          </a:prstGeom>
          <a:noFill/>
        </p:spPr>
        <p:txBody>
          <a:bodyPr wrap="none" rtlCol="0">
            <a:spAutoFit/>
          </a:bodyPr>
          <a:lstStyle/>
          <a:p>
            <a:r>
              <a:rPr lang="fr-FR" dirty="0" smtClean="0"/>
              <a:t>8</a:t>
            </a:r>
            <a:endParaRPr lang="fr-FR"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3" name="ZoneTexte 12"/>
          <p:cNvSpPr txBox="1"/>
          <p:nvPr/>
        </p:nvSpPr>
        <p:spPr>
          <a:xfrm>
            <a:off x="285720" y="285728"/>
            <a:ext cx="3608680" cy="461665"/>
          </a:xfrm>
          <a:prstGeom prst="rect">
            <a:avLst/>
          </a:prstGeom>
          <a:noFill/>
        </p:spPr>
        <p:txBody>
          <a:bodyPr wrap="none" rtlCol="0">
            <a:spAutoFit/>
          </a:bodyPr>
          <a:lstStyle/>
          <a:p>
            <a:r>
              <a:rPr lang="fr-FR" sz="2400" b="1" dirty="0" smtClean="0"/>
              <a:t>Premières Commandes</a:t>
            </a:r>
          </a:p>
        </p:txBody>
      </p:sp>
      <p:sp>
        <p:nvSpPr>
          <p:cNvPr id="9" name="ZoneTexte 8"/>
          <p:cNvSpPr txBox="1"/>
          <p:nvPr/>
        </p:nvSpPr>
        <p:spPr>
          <a:xfrm>
            <a:off x="214282" y="928670"/>
            <a:ext cx="1697901" cy="369332"/>
          </a:xfrm>
          <a:prstGeom prst="rect">
            <a:avLst/>
          </a:prstGeom>
          <a:noFill/>
        </p:spPr>
        <p:txBody>
          <a:bodyPr wrap="none" rtlCol="0">
            <a:spAutoFit/>
          </a:bodyPr>
          <a:lstStyle/>
          <a:p>
            <a:r>
              <a:rPr lang="fr-FR" b="1" u="sng" dirty="0" smtClean="0"/>
              <a:t>Commande 2</a:t>
            </a:r>
            <a:r>
              <a:rPr lang="fr-FR" dirty="0" smtClean="0"/>
              <a:t> </a:t>
            </a:r>
            <a:endParaRPr lang="fr-FR" dirty="0"/>
          </a:p>
        </p:txBody>
      </p:sp>
      <p:graphicFrame>
        <p:nvGraphicFramePr>
          <p:cNvPr id="12" name="Tableau 11"/>
          <p:cNvGraphicFramePr>
            <a:graphicFrameLocks noGrp="1"/>
          </p:cNvGraphicFramePr>
          <p:nvPr/>
        </p:nvGraphicFramePr>
        <p:xfrm>
          <a:off x="285720" y="1428736"/>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(13+12)/2</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Rectangle 13"/>
          <p:cNvSpPr/>
          <p:nvPr/>
        </p:nvSpPr>
        <p:spPr>
          <a:xfrm>
            <a:off x="285720" y="1928802"/>
            <a:ext cx="1095172" cy="369332"/>
          </a:xfrm>
          <a:prstGeom prst="rect">
            <a:avLst/>
          </a:prstGeom>
        </p:spPr>
        <p:txBody>
          <a:bodyPr wrap="none">
            <a:spAutoFit/>
          </a:bodyPr>
          <a:lstStyle/>
          <a:p>
            <a:r>
              <a:rPr lang="fr-FR" b="1" u="sng" dirty="0" smtClean="0"/>
              <a:t>Résultat</a:t>
            </a:r>
            <a:endParaRPr lang="fr-FR" dirty="0"/>
          </a:p>
        </p:txBody>
      </p:sp>
      <p:graphicFrame>
        <p:nvGraphicFramePr>
          <p:cNvPr id="18" name="Tableau 17"/>
          <p:cNvGraphicFramePr>
            <a:graphicFrameLocks noGrp="1"/>
          </p:cNvGraphicFramePr>
          <p:nvPr/>
        </p:nvGraphicFramePr>
        <p:xfrm>
          <a:off x="357158" y="2428868"/>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0" dirty="0" smtClean="0">
                          <a:solidFill>
                            <a:schemeClr val="tx1"/>
                          </a:solidFill>
                          <a:latin typeface="Consolas" pitchFamily="49" charset="0"/>
                        </a:rPr>
                        <a:t>ans =</a:t>
                      </a:r>
                      <a:r>
                        <a:rPr lang="fr-FR" b="0" baseline="0" dirty="0" smtClean="0">
                          <a:solidFill>
                            <a:schemeClr val="tx1"/>
                          </a:solidFill>
                          <a:latin typeface="Consolas" pitchFamily="49" charset="0"/>
                        </a:rPr>
                        <a:t> </a:t>
                      </a:r>
                      <a:r>
                        <a:rPr lang="fr-FR" b="0" dirty="0" smtClean="0">
                          <a:solidFill>
                            <a:schemeClr val="tx1"/>
                          </a:solidFill>
                          <a:latin typeface="Consolas" pitchFamily="49" charset="0"/>
                        </a:rPr>
                        <a:t>12.5000</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9" name="ZoneTexte 18"/>
          <p:cNvSpPr txBox="1"/>
          <p:nvPr/>
        </p:nvSpPr>
        <p:spPr>
          <a:xfrm>
            <a:off x="285721" y="3071810"/>
            <a:ext cx="8358246" cy="369332"/>
          </a:xfrm>
          <a:prstGeom prst="rect">
            <a:avLst/>
          </a:prstGeom>
          <a:noFill/>
        </p:spPr>
        <p:txBody>
          <a:bodyPr wrap="square" rtlCol="0">
            <a:spAutoFit/>
          </a:bodyPr>
          <a:lstStyle/>
          <a:p>
            <a:r>
              <a:rPr lang="fr-FR" dirty="0" smtClean="0"/>
              <a:t>Matlab a écrasé l’ancienne valeur de </a:t>
            </a:r>
            <a:r>
              <a:rPr lang="fr-FR" b="1" dirty="0" smtClean="0"/>
              <a:t>ans</a:t>
            </a:r>
            <a:r>
              <a:rPr lang="fr-FR" dirty="0" smtClean="0"/>
              <a:t> par la nouvelle : 12.50</a:t>
            </a:r>
            <a:endParaRPr lang="fr-FR" dirty="0"/>
          </a:p>
        </p:txBody>
      </p:sp>
      <p:pic>
        <p:nvPicPr>
          <p:cNvPr id="31746" name="Picture 2"/>
          <p:cNvPicPr>
            <a:picLocks noChangeAspect="1" noChangeArrowheads="1"/>
          </p:cNvPicPr>
          <p:nvPr/>
        </p:nvPicPr>
        <p:blipFill>
          <a:blip r:embed="rId3" cstate="print"/>
          <a:srcRect/>
          <a:stretch>
            <a:fillRect/>
          </a:stretch>
        </p:blipFill>
        <p:spPr bwMode="auto">
          <a:xfrm>
            <a:off x="357158" y="3571876"/>
            <a:ext cx="2162175" cy="1076325"/>
          </a:xfrm>
          <a:prstGeom prst="rect">
            <a:avLst/>
          </a:prstGeom>
          <a:noFill/>
          <a:ln w="9525">
            <a:noFill/>
            <a:miter lim="800000"/>
            <a:headEnd/>
            <a:tailEnd/>
          </a:ln>
          <a:effectLst/>
        </p:spPr>
      </p:pic>
      <p:sp>
        <p:nvSpPr>
          <p:cNvPr id="15" name="ZoneTexte 14"/>
          <p:cNvSpPr txBox="1"/>
          <p:nvPr/>
        </p:nvSpPr>
        <p:spPr>
          <a:xfrm>
            <a:off x="357158" y="5143512"/>
            <a:ext cx="8286808"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b="1" dirty="0" smtClean="0"/>
              <a:t>Afin de conserver le résultat d’un calcul, on doit utiliser une affectation à une variable.</a:t>
            </a:r>
            <a:endParaRPr lang="fr-FR" b="1" dirty="0"/>
          </a:p>
        </p:txBody>
      </p:sp>
      <p:sp>
        <p:nvSpPr>
          <p:cNvPr id="11" name="ZoneTexte 10"/>
          <p:cNvSpPr txBox="1"/>
          <p:nvPr/>
        </p:nvSpPr>
        <p:spPr>
          <a:xfrm>
            <a:off x="8501090" y="6286520"/>
            <a:ext cx="312906" cy="369332"/>
          </a:xfrm>
          <a:prstGeom prst="rect">
            <a:avLst/>
          </a:prstGeom>
          <a:noFill/>
        </p:spPr>
        <p:txBody>
          <a:bodyPr wrap="none" rtlCol="0">
            <a:spAutoFit/>
          </a:bodyPr>
          <a:lstStyle/>
          <a:p>
            <a:r>
              <a:rPr lang="fr-FR" dirty="0" smtClean="0"/>
              <a:t>9</a:t>
            </a:r>
            <a:endParaRPr lang="fr-FR"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3" name="ZoneTexte 12"/>
          <p:cNvSpPr txBox="1"/>
          <p:nvPr/>
        </p:nvSpPr>
        <p:spPr>
          <a:xfrm>
            <a:off x="285720" y="285728"/>
            <a:ext cx="1877437" cy="461665"/>
          </a:xfrm>
          <a:prstGeom prst="rect">
            <a:avLst/>
          </a:prstGeom>
          <a:noFill/>
        </p:spPr>
        <p:txBody>
          <a:bodyPr wrap="none" rtlCol="0">
            <a:spAutoFit/>
          </a:bodyPr>
          <a:lstStyle/>
          <a:p>
            <a:r>
              <a:rPr lang="fr-FR" sz="2400" b="1" dirty="0" smtClean="0"/>
              <a:t>Affectation </a:t>
            </a:r>
          </a:p>
        </p:txBody>
      </p:sp>
      <p:sp>
        <p:nvSpPr>
          <p:cNvPr id="9" name="ZoneTexte 8"/>
          <p:cNvSpPr txBox="1"/>
          <p:nvPr/>
        </p:nvSpPr>
        <p:spPr>
          <a:xfrm>
            <a:off x="214282" y="928670"/>
            <a:ext cx="1697901" cy="369332"/>
          </a:xfrm>
          <a:prstGeom prst="rect">
            <a:avLst/>
          </a:prstGeom>
          <a:noFill/>
        </p:spPr>
        <p:txBody>
          <a:bodyPr wrap="none" rtlCol="0">
            <a:spAutoFit/>
          </a:bodyPr>
          <a:lstStyle/>
          <a:p>
            <a:r>
              <a:rPr lang="fr-FR" b="1" u="sng" dirty="0" smtClean="0"/>
              <a:t>Commande 3</a:t>
            </a:r>
            <a:r>
              <a:rPr lang="fr-FR" dirty="0" smtClean="0"/>
              <a:t> </a:t>
            </a:r>
            <a:endParaRPr lang="fr-FR" dirty="0"/>
          </a:p>
        </p:txBody>
      </p:sp>
      <p:graphicFrame>
        <p:nvGraphicFramePr>
          <p:cNvPr id="12" name="Tableau 11"/>
          <p:cNvGraphicFramePr>
            <a:graphicFrameLocks noGrp="1"/>
          </p:cNvGraphicFramePr>
          <p:nvPr/>
        </p:nvGraphicFramePr>
        <p:xfrm>
          <a:off x="285720" y="1428736"/>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x=10</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9" name="ZoneTexte 18"/>
          <p:cNvSpPr txBox="1"/>
          <p:nvPr/>
        </p:nvSpPr>
        <p:spPr>
          <a:xfrm>
            <a:off x="285720" y="1928802"/>
            <a:ext cx="8358246" cy="369332"/>
          </a:xfrm>
          <a:prstGeom prst="rect">
            <a:avLst/>
          </a:prstGeom>
          <a:noFill/>
        </p:spPr>
        <p:txBody>
          <a:bodyPr wrap="square" rtlCol="0">
            <a:spAutoFit/>
          </a:bodyPr>
          <a:lstStyle/>
          <a:p>
            <a:r>
              <a:rPr lang="fr-FR" dirty="0" smtClean="0"/>
              <a:t>Nous avons créer une variable nommé </a:t>
            </a:r>
            <a:r>
              <a:rPr lang="fr-FR" b="1" dirty="0" smtClean="0"/>
              <a:t>x</a:t>
            </a:r>
            <a:r>
              <a:rPr lang="fr-FR" dirty="0" smtClean="0"/>
              <a:t> avec la valeur </a:t>
            </a:r>
            <a:r>
              <a:rPr lang="fr-FR" b="1" dirty="0" smtClean="0"/>
              <a:t>10</a:t>
            </a:r>
            <a:endParaRPr lang="fr-FR" b="1" dirty="0"/>
          </a:p>
        </p:txBody>
      </p:sp>
      <p:sp>
        <p:nvSpPr>
          <p:cNvPr id="11" name="ZoneTexte 10"/>
          <p:cNvSpPr txBox="1"/>
          <p:nvPr/>
        </p:nvSpPr>
        <p:spPr>
          <a:xfrm>
            <a:off x="214282" y="2285992"/>
            <a:ext cx="1697901" cy="369332"/>
          </a:xfrm>
          <a:prstGeom prst="rect">
            <a:avLst/>
          </a:prstGeom>
          <a:noFill/>
        </p:spPr>
        <p:txBody>
          <a:bodyPr wrap="none" rtlCol="0">
            <a:spAutoFit/>
          </a:bodyPr>
          <a:lstStyle/>
          <a:p>
            <a:r>
              <a:rPr lang="fr-FR" b="1" u="sng" dirty="0" smtClean="0"/>
              <a:t>Commande 4</a:t>
            </a:r>
            <a:r>
              <a:rPr lang="fr-FR" dirty="0" smtClean="0"/>
              <a:t> </a:t>
            </a:r>
            <a:endParaRPr lang="fr-FR" dirty="0"/>
          </a:p>
        </p:txBody>
      </p:sp>
      <p:graphicFrame>
        <p:nvGraphicFramePr>
          <p:cNvPr id="16" name="Tableau 15"/>
          <p:cNvGraphicFramePr>
            <a:graphicFrameLocks noGrp="1"/>
          </p:cNvGraphicFramePr>
          <p:nvPr/>
        </p:nvGraphicFramePr>
        <p:xfrm>
          <a:off x="285720" y="2726762"/>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y = 2*x+5</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pic>
        <p:nvPicPr>
          <p:cNvPr id="32770" name="Picture 2"/>
          <p:cNvPicPr>
            <a:picLocks noChangeAspect="1" noChangeArrowheads="1"/>
          </p:cNvPicPr>
          <p:nvPr/>
        </p:nvPicPr>
        <p:blipFill>
          <a:blip r:embed="rId3" cstate="print"/>
          <a:srcRect/>
          <a:stretch>
            <a:fillRect/>
          </a:stretch>
        </p:blipFill>
        <p:spPr bwMode="auto">
          <a:xfrm>
            <a:off x="6858016" y="3857628"/>
            <a:ext cx="1838325" cy="1419225"/>
          </a:xfrm>
          <a:prstGeom prst="rect">
            <a:avLst/>
          </a:prstGeom>
          <a:noFill/>
          <a:ln w="9525">
            <a:noFill/>
            <a:miter lim="800000"/>
            <a:headEnd/>
            <a:tailEnd/>
          </a:ln>
          <a:effectLst/>
        </p:spPr>
      </p:pic>
      <p:sp>
        <p:nvSpPr>
          <p:cNvPr id="17" name="ZoneTexte 16"/>
          <p:cNvSpPr txBox="1"/>
          <p:nvPr/>
        </p:nvSpPr>
        <p:spPr>
          <a:xfrm>
            <a:off x="285720" y="4500570"/>
            <a:ext cx="6286544" cy="646331"/>
          </a:xfrm>
          <a:prstGeom prst="rect">
            <a:avLst/>
          </a:prstGeom>
          <a:noFill/>
        </p:spPr>
        <p:txBody>
          <a:bodyPr wrap="square" rtlCol="0">
            <a:spAutoFit/>
          </a:bodyPr>
          <a:lstStyle/>
          <a:p>
            <a:r>
              <a:rPr lang="fr-FR" dirty="0" smtClean="0"/>
              <a:t>Matlab calcule l’expression </a:t>
            </a:r>
            <a:r>
              <a:rPr lang="fr-FR" b="1" dirty="0" smtClean="0"/>
              <a:t>2*x+5</a:t>
            </a:r>
            <a:r>
              <a:rPr lang="fr-FR" dirty="0" smtClean="0"/>
              <a:t> puis met le résultat dans la variable </a:t>
            </a:r>
            <a:r>
              <a:rPr lang="fr-FR" b="1" dirty="0" smtClean="0"/>
              <a:t>y</a:t>
            </a:r>
            <a:endParaRPr lang="fr-FR" b="1" dirty="0"/>
          </a:p>
        </p:txBody>
      </p:sp>
      <p:sp>
        <p:nvSpPr>
          <p:cNvPr id="20" name="ZoneTexte 19"/>
          <p:cNvSpPr txBox="1"/>
          <p:nvPr/>
        </p:nvSpPr>
        <p:spPr>
          <a:xfrm>
            <a:off x="285720" y="3286124"/>
            <a:ext cx="1095172" cy="369332"/>
          </a:xfrm>
          <a:prstGeom prst="rect">
            <a:avLst/>
          </a:prstGeom>
          <a:noFill/>
        </p:spPr>
        <p:txBody>
          <a:bodyPr wrap="none" rtlCol="0">
            <a:spAutoFit/>
          </a:bodyPr>
          <a:lstStyle/>
          <a:p>
            <a:r>
              <a:rPr lang="fr-FR" b="1" u="sng" dirty="0" smtClean="0"/>
              <a:t>Résultat</a:t>
            </a:r>
            <a:endParaRPr lang="fr-FR" dirty="0"/>
          </a:p>
        </p:txBody>
      </p:sp>
      <p:graphicFrame>
        <p:nvGraphicFramePr>
          <p:cNvPr id="21" name="Tableau 20"/>
          <p:cNvGraphicFramePr>
            <a:graphicFrameLocks noGrp="1"/>
          </p:cNvGraphicFramePr>
          <p:nvPr/>
        </p:nvGraphicFramePr>
        <p:xfrm>
          <a:off x="357158" y="3857628"/>
          <a:ext cx="6429420" cy="370840"/>
        </p:xfrm>
        <a:graphic>
          <a:graphicData uri="http://schemas.openxmlformats.org/drawingml/2006/table">
            <a:tbl>
              <a:tblPr firstRow="1" bandRow="1">
                <a:tableStyleId>{5C22544A-7EE6-4342-B048-85BDC9FD1C3A}</a:tableStyleId>
              </a:tblPr>
              <a:tblGrid>
                <a:gridCol w="6429420"/>
              </a:tblGrid>
              <a:tr h="370840">
                <a:tc>
                  <a:txBody>
                    <a:bodyPr/>
                    <a:lstStyle/>
                    <a:p>
                      <a:r>
                        <a:rPr lang="fr-FR" b="0" dirty="0" smtClean="0">
                          <a:solidFill>
                            <a:schemeClr val="tx1"/>
                          </a:solidFill>
                          <a:latin typeface="Consolas" pitchFamily="49" charset="0"/>
                        </a:rPr>
                        <a:t>y</a:t>
                      </a:r>
                      <a:r>
                        <a:rPr lang="fr-FR" b="0" baseline="0" dirty="0" smtClean="0">
                          <a:solidFill>
                            <a:schemeClr val="tx1"/>
                          </a:solidFill>
                          <a:latin typeface="Consolas" pitchFamily="49" charset="0"/>
                        </a:rPr>
                        <a:t> = 25</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ZoneTexte 13"/>
          <p:cNvSpPr txBox="1"/>
          <p:nvPr/>
        </p:nvSpPr>
        <p:spPr>
          <a:xfrm>
            <a:off x="8616812" y="6345816"/>
            <a:ext cx="441146" cy="369332"/>
          </a:xfrm>
          <a:prstGeom prst="rect">
            <a:avLst/>
          </a:prstGeom>
          <a:noFill/>
        </p:spPr>
        <p:txBody>
          <a:bodyPr wrap="none" rtlCol="0">
            <a:spAutoFit/>
          </a:bodyPr>
          <a:lstStyle/>
          <a:p>
            <a:r>
              <a:rPr lang="fr-FR" dirty="0" smtClean="0"/>
              <a:t>10</a:t>
            </a:r>
            <a:endParaRPr lang="fr-FR"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3" name="ZoneTexte 12"/>
          <p:cNvSpPr txBox="1"/>
          <p:nvPr/>
        </p:nvSpPr>
        <p:spPr>
          <a:xfrm>
            <a:off x="285720" y="285728"/>
            <a:ext cx="1877437" cy="461665"/>
          </a:xfrm>
          <a:prstGeom prst="rect">
            <a:avLst/>
          </a:prstGeom>
          <a:noFill/>
        </p:spPr>
        <p:txBody>
          <a:bodyPr wrap="none" rtlCol="0">
            <a:spAutoFit/>
          </a:bodyPr>
          <a:lstStyle/>
          <a:p>
            <a:r>
              <a:rPr lang="fr-FR" sz="2400" b="1" dirty="0" smtClean="0"/>
              <a:t>Affectation </a:t>
            </a:r>
          </a:p>
        </p:txBody>
      </p:sp>
      <p:sp>
        <p:nvSpPr>
          <p:cNvPr id="15" name="ZoneTexte 14"/>
          <p:cNvSpPr txBox="1"/>
          <p:nvPr/>
        </p:nvSpPr>
        <p:spPr>
          <a:xfrm>
            <a:off x="357158" y="2214554"/>
            <a:ext cx="8286808"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b="1" dirty="0" smtClean="0"/>
              <a:t>REMARQUE</a:t>
            </a:r>
          </a:p>
          <a:p>
            <a:pPr algn="ctr"/>
            <a:endParaRPr lang="fr-FR" b="1" dirty="0" smtClean="0"/>
          </a:p>
          <a:p>
            <a:r>
              <a:rPr lang="fr-FR" dirty="0" smtClean="0"/>
              <a:t>Lorsque le calcul d’une opération n’est pas affecté à une variable, Matlab crée de manière automatique une variable </a:t>
            </a:r>
            <a:r>
              <a:rPr lang="fr-FR" b="1" dirty="0" smtClean="0"/>
              <a:t>ans</a:t>
            </a:r>
            <a:r>
              <a:rPr lang="fr-FR" dirty="0" smtClean="0"/>
              <a:t> qui contient le résultat de l’opération</a:t>
            </a:r>
          </a:p>
        </p:txBody>
      </p:sp>
      <p:sp>
        <p:nvSpPr>
          <p:cNvPr id="14" name="ZoneTexte 13"/>
          <p:cNvSpPr txBox="1"/>
          <p:nvPr/>
        </p:nvSpPr>
        <p:spPr>
          <a:xfrm>
            <a:off x="8616812" y="6345816"/>
            <a:ext cx="424027" cy="369332"/>
          </a:xfrm>
          <a:prstGeom prst="rect">
            <a:avLst/>
          </a:prstGeom>
          <a:noFill/>
        </p:spPr>
        <p:txBody>
          <a:bodyPr wrap="none" rtlCol="0">
            <a:spAutoFit/>
          </a:bodyPr>
          <a:lstStyle/>
          <a:p>
            <a:r>
              <a:rPr lang="fr-FR" dirty="0" smtClean="0"/>
              <a:t>11</a:t>
            </a:r>
            <a:endParaRPr lang="fr-FR"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3" name="ZoneTexte 12"/>
          <p:cNvSpPr txBox="1"/>
          <p:nvPr/>
        </p:nvSpPr>
        <p:spPr>
          <a:xfrm>
            <a:off x="285720" y="285728"/>
            <a:ext cx="2694969" cy="523220"/>
          </a:xfrm>
          <a:prstGeom prst="rect">
            <a:avLst/>
          </a:prstGeom>
          <a:noFill/>
        </p:spPr>
        <p:txBody>
          <a:bodyPr wrap="none" rtlCol="0">
            <a:spAutoFit/>
          </a:bodyPr>
          <a:lstStyle/>
          <a:p>
            <a:r>
              <a:rPr lang="fr-FR" sz="2400" b="1" dirty="0" smtClean="0"/>
              <a:t>Le point-virgule </a:t>
            </a:r>
            <a:r>
              <a:rPr lang="fr-FR" sz="2800" b="1" dirty="0" smtClean="0"/>
              <a:t>;</a:t>
            </a:r>
            <a:endParaRPr lang="fr-FR" sz="2400" b="1" dirty="0" smtClean="0"/>
          </a:p>
        </p:txBody>
      </p:sp>
      <p:sp>
        <p:nvSpPr>
          <p:cNvPr id="9" name="ZoneTexte 8"/>
          <p:cNvSpPr txBox="1"/>
          <p:nvPr/>
        </p:nvSpPr>
        <p:spPr>
          <a:xfrm>
            <a:off x="214282" y="928670"/>
            <a:ext cx="1697901" cy="369332"/>
          </a:xfrm>
          <a:prstGeom prst="rect">
            <a:avLst/>
          </a:prstGeom>
          <a:noFill/>
        </p:spPr>
        <p:txBody>
          <a:bodyPr wrap="none" rtlCol="0">
            <a:spAutoFit/>
          </a:bodyPr>
          <a:lstStyle/>
          <a:p>
            <a:r>
              <a:rPr lang="fr-FR" b="1" u="sng" dirty="0" smtClean="0"/>
              <a:t>Commande 5</a:t>
            </a:r>
            <a:r>
              <a:rPr lang="fr-FR" dirty="0" smtClean="0"/>
              <a:t> </a:t>
            </a:r>
            <a:endParaRPr lang="fr-FR" dirty="0"/>
          </a:p>
        </p:txBody>
      </p:sp>
      <p:graphicFrame>
        <p:nvGraphicFramePr>
          <p:cNvPr id="12" name="Tableau 11"/>
          <p:cNvGraphicFramePr>
            <a:graphicFrameLocks noGrp="1"/>
          </p:cNvGraphicFramePr>
          <p:nvPr/>
        </p:nvGraphicFramePr>
        <p:xfrm>
          <a:off x="285720" y="1428736"/>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z=y*2;</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5" name="ZoneTexte 14"/>
          <p:cNvSpPr txBox="1"/>
          <p:nvPr/>
        </p:nvSpPr>
        <p:spPr>
          <a:xfrm>
            <a:off x="285720" y="4800439"/>
            <a:ext cx="8286808" cy="1200329"/>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fr-FR" dirty="0" smtClean="0"/>
              <a:t>Lorsqu’une commande est terminée par </a:t>
            </a:r>
            <a:r>
              <a:rPr lang="fr-FR" b="1" dirty="0" smtClean="0"/>
              <a:t>; </a:t>
            </a:r>
            <a:r>
              <a:rPr lang="fr-FR" dirty="0" err="1" smtClean="0"/>
              <a:t>matlab</a:t>
            </a:r>
            <a:r>
              <a:rPr lang="fr-FR" dirty="0" smtClean="0"/>
              <a:t> exécute la commande sans afficher le résultat</a:t>
            </a:r>
          </a:p>
          <a:p>
            <a:r>
              <a:rPr lang="fr-FR" dirty="0" smtClean="0"/>
              <a:t>Le </a:t>
            </a:r>
            <a:r>
              <a:rPr lang="fr-FR" b="1" dirty="0" smtClean="0"/>
              <a:t>;</a:t>
            </a:r>
            <a:r>
              <a:rPr lang="fr-FR" dirty="0" smtClean="0"/>
              <a:t> peut aussi servir à exécuter plusieurs commande sur la même ligne</a:t>
            </a:r>
          </a:p>
          <a:p>
            <a:endParaRPr lang="fr-FR" dirty="0" smtClean="0"/>
          </a:p>
        </p:txBody>
      </p:sp>
      <p:sp>
        <p:nvSpPr>
          <p:cNvPr id="17" name="ZoneTexte 16"/>
          <p:cNvSpPr txBox="1"/>
          <p:nvPr/>
        </p:nvSpPr>
        <p:spPr>
          <a:xfrm>
            <a:off x="357158" y="2786058"/>
            <a:ext cx="8429684" cy="646331"/>
          </a:xfrm>
          <a:prstGeom prst="rect">
            <a:avLst/>
          </a:prstGeom>
          <a:noFill/>
        </p:spPr>
        <p:txBody>
          <a:bodyPr wrap="square" rtlCol="0">
            <a:spAutoFit/>
          </a:bodyPr>
          <a:lstStyle/>
          <a:p>
            <a:r>
              <a:rPr lang="fr-FR" dirty="0" smtClean="0"/>
              <a:t>Aucun résultat n’est affiché! Mais on peut remarqué que Matlab a exécuté l’opération en créant la nouvelle variable </a:t>
            </a:r>
            <a:r>
              <a:rPr lang="fr-FR" b="1" dirty="0" smtClean="0"/>
              <a:t>z</a:t>
            </a:r>
            <a:r>
              <a:rPr lang="fr-FR" dirty="0" smtClean="0"/>
              <a:t> qui vaut </a:t>
            </a:r>
            <a:r>
              <a:rPr lang="fr-FR" b="1" dirty="0" smtClean="0"/>
              <a:t>50</a:t>
            </a:r>
            <a:r>
              <a:rPr lang="fr-FR" dirty="0" smtClean="0"/>
              <a:t> </a:t>
            </a:r>
            <a:endParaRPr lang="fr-FR" b="1" dirty="0"/>
          </a:p>
        </p:txBody>
      </p:sp>
      <p:sp>
        <p:nvSpPr>
          <p:cNvPr id="20" name="ZoneTexte 19"/>
          <p:cNvSpPr txBox="1"/>
          <p:nvPr/>
        </p:nvSpPr>
        <p:spPr>
          <a:xfrm>
            <a:off x="285720" y="1928802"/>
            <a:ext cx="1095172" cy="369332"/>
          </a:xfrm>
          <a:prstGeom prst="rect">
            <a:avLst/>
          </a:prstGeom>
          <a:noFill/>
        </p:spPr>
        <p:txBody>
          <a:bodyPr wrap="none" rtlCol="0">
            <a:spAutoFit/>
          </a:bodyPr>
          <a:lstStyle/>
          <a:p>
            <a:r>
              <a:rPr lang="fr-FR" b="1" u="sng" dirty="0" smtClean="0"/>
              <a:t>Résultat</a:t>
            </a:r>
            <a:endParaRPr lang="fr-FR" dirty="0"/>
          </a:p>
        </p:txBody>
      </p:sp>
      <p:graphicFrame>
        <p:nvGraphicFramePr>
          <p:cNvPr id="14" name="Tableau 13"/>
          <p:cNvGraphicFramePr>
            <a:graphicFrameLocks noGrp="1"/>
          </p:cNvGraphicFramePr>
          <p:nvPr/>
        </p:nvGraphicFramePr>
        <p:xfrm>
          <a:off x="357158" y="2285992"/>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pic>
        <p:nvPicPr>
          <p:cNvPr id="33795" name="Picture 3"/>
          <p:cNvPicPr>
            <a:picLocks noChangeAspect="1" noChangeArrowheads="1"/>
          </p:cNvPicPr>
          <p:nvPr/>
        </p:nvPicPr>
        <p:blipFill>
          <a:blip r:embed="rId3" cstate="print"/>
          <a:srcRect/>
          <a:stretch>
            <a:fillRect/>
          </a:stretch>
        </p:blipFill>
        <p:spPr bwMode="auto">
          <a:xfrm>
            <a:off x="428596" y="3357562"/>
            <a:ext cx="1733550" cy="1343025"/>
          </a:xfrm>
          <a:prstGeom prst="rect">
            <a:avLst/>
          </a:prstGeom>
          <a:noFill/>
          <a:ln w="9525">
            <a:noFill/>
            <a:miter lim="800000"/>
            <a:headEnd/>
            <a:tailEnd/>
          </a:ln>
          <a:effectLst/>
        </p:spPr>
      </p:pic>
      <p:sp>
        <p:nvSpPr>
          <p:cNvPr id="18" name="Flèche droite 17"/>
          <p:cNvSpPr/>
          <p:nvPr/>
        </p:nvSpPr>
        <p:spPr>
          <a:xfrm rot="10800000">
            <a:off x="1917505" y="4477992"/>
            <a:ext cx="1285884" cy="214314"/>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aphicFrame>
        <p:nvGraphicFramePr>
          <p:cNvPr id="23" name="Tableau 22"/>
          <p:cNvGraphicFramePr>
            <a:graphicFrameLocks noGrp="1"/>
          </p:cNvGraphicFramePr>
          <p:nvPr/>
        </p:nvGraphicFramePr>
        <p:xfrm>
          <a:off x="285720" y="6215082"/>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0" dirty="0" smtClean="0">
                          <a:solidFill>
                            <a:schemeClr val="tx1"/>
                          </a:solidFill>
                          <a:latin typeface="Consolas" pitchFamily="49" charset="0"/>
                        </a:rPr>
                        <a:t>&gt;&gt;x=10;</a:t>
                      </a:r>
                      <a:r>
                        <a:rPr lang="fr-FR" b="0" baseline="0" dirty="0" smtClean="0">
                          <a:solidFill>
                            <a:schemeClr val="tx1"/>
                          </a:solidFill>
                          <a:latin typeface="Consolas" pitchFamily="49" charset="0"/>
                        </a:rPr>
                        <a:t> y=2*x+5; z=y*2;</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24" name="ZoneTexte 23"/>
          <p:cNvSpPr txBox="1"/>
          <p:nvPr/>
        </p:nvSpPr>
        <p:spPr>
          <a:xfrm>
            <a:off x="285720" y="5786454"/>
            <a:ext cx="4544834" cy="369332"/>
          </a:xfrm>
          <a:prstGeom prst="rect">
            <a:avLst/>
          </a:prstGeom>
          <a:noFill/>
        </p:spPr>
        <p:txBody>
          <a:bodyPr wrap="none" rtlCol="0">
            <a:spAutoFit/>
          </a:bodyPr>
          <a:lstStyle/>
          <a:p>
            <a:r>
              <a:rPr lang="fr-FR" b="1" u="sng" dirty="0" smtClean="0"/>
              <a:t>Commandes 3,4 et 5 en une seule ligne</a:t>
            </a:r>
            <a:r>
              <a:rPr lang="fr-FR" dirty="0" smtClean="0"/>
              <a:t> </a:t>
            </a:r>
            <a:endParaRPr lang="fr-FR" dirty="0"/>
          </a:p>
        </p:txBody>
      </p:sp>
      <p:sp>
        <p:nvSpPr>
          <p:cNvPr id="16" name="ZoneTexte 15"/>
          <p:cNvSpPr txBox="1"/>
          <p:nvPr/>
        </p:nvSpPr>
        <p:spPr>
          <a:xfrm>
            <a:off x="8643966" y="6357958"/>
            <a:ext cx="441146" cy="369332"/>
          </a:xfrm>
          <a:prstGeom prst="rect">
            <a:avLst/>
          </a:prstGeom>
          <a:noFill/>
        </p:spPr>
        <p:txBody>
          <a:bodyPr wrap="none" rtlCol="0">
            <a:spAutoFit/>
          </a:bodyPr>
          <a:lstStyle/>
          <a:p>
            <a:r>
              <a:rPr lang="fr-FR" dirty="0" smtClean="0"/>
              <a:t>12</a:t>
            </a:r>
            <a:endParaRPr lang="fr-F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3" name="ZoneTexte 12"/>
          <p:cNvSpPr txBox="1"/>
          <p:nvPr/>
        </p:nvSpPr>
        <p:spPr>
          <a:xfrm>
            <a:off x="285720" y="285728"/>
            <a:ext cx="4423647" cy="461665"/>
          </a:xfrm>
          <a:prstGeom prst="rect">
            <a:avLst/>
          </a:prstGeom>
          <a:noFill/>
        </p:spPr>
        <p:txBody>
          <a:bodyPr wrap="none" rtlCol="0">
            <a:spAutoFit/>
          </a:bodyPr>
          <a:lstStyle/>
          <a:p>
            <a:r>
              <a:rPr lang="fr-FR" sz="2400" b="1" dirty="0" smtClean="0"/>
              <a:t>L’historique des commandes</a:t>
            </a:r>
          </a:p>
        </p:txBody>
      </p:sp>
      <p:sp>
        <p:nvSpPr>
          <p:cNvPr id="16" name="ZoneTexte 15"/>
          <p:cNvSpPr txBox="1"/>
          <p:nvPr/>
        </p:nvSpPr>
        <p:spPr>
          <a:xfrm flipH="1">
            <a:off x="357158" y="928670"/>
            <a:ext cx="8455403" cy="1200329"/>
          </a:xfrm>
          <a:prstGeom prst="rect">
            <a:avLst/>
          </a:prstGeom>
          <a:noFill/>
        </p:spPr>
        <p:txBody>
          <a:bodyPr wrap="square" rtlCol="0">
            <a:spAutoFit/>
          </a:bodyPr>
          <a:lstStyle/>
          <a:p>
            <a:r>
              <a:rPr lang="fr-FR" dirty="0" smtClean="0"/>
              <a:t>Toutes les commandes que nous avons écrites, sont enregistrées dans l’ordre chronologique et affichées dans l’historiques des commandes.</a:t>
            </a:r>
          </a:p>
          <a:p>
            <a:r>
              <a:rPr lang="fr-FR" dirty="0" smtClean="0"/>
              <a:t>Il est possible de parcourir les commandes d’historique en utilisant les flèches </a:t>
            </a:r>
            <a:r>
              <a:rPr lang="fr-FR" b="1" dirty="0" smtClean="0"/>
              <a:t>Haut</a:t>
            </a:r>
            <a:r>
              <a:rPr lang="fr-FR" dirty="0" smtClean="0"/>
              <a:t> et </a:t>
            </a:r>
            <a:r>
              <a:rPr lang="fr-FR" b="1" dirty="0" smtClean="0"/>
              <a:t>Bas</a:t>
            </a:r>
            <a:r>
              <a:rPr lang="fr-FR" dirty="0" smtClean="0"/>
              <a:t> du clavier</a:t>
            </a:r>
            <a:endParaRPr lang="fr-FR" dirty="0"/>
          </a:p>
        </p:txBody>
      </p:sp>
      <p:pic>
        <p:nvPicPr>
          <p:cNvPr id="34819" name="Picture 3"/>
          <p:cNvPicPr>
            <a:picLocks noChangeAspect="1" noChangeArrowheads="1"/>
          </p:cNvPicPr>
          <p:nvPr/>
        </p:nvPicPr>
        <p:blipFill>
          <a:blip r:embed="rId3" cstate="print"/>
          <a:srcRect/>
          <a:stretch>
            <a:fillRect/>
          </a:stretch>
        </p:blipFill>
        <p:spPr bwMode="auto">
          <a:xfrm>
            <a:off x="3214678" y="4286256"/>
            <a:ext cx="2428892" cy="2340128"/>
          </a:xfrm>
          <a:prstGeom prst="rect">
            <a:avLst/>
          </a:prstGeom>
          <a:noFill/>
          <a:ln w="9525">
            <a:noFill/>
            <a:miter lim="800000"/>
            <a:headEnd/>
            <a:tailEnd/>
          </a:ln>
          <a:effectLst/>
        </p:spPr>
      </p:pic>
      <p:sp>
        <p:nvSpPr>
          <p:cNvPr id="19" name="ZoneTexte 18"/>
          <p:cNvSpPr txBox="1"/>
          <p:nvPr/>
        </p:nvSpPr>
        <p:spPr>
          <a:xfrm flipH="1">
            <a:off x="428596" y="2428868"/>
            <a:ext cx="8358246" cy="1754326"/>
          </a:xfrm>
          <a:prstGeom prst="rect">
            <a:avLst/>
          </a:prstGeom>
          <a:noFill/>
        </p:spPr>
        <p:txBody>
          <a:bodyPr wrap="square" rtlCol="0">
            <a:spAutoFit/>
          </a:bodyPr>
          <a:lstStyle/>
          <a:p>
            <a:r>
              <a:rPr lang="fr-FR" dirty="0" smtClean="0"/>
              <a:t>Un clique droit sur une des commandes de l’historique fait apparaitre les actions suivantes :</a:t>
            </a:r>
          </a:p>
          <a:p>
            <a:pPr>
              <a:buFont typeface="Arial" pitchFamily="34" charset="0"/>
              <a:buChar char="•"/>
            </a:pPr>
            <a:r>
              <a:rPr lang="fr-FR" b="1" dirty="0" smtClean="0"/>
              <a:t> </a:t>
            </a:r>
            <a:r>
              <a:rPr lang="fr-FR" b="1" dirty="0" err="1" smtClean="0"/>
              <a:t>Delete</a:t>
            </a:r>
            <a:r>
              <a:rPr lang="fr-FR" b="1" dirty="0" smtClean="0"/>
              <a:t> </a:t>
            </a:r>
            <a:r>
              <a:rPr lang="fr-FR" b="1" dirty="0" err="1" smtClean="0"/>
              <a:t>Selection</a:t>
            </a:r>
            <a:r>
              <a:rPr lang="fr-FR" b="1" dirty="0" smtClean="0"/>
              <a:t> </a:t>
            </a:r>
            <a:r>
              <a:rPr lang="fr-FR" dirty="0" smtClean="0">
                <a:sym typeface="Wingdings" pitchFamily="2" charset="2"/>
              </a:rPr>
              <a:t> Supprimer la commande sélectionnée.</a:t>
            </a:r>
          </a:p>
          <a:p>
            <a:pPr>
              <a:buFont typeface="Arial" pitchFamily="34" charset="0"/>
              <a:buChar char="•"/>
            </a:pPr>
            <a:r>
              <a:rPr lang="fr-FR" b="1" dirty="0" smtClean="0">
                <a:sym typeface="Wingdings" pitchFamily="2" charset="2"/>
              </a:rPr>
              <a:t> </a:t>
            </a:r>
            <a:r>
              <a:rPr lang="fr-FR" b="1" dirty="0" err="1" smtClean="0">
                <a:sym typeface="Wingdings" pitchFamily="2" charset="2"/>
              </a:rPr>
              <a:t>Delete</a:t>
            </a:r>
            <a:r>
              <a:rPr lang="fr-FR" b="1" dirty="0" smtClean="0">
                <a:sym typeface="Wingdings" pitchFamily="2" charset="2"/>
              </a:rPr>
              <a:t> To </a:t>
            </a:r>
            <a:r>
              <a:rPr lang="fr-FR" b="1" dirty="0" err="1" smtClean="0">
                <a:sym typeface="Wingdings" pitchFamily="2" charset="2"/>
              </a:rPr>
              <a:t>Selection</a:t>
            </a:r>
            <a:r>
              <a:rPr lang="fr-FR" b="1" dirty="0" smtClean="0">
                <a:sym typeface="Wingdings" pitchFamily="2" charset="2"/>
              </a:rPr>
              <a:t> </a:t>
            </a:r>
            <a:r>
              <a:rPr lang="fr-FR" dirty="0" smtClean="0">
                <a:sym typeface="Wingdings" pitchFamily="2" charset="2"/>
              </a:rPr>
              <a:t> Supprimer toutes les commandes exécutée avant la commande sélectionnées.</a:t>
            </a:r>
          </a:p>
          <a:p>
            <a:pPr>
              <a:buFont typeface="Arial" pitchFamily="34" charset="0"/>
              <a:buChar char="•"/>
            </a:pPr>
            <a:r>
              <a:rPr lang="fr-FR" b="1" dirty="0" smtClean="0">
                <a:sym typeface="Wingdings" pitchFamily="2" charset="2"/>
              </a:rPr>
              <a:t> </a:t>
            </a:r>
            <a:r>
              <a:rPr lang="fr-FR" b="1" dirty="0" err="1" smtClean="0">
                <a:sym typeface="Wingdings" pitchFamily="2" charset="2"/>
              </a:rPr>
              <a:t>Clear</a:t>
            </a:r>
            <a:r>
              <a:rPr lang="fr-FR" b="1" dirty="0" smtClean="0">
                <a:sym typeface="Wingdings" pitchFamily="2" charset="2"/>
              </a:rPr>
              <a:t> Command </a:t>
            </a:r>
            <a:r>
              <a:rPr lang="fr-FR" b="1" dirty="0" err="1" smtClean="0">
                <a:sym typeface="Wingdings" pitchFamily="2" charset="2"/>
              </a:rPr>
              <a:t>History</a:t>
            </a:r>
            <a:r>
              <a:rPr lang="fr-FR" b="1" dirty="0" smtClean="0">
                <a:sym typeface="Wingdings" pitchFamily="2" charset="2"/>
              </a:rPr>
              <a:t> </a:t>
            </a:r>
            <a:r>
              <a:rPr lang="fr-FR" dirty="0" smtClean="0">
                <a:sym typeface="Wingdings" pitchFamily="2" charset="2"/>
              </a:rPr>
              <a:t> Supprimer toutes les commandes de l’historique</a:t>
            </a:r>
            <a:endParaRPr lang="fr-FR" dirty="0" smtClean="0"/>
          </a:p>
        </p:txBody>
      </p:sp>
      <p:sp>
        <p:nvSpPr>
          <p:cNvPr id="7" name="ZoneTexte 6"/>
          <p:cNvSpPr txBox="1"/>
          <p:nvPr/>
        </p:nvSpPr>
        <p:spPr>
          <a:xfrm>
            <a:off x="8501090" y="6286520"/>
            <a:ext cx="441146" cy="369332"/>
          </a:xfrm>
          <a:prstGeom prst="rect">
            <a:avLst/>
          </a:prstGeom>
          <a:noFill/>
        </p:spPr>
        <p:txBody>
          <a:bodyPr wrap="none" rtlCol="0">
            <a:spAutoFit/>
          </a:bodyPr>
          <a:lstStyle/>
          <a:p>
            <a:r>
              <a:rPr lang="fr-FR" dirty="0" smtClean="0"/>
              <a:t>13</a:t>
            </a:r>
            <a:endParaRPr lang="fr-FR"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357166"/>
            <a:ext cx="8643998" cy="2308324"/>
          </a:xfrm>
          <a:prstGeom prst="rect">
            <a:avLst/>
          </a:prstGeom>
          <a:noFill/>
        </p:spPr>
        <p:txBody>
          <a:bodyPr wrap="square" rtlCol="0">
            <a:spAutoFit/>
          </a:bodyPr>
          <a:lstStyle/>
          <a:p>
            <a:r>
              <a:rPr lang="fr-FR" b="1" u="sng" dirty="0" smtClean="0"/>
              <a:t>Exercice</a:t>
            </a:r>
          </a:p>
          <a:p>
            <a:endParaRPr lang="fr-FR" dirty="0" smtClean="0"/>
          </a:p>
          <a:p>
            <a:r>
              <a:rPr lang="fr-FR" dirty="0" smtClean="0"/>
              <a:t>Donnez les commandes Matlab permettant de créer deux variables </a:t>
            </a:r>
            <a:r>
              <a:rPr lang="fr-FR" b="1" dirty="0" smtClean="0"/>
              <a:t>x</a:t>
            </a:r>
            <a:r>
              <a:rPr lang="fr-FR" dirty="0" smtClean="0"/>
              <a:t> et </a:t>
            </a:r>
            <a:r>
              <a:rPr lang="fr-FR" b="1" dirty="0" smtClean="0"/>
              <a:t>y</a:t>
            </a:r>
            <a:r>
              <a:rPr lang="fr-FR" dirty="0" smtClean="0"/>
              <a:t> ayant respectivement les valeur </a:t>
            </a:r>
            <a:r>
              <a:rPr lang="fr-FR" b="1" dirty="0" smtClean="0"/>
              <a:t>12</a:t>
            </a:r>
            <a:r>
              <a:rPr lang="fr-FR" dirty="0" smtClean="0"/>
              <a:t> et </a:t>
            </a:r>
            <a:r>
              <a:rPr lang="fr-FR" b="1" dirty="0" smtClean="0"/>
              <a:t>15</a:t>
            </a:r>
            <a:r>
              <a:rPr lang="fr-FR" dirty="0" smtClean="0"/>
              <a:t>. Puis calculer leurs somme, leur produit et leur moyenne en mettant les résultats dans les variable </a:t>
            </a:r>
            <a:r>
              <a:rPr lang="fr-FR" b="1" dirty="0" smtClean="0"/>
              <a:t>S</a:t>
            </a:r>
            <a:r>
              <a:rPr lang="fr-FR" dirty="0" smtClean="0"/>
              <a:t>,</a:t>
            </a:r>
            <a:r>
              <a:rPr lang="fr-FR" b="1" dirty="0" smtClean="0"/>
              <a:t>P</a:t>
            </a:r>
            <a:r>
              <a:rPr lang="fr-FR" dirty="0" smtClean="0"/>
              <a:t>,</a:t>
            </a:r>
            <a:r>
              <a:rPr lang="fr-FR" b="1" dirty="0" smtClean="0"/>
              <a:t>M </a:t>
            </a:r>
            <a:r>
              <a:rPr lang="fr-FR" dirty="0" smtClean="0"/>
              <a:t>respectivement.</a:t>
            </a:r>
            <a:endParaRPr lang="fr-FR" b="1" dirty="0" smtClean="0"/>
          </a:p>
          <a:p>
            <a:endParaRPr lang="fr-FR" b="1" dirty="0" smtClean="0"/>
          </a:p>
          <a:p>
            <a:r>
              <a:rPr lang="fr-FR" dirty="0" smtClean="0"/>
              <a:t>Même question pour les valeurs (</a:t>
            </a:r>
            <a:r>
              <a:rPr lang="fr-FR" dirty="0" err="1" smtClean="0"/>
              <a:t>x,y</a:t>
            </a:r>
            <a:r>
              <a:rPr lang="fr-FR" dirty="0" smtClean="0"/>
              <a:t>) suivantes :</a:t>
            </a:r>
          </a:p>
          <a:p>
            <a:r>
              <a:rPr lang="fr-FR" dirty="0" smtClean="0"/>
              <a:t>(15,26) , (45,98) , (-4 , 9) , (13 , 12)</a:t>
            </a:r>
          </a:p>
        </p:txBody>
      </p:sp>
      <p:sp>
        <p:nvSpPr>
          <p:cNvPr id="4" name="ZoneTexte 3"/>
          <p:cNvSpPr txBox="1"/>
          <p:nvPr/>
        </p:nvSpPr>
        <p:spPr>
          <a:xfrm>
            <a:off x="8501090" y="6286520"/>
            <a:ext cx="441146" cy="369332"/>
          </a:xfrm>
          <a:prstGeom prst="rect">
            <a:avLst/>
          </a:prstGeom>
          <a:noFill/>
        </p:spPr>
        <p:txBody>
          <a:bodyPr wrap="none" rtlCol="0">
            <a:spAutoFit/>
          </a:bodyPr>
          <a:lstStyle/>
          <a:p>
            <a:r>
              <a:rPr lang="fr-FR" dirty="0" smtClean="0"/>
              <a:t>14</a:t>
            </a:r>
            <a:endParaRPr lang="fr-FR"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p:cNvPicPr>
            <a:picLocks noChangeAspect="1" noChangeArrowheads="1"/>
          </p:cNvPicPr>
          <p:nvPr/>
        </p:nvPicPr>
        <p:blipFill>
          <a:blip r:embed="rId2" cstate="print"/>
          <a:srcRect/>
          <a:stretch>
            <a:fillRect/>
          </a:stretch>
        </p:blipFill>
        <p:spPr bwMode="auto">
          <a:xfrm>
            <a:off x="323528" y="188640"/>
            <a:ext cx="7172325" cy="1304925"/>
          </a:xfrm>
          <a:prstGeom prst="rect">
            <a:avLst/>
          </a:prstGeom>
          <a:noFill/>
          <a:ln w="9525">
            <a:noFill/>
            <a:miter lim="800000"/>
            <a:headEnd/>
            <a:tailEnd/>
          </a:ln>
        </p:spPr>
      </p:pic>
      <p:pic>
        <p:nvPicPr>
          <p:cNvPr id="125956" name="Picture 4"/>
          <p:cNvPicPr>
            <a:picLocks noChangeAspect="1" noChangeArrowheads="1"/>
          </p:cNvPicPr>
          <p:nvPr/>
        </p:nvPicPr>
        <p:blipFill>
          <a:blip r:embed="rId3" cstate="print"/>
          <a:srcRect/>
          <a:stretch>
            <a:fillRect/>
          </a:stretch>
        </p:blipFill>
        <p:spPr bwMode="auto">
          <a:xfrm>
            <a:off x="395536" y="3429000"/>
            <a:ext cx="4838700" cy="1552575"/>
          </a:xfrm>
          <a:prstGeom prst="rect">
            <a:avLst/>
          </a:prstGeom>
          <a:noFill/>
          <a:ln w="9525">
            <a:noFill/>
            <a:miter lim="800000"/>
            <a:headEnd/>
            <a:tailEnd/>
          </a:ln>
        </p:spPr>
      </p:pic>
      <p:pic>
        <p:nvPicPr>
          <p:cNvPr id="125957" name="Picture 5"/>
          <p:cNvPicPr>
            <a:picLocks noChangeAspect="1" noChangeArrowheads="1"/>
          </p:cNvPicPr>
          <p:nvPr/>
        </p:nvPicPr>
        <p:blipFill>
          <a:blip r:embed="rId4" cstate="print"/>
          <a:srcRect/>
          <a:stretch>
            <a:fillRect/>
          </a:stretch>
        </p:blipFill>
        <p:spPr bwMode="auto">
          <a:xfrm>
            <a:off x="1259632" y="4869160"/>
            <a:ext cx="4455765" cy="1610948"/>
          </a:xfrm>
          <a:prstGeom prst="rect">
            <a:avLst/>
          </a:prstGeom>
          <a:noFill/>
          <a:ln w="9525">
            <a:noFill/>
            <a:miter lim="800000"/>
            <a:headEnd/>
            <a:tailEnd/>
          </a:ln>
        </p:spPr>
      </p:pic>
      <p:pic>
        <p:nvPicPr>
          <p:cNvPr id="125958" name="Picture 6"/>
          <p:cNvPicPr>
            <a:picLocks noChangeAspect="1" noChangeArrowheads="1"/>
          </p:cNvPicPr>
          <p:nvPr/>
        </p:nvPicPr>
        <p:blipFill>
          <a:blip r:embed="rId5" cstate="print"/>
          <a:srcRect/>
          <a:stretch>
            <a:fillRect/>
          </a:stretch>
        </p:blipFill>
        <p:spPr bwMode="auto">
          <a:xfrm>
            <a:off x="1187624" y="1521718"/>
            <a:ext cx="5867400" cy="16192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9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9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59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59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2844" y="2285992"/>
            <a:ext cx="8786874" cy="1143000"/>
          </a:xfrm>
        </p:spPr>
        <p:txBody>
          <a:bodyPr>
            <a:normAutofit/>
          </a:bodyPr>
          <a:lstStyle/>
          <a:p>
            <a:pPr algn="ctr"/>
            <a:r>
              <a:rPr lang="fr-FR" sz="3200" b="1" dirty="0" smtClean="0"/>
              <a:t>Les Variables en Matlab</a:t>
            </a:r>
            <a:endParaRPr lang="fr-FR" sz="3200" b="1" dirty="0"/>
          </a:p>
        </p:txBody>
      </p:sp>
      <p:sp>
        <p:nvSpPr>
          <p:cNvPr id="7" name="ZoneTexte 6"/>
          <p:cNvSpPr txBox="1"/>
          <p:nvPr/>
        </p:nvSpPr>
        <p:spPr>
          <a:xfrm>
            <a:off x="642910" y="2571744"/>
            <a:ext cx="184731" cy="369332"/>
          </a:xfrm>
          <a:prstGeom prst="rect">
            <a:avLst/>
          </a:prstGeom>
          <a:noFill/>
        </p:spPr>
        <p:txBody>
          <a:bodyPr wrap="none" rtlCol="0">
            <a:spAutoFit/>
          </a:bodyPr>
          <a:lstStyle/>
          <a:p>
            <a:endParaRPr lang="fr-FR"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357166"/>
            <a:ext cx="8643998" cy="4062651"/>
          </a:xfrm>
          <a:prstGeom prst="rect">
            <a:avLst/>
          </a:prstGeom>
          <a:noFill/>
        </p:spPr>
        <p:txBody>
          <a:bodyPr wrap="square" rtlCol="0">
            <a:spAutoFit/>
          </a:bodyPr>
          <a:lstStyle/>
          <a:p>
            <a:r>
              <a:rPr lang="fr-FR" sz="2400" b="1" u="sng" dirty="0" smtClean="0"/>
              <a:t>Les Types de Variables</a:t>
            </a:r>
          </a:p>
          <a:p>
            <a:endParaRPr lang="fr-FR" b="1" u="sng" dirty="0" smtClean="0"/>
          </a:p>
          <a:p>
            <a:endParaRPr lang="fr-FR" b="1" u="sng" dirty="0" smtClean="0"/>
          </a:p>
          <a:p>
            <a:endParaRPr lang="fr-FR" dirty="0" smtClean="0"/>
          </a:p>
          <a:p>
            <a:r>
              <a:rPr lang="fr-FR" dirty="0" smtClean="0"/>
              <a:t>Il existe 4 principaux types en Matlab.</a:t>
            </a:r>
          </a:p>
          <a:p>
            <a:endParaRPr lang="fr-FR" dirty="0" smtClean="0"/>
          </a:p>
          <a:p>
            <a:pPr lvl="1">
              <a:buFont typeface="Arial" pitchFamily="34" charset="0"/>
              <a:buChar char="•"/>
            </a:pPr>
            <a:r>
              <a:rPr lang="fr-FR" dirty="0" smtClean="0"/>
              <a:t> </a:t>
            </a:r>
            <a:r>
              <a:rPr lang="fr-FR" b="1" dirty="0" smtClean="0"/>
              <a:t>Le type réel.</a:t>
            </a:r>
          </a:p>
          <a:p>
            <a:pPr lvl="1">
              <a:buFont typeface="Arial" pitchFamily="34" charset="0"/>
              <a:buChar char="•"/>
            </a:pPr>
            <a:endParaRPr lang="fr-FR" b="1" dirty="0" smtClean="0"/>
          </a:p>
          <a:p>
            <a:pPr lvl="1">
              <a:buFont typeface="Arial" pitchFamily="34" charset="0"/>
              <a:buChar char="•"/>
            </a:pPr>
            <a:r>
              <a:rPr lang="fr-FR" b="1" dirty="0" smtClean="0"/>
              <a:t> Le type complexe.</a:t>
            </a:r>
          </a:p>
          <a:p>
            <a:pPr lvl="1">
              <a:buFont typeface="Arial" pitchFamily="34" charset="0"/>
              <a:buChar char="•"/>
            </a:pPr>
            <a:endParaRPr lang="fr-FR" b="1" dirty="0" smtClean="0"/>
          </a:p>
          <a:p>
            <a:pPr lvl="1">
              <a:buFont typeface="Arial" pitchFamily="34" charset="0"/>
              <a:buChar char="•"/>
            </a:pPr>
            <a:r>
              <a:rPr lang="fr-FR" b="1" dirty="0" smtClean="0"/>
              <a:t> Le type Logique (Booléen). </a:t>
            </a:r>
          </a:p>
          <a:p>
            <a:pPr lvl="1"/>
            <a:r>
              <a:rPr lang="fr-FR" b="1" dirty="0" smtClean="0"/>
              <a:t>  	</a:t>
            </a:r>
            <a:r>
              <a:rPr lang="fr-FR" dirty="0" smtClean="0"/>
              <a:t>Peut avoir deux valeurs (</a:t>
            </a:r>
            <a:r>
              <a:rPr lang="fr-FR" dirty="0" err="1" smtClean="0"/>
              <a:t>true</a:t>
            </a:r>
            <a:r>
              <a:rPr lang="fr-FR" dirty="0" smtClean="0"/>
              <a:t>=1 ou false=0)</a:t>
            </a:r>
          </a:p>
          <a:p>
            <a:pPr lvl="1">
              <a:buFont typeface="Arial" pitchFamily="34" charset="0"/>
              <a:buChar char="•"/>
            </a:pPr>
            <a:endParaRPr lang="fr-FR" b="1" dirty="0" smtClean="0"/>
          </a:p>
          <a:p>
            <a:pPr lvl="1">
              <a:buFont typeface="Arial" pitchFamily="34" charset="0"/>
              <a:buChar char="•"/>
            </a:pPr>
            <a:r>
              <a:rPr lang="fr-FR" b="1" dirty="0" smtClean="0"/>
              <a:t> Le type chaine de caractères : </a:t>
            </a:r>
            <a:r>
              <a:rPr lang="fr-FR" dirty="0" smtClean="0"/>
              <a:t>délimité par le symbole </a:t>
            </a:r>
            <a:r>
              <a:rPr lang="fr-FR" sz="2000" b="1" dirty="0" smtClean="0">
                <a:latin typeface="Arial" pitchFamily="34" charset="0"/>
                <a:cs typeface="Arial" pitchFamily="34" charset="0"/>
              </a:rPr>
              <a:t>’</a:t>
            </a:r>
            <a:endParaRPr lang="fr-FR" b="1" dirty="0" smtClean="0">
              <a:latin typeface="Arial" pitchFamily="34" charset="0"/>
              <a:cs typeface="Arial" pitchFamily="34" charset="0"/>
            </a:endParaRPr>
          </a:p>
        </p:txBody>
      </p:sp>
      <p:sp>
        <p:nvSpPr>
          <p:cNvPr id="4" name="ZoneTexte 3"/>
          <p:cNvSpPr txBox="1"/>
          <p:nvPr/>
        </p:nvSpPr>
        <p:spPr>
          <a:xfrm>
            <a:off x="428597" y="5429264"/>
            <a:ext cx="8286808"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b="1" dirty="0" smtClean="0"/>
              <a:t>Toute variable dans </a:t>
            </a:r>
            <a:r>
              <a:rPr lang="fr-FR" b="1" dirty="0" err="1" smtClean="0"/>
              <a:t>matlab</a:t>
            </a:r>
            <a:r>
              <a:rPr lang="fr-FR" b="1" dirty="0" smtClean="0"/>
              <a:t> quelque soit son type est considérée comme une </a:t>
            </a:r>
            <a:r>
              <a:rPr lang="fr-FR" b="1" u="sng" dirty="0" smtClean="0"/>
              <a:t>matrice</a:t>
            </a:r>
          </a:p>
          <a:p>
            <a:pPr algn="ctr"/>
            <a:r>
              <a:rPr lang="fr-FR" b="1" dirty="0" smtClean="0"/>
              <a:t>Nous allons voir ça plus tard</a:t>
            </a:r>
            <a:endParaRPr lang="fr-FR" b="1" dirty="0"/>
          </a:p>
        </p:txBody>
      </p:sp>
      <p:sp>
        <p:nvSpPr>
          <p:cNvPr id="5" name="ZoneTexte 4"/>
          <p:cNvSpPr txBox="1"/>
          <p:nvPr/>
        </p:nvSpPr>
        <p:spPr>
          <a:xfrm>
            <a:off x="8560010" y="6417254"/>
            <a:ext cx="441146" cy="369332"/>
          </a:xfrm>
          <a:prstGeom prst="rect">
            <a:avLst/>
          </a:prstGeom>
          <a:noFill/>
        </p:spPr>
        <p:txBody>
          <a:bodyPr wrap="none" rtlCol="0">
            <a:spAutoFit/>
          </a:bodyPr>
          <a:lstStyle/>
          <a:p>
            <a:r>
              <a:rPr lang="fr-FR" dirty="0" smtClean="0"/>
              <a:t>15</a:t>
            </a:r>
            <a:endParaRPr lang="fr-FR"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357166"/>
            <a:ext cx="8643998" cy="2400657"/>
          </a:xfrm>
          <a:prstGeom prst="rect">
            <a:avLst/>
          </a:prstGeom>
          <a:noFill/>
        </p:spPr>
        <p:txBody>
          <a:bodyPr wrap="square" rtlCol="0">
            <a:spAutoFit/>
          </a:bodyPr>
          <a:lstStyle/>
          <a:p>
            <a:r>
              <a:rPr lang="fr-FR" sz="2400" b="1" u="sng" dirty="0" smtClean="0"/>
              <a:t>Pas de déclaration de Variables avec Matlab</a:t>
            </a:r>
          </a:p>
          <a:p>
            <a:endParaRPr lang="fr-FR" b="1" u="sng" dirty="0" smtClean="0"/>
          </a:p>
          <a:p>
            <a:endParaRPr lang="fr-FR" b="1" u="sng" dirty="0" smtClean="0"/>
          </a:p>
          <a:p>
            <a:r>
              <a:rPr lang="fr-FR" dirty="0" smtClean="0"/>
              <a:t>L'utilisation de variables avec MATLAB ne nécessite pas de déclaration. </a:t>
            </a:r>
          </a:p>
          <a:p>
            <a:r>
              <a:rPr lang="fr-FR" dirty="0" smtClean="0"/>
              <a:t>Le type d'une variable sont déterminés de manière automatique à partir de l'expression mathématique ou de la valeur affectée à la variable.</a:t>
            </a:r>
          </a:p>
          <a:p>
            <a:endParaRPr lang="fr-FR" dirty="0" smtClean="0"/>
          </a:p>
          <a:p>
            <a:r>
              <a:rPr lang="fr-FR" dirty="0" smtClean="0"/>
              <a:t>La commande suivante :</a:t>
            </a:r>
            <a:endParaRPr lang="fr-FR" dirty="0"/>
          </a:p>
        </p:txBody>
      </p:sp>
      <p:graphicFrame>
        <p:nvGraphicFramePr>
          <p:cNvPr id="4" name="Tableau 3"/>
          <p:cNvGraphicFramePr>
            <a:graphicFrameLocks noGrp="1"/>
          </p:cNvGraphicFramePr>
          <p:nvPr/>
        </p:nvGraphicFramePr>
        <p:xfrm>
          <a:off x="285720" y="2714620"/>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a=45 ; b=‘bonjour’ ; c=a+5i ; d=</a:t>
                      </a:r>
                      <a:r>
                        <a:rPr lang="fr-FR" b="0" baseline="0" dirty="0" err="1" smtClean="0">
                          <a:solidFill>
                            <a:schemeClr val="tx1"/>
                          </a:solidFill>
                          <a:latin typeface="Consolas" pitchFamily="49" charset="0"/>
                        </a:rPr>
                        <a:t>true</a:t>
                      </a:r>
                      <a:r>
                        <a:rPr lang="fr-FR" b="0" baseline="0" dirty="0" smtClean="0">
                          <a:solidFill>
                            <a:schemeClr val="tx1"/>
                          </a:solidFill>
                          <a:latin typeface="Consolas" pitchFamily="49" charset="0"/>
                        </a:rPr>
                        <a:t>;</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5" name="ZoneTexte 4"/>
          <p:cNvSpPr txBox="1"/>
          <p:nvPr/>
        </p:nvSpPr>
        <p:spPr>
          <a:xfrm>
            <a:off x="285720" y="3429000"/>
            <a:ext cx="5082417" cy="1477328"/>
          </a:xfrm>
          <a:prstGeom prst="rect">
            <a:avLst/>
          </a:prstGeom>
          <a:noFill/>
        </p:spPr>
        <p:txBody>
          <a:bodyPr wrap="none" rtlCol="0">
            <a:spAutoFit/>
          </a:bodyPr>
          <a:lstStyle/>
          <a:p>
            <a:r>
              <a:rPr lang="fr-FR" dirty="0" smtClean="0"/>
              <a:t>Crée 4 variables</a:t>
            </a:r>
          </a:p>
          <a:p>
            <a:pPr>
              <a:buFont typeface="Arial" pitchFamily="34" charset="0"/>
              <a:buChar char="•"/>
            </a:pPr>
            <a:r>
              <a:rPr lang="fr-FR" dirty="0" smtClean="0"/>
              <a:t> </a:t>
            </a:r>
            <a:r>
              <a:rPr lang="fr-FR" b="1" dirty="0" smtClean="0"/>
              <a:t>a</a:t>
            </a:r>
            <a:r>
              <a:rPr lang="fr-FR" dirty="0" smtClean="0"/>
              <a:t> de type réel et vaut 45.000</a:t>
            </a:r>
          </a:p>
          <a:p>
            <a:pPr>
              <a:buFont typeface="Arial" pitchFamily="34" charset="0"/>
              <a:buChar char="•"/>
            </a:pPr>
            <a:r>
              <a:rPr lang="fr-FR" dirty="0" smtClean="0"/>
              <a:t> </a:t>
            </a:r>
            <a:r>
              <a:rPr lang="fr-FR" b="1" dirty="0" smtClean="0"/>
              <a:t>b</a:t>
            </a:r>
            <a:r>
              <a:rPr lang="fr-FR" dirty="0" smtClean="0"/>
              <a:t> de type chaine de caractère et vaut</a:t>
            </a:r>
            <a:r>
              <a:rPr lang="fr-FR" dirty="0" smtClean="0">
                <a:latin typeface="+mj-lt"/>
              </a:rPr>
              <a:t> ‘</a:t>
            </a:r>
            <a:r>
              <a:rPr lang="fr-FR" dirty="0" smtClean="0"/>
              <a:t>bonjour</a:t>
            </a:r>
            <a:r>
              <a:rPr lang="fr-FR" dirty="0" smtClean="0">
                <a:latin typeface="+mj-lt"/>
              </a:rPr>
              <a:t>’</a:t>
            </a:r>
          </a:p>
          <a:p>
            <a:pPr>
              <a:buFont typeface="Arial" pitchFamily="34" charset="0"/>
              <a:buChar char="•"/>
            </a:pPr>
            <a:r>
              <a:rPr lang="fr-FR" dirty="0" smtClean="0"/>
              <a:t> </a:t>
            </a:r>
            <a:r>
              <a:rPr lang="fr-FR" b="1" dirty="0" smtClean="0"/>
              <a:t>c</a:t>
            </a:r>
            <a:r>
              <a:rPr lang="fr-FR" dirty="0" smtClean="0"/>
              <a:t> de type complexe et vaut 45+5i</a:t>
            </a:r>
          </a:p>
          <a:p>
            <a:pPr>
              <a:buFont typeface="Arial" pitchFamily="34" charset="0"/>
              <a:buChar char="•"/>
            </a:pPr>
            <a:r>
              <a:rPr lang="fr-FR" dirty="0" smtClean="0"/>
              <a:t> </a:t>
            </a:r>
            <a:r>
              <a:rPr lang="fr-FR" b="1" dirty="0" smtClean="0"/>
              <a:t>d</a:t>
            </a:r>
            <a:r>
              <a:rPr lang="fr-FR" dirty="0" smtClean="0"/>
              <a:t> de type booléen (logique) et vaut 1=</a:t>
            </a:r>
            <a:r>
              <a:rPr lang="fr-FR" dirty="0" err="1" smtClean="0"/>
              <a:t>true</a:t>
            </a:r>
            <a:endParaRPr lang="fr-FR" dirty="0"/>
          </a:p>
        </p:txBody>
      </p:sp>
      <p:pic>
        <p:nvPicPr>
          <p:cNvPr id="35842" name="Picture 2"/>
          <p:cNvPicPr>
            <a:picLocks noChangeAspect="1" noChangeArrowheads="1"/>
          </p:cNvPicPr>
          <p:nvPr/>
        </p:nvPicPr>
        <p:blipFill>
          <a:blip r:embed="rId3" cstate="print"/>
          <a:srcRect/>
          <a:stretch>
            <a:fillRect/>
          </a:stretch>
        </p:blipFill>
        <p:spPr bwMode="auto">
          <a:xfrm>
            <a:off x="5500694" y="3571876"/>
            <a:ext cx="2305050" cy="1485900"/>
          </a:xfrm>
          <a:prstGeom prst="rect">
            <a:avLst/>
          </a:prstGeom>
          <a:noFill/>
          <a:ln w="9525">
            <a:noFill/>
            <a:miter lim="800000"/>
            <a:headEnd/>
            <a:tailEnd/>
          </a:ln>
          <a:effectLst/>
        </p:spPr>
      </p:pic>
      <p:sp>
        <p:nvSpPr>
          <p:cNvPr id="7" name="ZoneTexte 6"/>
          <p:cNvSpPr txBox="1"/>
          <p:nvPr/>
        </p:nvSpPr>
        <p:spPr>
          <a:xfrm>
            <a:off x="8501090" y="6286520"/>
            <a:ext cx="441146" cy="369332"/>
          </a:xfrm>
          <a:prstGeom prst="rect">
            <a:avLst/>
          </a:prstGeom>
          <a:noFill/>
        </p:spPr>
        <p:txBody>
          <a:bodyPr wrap="none" rtlCol="0">
            <a:spAutoFit/>
          </a:bodyPr>
          <a:lstStyle/>
          <a:p>
            <a:r>
              <a:rPr lang="fr-FR" dirty="0" smtClean="0"/>
              <a:t>16</a:t>
            </a:r>
            <a:endParaRPr lang="fr-FR"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357166"/>
            <a:ext cx="8643998" cy="461665"/>
          </a:xfrm>
          <a:prstGeom prst="rect">
            <a:avLst/>
          </a:prstGeom>
          <a:noFill/>
        </p:spPr>
        <p:txBody>
          <a:bodyPr wrap="square" rtlCol="0">
            <a:spAutoFit/>
          </a:bodyPr>
          <a:lstStyle/>
          <a:p>
            <a:r>
              <a:rPr lang="fr-FR" sz="2400" b="1" u="sng" dirty="0" smtClean="0"/>
              <a:t>Règles d’identifiants de variables</a:t>
            </a:r>
          </a:p>
        </p:txBody>
      </p:sp>
      <p:sp>
        <p:nvSpPr>
          <p:cNvPr id="15" name="ZoneTexte 14"/>
          <p:cNvSpPr txBox="1"/>
          <p:nvPr/>
        </p:nvSpPr>
        <p:spPr>
          <a:xfrm>
            <a:off x="214282" y="995306"/>
            <a:ext cx="8501122" cy="2862322"/>
          </a:xfrm>
          <a:prstGeom prst="rect">
            <a:avLst/>
          </a:prstGeom>
          <a:noFill/>
        </p:spPr>
        <p:txBody>
          <a:bodyPr wrap="square" rtlCol="0">
            <a:spAutoFit/>
          </a:bodyPr>
          <a:lstStyle/>
          <a:p>
            <a:r>
              <a:rPr lang="fr-FR" b="1" dirty="0" smtClean="0"/>
              <a:t>L'identifiant :</a:t>
            </a:r>
          </a:p>
          <a:p>
            <a:r>
              <a:rPr lang="fr-FR" dirty="0" smtClean="0"/>
              <a:t>L'identifiant (le nom) d'une variable peut être une combinaison de chiffre et de lettres mais doit respecter les conditions suivantes :</a:t>
            </a:r>
          </a:p>
          <a:p>
            <a:pPr lvl="1">
              <a:buFont typeface="Arial" pitchFamily="34" charset="0"/>
              <a:buChar char="•"/>
            </a:pPr>
            <a:r>
              <a:rPr lang="fr-FR" dirty="0" smtClean="0"/>
              <a:t> Un Identifiant doit impérativement commencer par une lettre.</a:t>
            </a:r>
          </a:p>
          <a:p>
            <a:pPr lvl="1">
              <a:buFont typeface="Arial" pitchFamily="34" charset="0"/>
              <a:buChar char="•"/>
            </a:pPr>
            <a:r>
              <a:rPr lang="fr-FR" dirty="0" smtClean="0"/>
              <a:t> Un Identifiant ne peut pas contenir des caractères accentués (ex : </a:t>
            </a:r>
            <a:r>
              <a:rPr lang="fr-FR" dirty="0" err="1" smtClean="0"/>
              <a:t>é,è,ê</a:t>
            </a:r>
            <a:r>
              <a:rPr lang="fr-FR" dirty="0" smtClean="0"/>
              <a:t>).</a:t>
            </a:r>
          </a:p>
          <a:p>
            <a:pPr lvl="1">
              <a:buFont typeface="Arial" pitchFamily="34" charset="0"/>
              <a:buChar char="•"/>
            </a:pPr>
            <a:r>
              <a:rPr lang="fr-FR" dirty="0" smtClean="0"/>
              <a:t> Un Identifiant ne peut pas contenir des caractère spéciaux (@ # , …</a:t>
            </a:r>
            <a:r>
              <a:rPr lang="fr-FR" dirty="0" err="1" smtClean="0"/>
              <a:t>etc</a:t>
            </a:r>
            <a:r>
              <a:rPr lang="fr-FR" dirty="0" smtClean="0"/>
              <a:t>). Seul le caractère "</a:t>
            </a:r>
            <a:r>
              <a:rPr lang="fr-FR" b="1" dirty="0" smtClean="0"/>
              <a:t>_</a:t>
            </a:r>
            <a:r>
              <a:rPr lang="fr-FR" dirty="0" smtClean="0"/>
              <a:t>" (</a:t>
            </a:r>
            <a:r>
              <a:rPr lang="fr-FR" dirty="0" err="1" smtClean="0"/>
              <a:t>underscore</a:t>
            </a:r>
            <a:r>
              <a:rPr lang="fr-FR" dirty="0" smtClean="0"/>
              <a:t>) est autorisé</a:t>
            </a:r>
          </a:p>
          <a:p>
            <a:pPr lvl="1">
              <a:buFont typeface="Arial" pitchFamily="34" charset="0"/>
              <a:buChar char="•"/>
            </a:pPr>
            <a:r>
              <a:rPr lang="fr-FR" dirty="0" smtClean="0"/>
              <a:t> Un Identifiant ne peut pas contenir le symbole "  " (espace).</a:t>
            </a:r>
          </a:p>
          <a:p>
            <a:pPr lvl="1">
              <a:buFont typeface="Arial" pitchFamily="34" charset="0"/>
              <a:buChar char="•"/>
            </a:pPr>
            <a:r>
              <a:rPr lang="fr-FR" dirty="0" smtClean="0"/>
              <a:t> Un Identifiant ne peut pas être un </a:t>
            </a:r>
            <a:r>
              <a:rPr lang="fr-FR" b="1" u="sng" dirty="0" smtClean="0"/>
              <a:t>mot clé</a:t>
            </a:r>
            <a:r>
              <a:rPr lang="fr-FR" dirty="0" smtClean="0"/>
              <a:t> </a:t>
            </a:r>
            <a:r>
              <a:rPr lang="fr-FR" dirty="0" err="1" smtClean="0"/>
              <a:t>matlab</a:t>
            </a:r>
            <a:r>
              <a:rPr lang="fr-FR" dirty="0" smtClean="0"/>
              <a:t> (nous allons voir ces mots clés au fur et à mesure)</a:t>
            </a:r>
          </a:p>
        </p:txBody>
      </p:sp>
      <p:sp>
        <p:nvSpPr>
          <p:cNvPr id="16" name="ZoneTexte 15"/>
          <p:cNvSpPr txBox="1"/>
          <p:nvPr/>
        </p:nvSpPr>
        <p:spPr>
          <a:xfrm>
            <a:off x="285720" y="4143380"/>
            <a:ext cx="8358246"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b="1" dirty="0" smtClean="0"/>
              <a:t>Matlab est sensible à la casse </a:t>
            </a:r>
          </a:p>
          <a:p>
            <a:pPr algn="ctr"/>
            <a:r>
              <a:rPr lang="fr-FR" dirty="0" smtClean="0"/>
              <a:t>Matlab fait la différence entre les lettres majuscules et les lettre minuscules</a:t>
            </a:r>
          </a:p>
          <a:p>
            <a:r>
              <a:rPr lang="fr-FR" dirty="0" smtClean="0"/>
              <a:t>Par exemple </a:t>
            </a:r>
            <a:r>
              <a:rPr lang="fr-FR" b="1" dirty="0" smtClean="0"/>
              <a:t>G25</a:t>
            </a:r>
            <a:r>
              <a:rPr lang="fr-FR" dirty="0" smtClean="0"/>
              <a:t> et g15 sont considérées comme deux variables différentes.</a:t>
            </a:r>
            <a:endParaRPr lang="fr-FR" dirty="0"/>
          </a:p>
        </p:txBody>
      </p:sp>
      <p:sp>
        <p:nvSpPr>
          <p:cNvPr id="6" name="ZoneTexte 5"/>
          <p:cNvSpPr txBox="1"/>
          <p:nvPr/>
        </p:nvSpPr>
        <p:spPr>
          <a:xfrm>
            <a:off x="8501090" y="6286520"/>
            <a:ext cx="441146" cy="369332"/>
          </a:xfrm>
          <a:prstGeom prst="rect">
            <a:avLst/>
          </a:prstGeom>
          <a:noFill/>
        </p:spPr>
        <p:txBody>
          <a:bodyPr wrap="none" rtlCol="0">
            <a:spAutoFit/>
          </a:bodyPr>
          <a:lstStyle/>
          <a:p>
            <a:r>
              <a:rPr lang="fr-FR" dirty="0" smtClean="0"/>
              <a:t>17</a:t>
            </a:r>
            <a:endParaRPr lang="fr-FR"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357166"/>
            <a:ext cx="8643998" cy="1292662"/>
          </a:xfrm>
          <a:prstGeom prst="rect">
            <a:avLst/>
          </a:prstGeom>
          <a:noFill/>
        </p:spPr>
        <p:txBody>
          <a:bodyPr wrap="square" rtlCol="0">
            <a:spAutoFit/>
          </a:bodyPr>
          <a:lstStyle/>
          <a:p>
            <a:r>
              <a:rPr lang="fr-FR" sz="2400" b="1" u="sng" dirty="0" smtClean="0"/>
              <a:t>Variables Spéciales (prédéfinies)</a:t>
            </a:r>
          </a:p>
          <a:p>
            <a:endParaRPr lang="fr-FR" b="1" u="sng" dirty="0" smtClean="0"/>
          </a:p>
          <a:p>
            <a:r>
              <a:rPr lang="fr-FR" dirty="0" smtClean="0"/>
              <a:t>Matlab possède des variables prédéfinie, ces variables existent même si elle ne sont pas présente dans le </a:t>
            </a:r>
            <a:r>
              <a:rPr lang="fr-FR" dirty="0" err="1" smtClean="0"/>
              <a:t>workspace</a:t>
            </a:r>
            <a:r>
              <a:rPr lang="fr-FR" dirty="0" smtClean="0"/>
              <a:t> :</a:t>
            </a:r>
          </a:p>
        </p:txBody>
      </p:sp>
      <p:graphicFrame>
        <p:nvGraphicFramePr>
          <p:cNvPr id="7" name="Tableau 6"/>
          <p:cNvGraphicFramePr>
            <a:graphicFrameLocks noGrp="1"/>
          </p:cNvGraphicFramePr>
          <p:nvPr/>
        </p:nvGraphicFramePr>
        <p:xfrm>
          <a:off x="428596" y="2071678"/>
          <a:ext cx="8358246" cy="914400"/>
        </p:xfrm>
        <a:graphic>
          <a:graphicData uri="http://schemas.openxmlformats.org/drawingml/2006/table">
            <a:tbl>
              <a:tblPr firstRow="1" bandRow="1">
                <a:tableStyleId>{5C22544A-7EE6-4342-B048-85BDC9FD1C3A}</a:tableStyleId>
              </a:tblPr>
              <a:tblGrid>
                <a:gridCol w="8358246"/>
              </a:tblGrid>
              <a:tr h="785818">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pi</a:t>
                      </a:r>
                    </a:p>
                    <a:p>
                      <a:r>
                        <a:rPr lang="fr-FR" b="0" dirty="0" smtClean="0">
                          <a:solidFill>
                            <a:schemeClr val="tx1"/>
                          </a:solidFill>
                          <a:latin typeface="Consolas" pitchFamily="49" charset="0"/>
                        </a:rPr>
                        <a:t>ans =</a:t>
                      </a:r>
                      <a:r>
                        <a:rPr lang="fr-FR" b="0" baseline="0" dirty="0" smtClean="0">
                          <a:solidFill>
                            <a:schemeClr val="tx1"/>
                          </a:solidFill>
                          <a:latin typeface="Consolas" pitchFamily="49" charset="0"/>
                        </a:rPr>
                        <a:t> </a:t>
                      </a:r>
                      <a:r>
                        <a:rPr lang="fr-FR" b="0" dirty="0" smtClean="0">
                          <a:solidFill>
                            <a:schemeClr val="tx1"/>
                          </a:solidFill>
                          <a:latin typeface="Consolas" pitchFamily="49" charset="0"/>
                        </a:rPr>
                        <a:t>3.1416</a:t>
                      </a:r>
                    </a:p>
                    <a:p>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ZoneTexte 7"/>
          <p:cNvSpPr txBox="1"/>
          <p:nvPr/>
        </p:nvSpPr>
        <p:spPr>
          <a:xfrm>
            <a:off x="412241" y="1630908"/>
            <a:ext cx="1659429" cy="369332"/>
          </a:xfrm>
          <a:prstGeom prst="rect">
            <a:avLst/>
          </a:prstGeom>
          <a:noFill/>
        </p:spPr>
        <p:txBody>
          <a:bodyPr wrap="none" rtlCol="0">
            <a:spAutoFit/>
          </a:bodyPr>
          <a:lstStyle/>
          <a:p>
            <a:r>
              <a:rPr lang="fr-FR" b="1" dirty="0" smtClean="0"/>
              <a:t>La variable pi</a:t>
            </a:r>
            <a:endParaRPr lang="fr-FR" b="1" dirty="0"/>
          </a:p>
        </p:txBody>
      </p:sp>
      <p:graphicFrame>
        <p:nvGraphicFramePr>
          <p:cNvPr id="10" name="Tableau 9"/>
          <p:cNvGraphicFramePr>
            <a:graphicFrameLocks noGrp="1"/>
          </p:cNvGraphicFramePr>
          <p:nvPr/>
        </p:nvGraphicFramePr>
        <p:xfrm>
          <a:off x="428596" y="3857628"/>
          <a:ext cx="8358246" cy="714380"/>
        </p:xfrm>
        <a:graphic>
          <a:graphicData uri="http://schemas.openxmlformats.org/drawingml/2006/table">
            <a:tbl>
              <a:tblPr firstRow="1" bandRow="1">
                <a:tableStyleId>{5C22544A-7EE6-4342-B048-85BDC9FD1C3A}</a:tableStyleId>
              </a:tblPr>
              <a:tblGrid>
                <a:gridCol w="8358246"/>
              </a:tblGrid>
              <a:tr h="71438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i</a:t>
                      </a:r>
                    </a:p>
                    <a:p>
                      <a:r>
                        <a:rPr lang="fr-FR" b="0" dirty="0" smtClean="0">
                          <a:solidFill>
                            <a:schemeClr val="tx1"/>
                          </a:solidFill>
                          <a:latin typeface="Consolas" pitchFamily="49" charset="0"/>
                        </a:rPr>
                        <a:t>ans =0 + 1.0000i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1" name="ZoneTexte 10"/>
          <p:cNvSpPr txBox="1"/>
          <p:nvPr/>
        </p:nvSpPr>
        <p:spPr>
          <a:xfrm>
            <a:off x="357158" y="3131106"/>
            <a:ext cx="5577168" cy="646331"/>
          </a:xfrm>
          <a:prstGeom prst="rect">
            <a:avLst/>
          </a:prstGeom>
          <a:noFill/>
        </p:spPr>
        <p:txBody>
          <a:bodyPr wrap="none" rtlCol="0">
            <a:spAutoFit/>
          </a:bodyPr>
          <a:lstStyle/>
          <a:p>
            <a:r>
              <a:rPr lang="fr-FR" b="1" dirty="0" smtClean="0"/>
              <a:t>Les Variable i et j : </a:t>
            </a:r>
          </a:p>
          <a:p>
            <a:r>
              <a:rPr lang="fr-FR" dirty="0" smtClean="0"/>
              <a:t>Unités </a:t>
            </a:r>
            <a:r>
              <a:rPr lang="fr-FR" dirty="0" err="1" smtClean="0"/>
              <a:t>Imagainaires</a:t>
            </a:r>
            <a:r>
              <a:rPr lang="fr-FR" dirty="0" smtClean="0"/>
              <a:t> des nombres complexes. i² = -1.</a:t>
            </a:r>
            <a:endParaRPr lang="fr-FR" dirty="0"/>
          </a:p>
        </p:txBody>
      </p:sp>
      <p:graphicFrame>
        <p:nvGraphicFramePr>
          <p:cNvPr id="13" name="Tableau 12"/>
          <p:cNvGraphicFramePr>
            <a:graphicFrameLocks noGrp="1"/>
          </p:cNvGraphicFramePr>
          <p:nvPr/>
        </p:nvGraphicFramePr>
        <p:xfrm>
          <a:off x="428596" y="4714884"/>
          <a:ext cx="8358246" cy="714380"/>
        </p:xfrm>
        <a:graphic>
          <a:graphicData uri="http://schemas.openxmlformats.org/drawingml/2006/table">
            <a:tbl>
              <a:tblPr firstRow="1" bandRow="1">
                <a:tableStyleId>{5C22544A-7EE6-4342-B048-85BDC9FD1C3A}</a:tableStyleId>
              </a:tblPr>
              <a:tblGrid>
                <a:gridCol w="8358246"/>
              </a:tblGrid>
              <a:tr h="71438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j</a:t>
                      </a:r>
                    </a:p>
                    <a:p>
                      <a:r>
                        <a:rPr lang="fr-FR" b="0" dirty="0" smtClean="0">
                          <a:solidFill>
                            <a:schemeClr val="tx1"/>
                          </a:solidFill>
                          <a:latin typeface="Consolas" pitchFamily="49" charset="0"/>
                        </a:rPr>
                        <a:t>ans =0 + 1.0000i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2" name="ZoneTexte 11"/>
          <p:cNvSpPr txBox="1"/>
          <p:nvPr/>
        </p:nvSpPr>
        <p:spPr>
          <a:xfrm>
            <a:off x="8501090" y="6286520"/>
            <a:ext cx="441146" cy="369332"/>
          </a:xfrm>
          <a:prstGeom prst="rect">
            <a:avLst/>
          </a:prstGeom>
          <a:noFill/>
        </p:spPr>
        <p:txBody>
          <a:bodyPr wrap="none" rtlCol="0">
            <a:spAutoFit/>
          </a:bodyPr>
          <a:lstStyle/>
          <a:p>
            <a:r>
              <a:rPr lang="fr-FR" smtClean="0"/>
              <a:t>18</a:t>
            </a:r>
            <a:endParaRPr lang="fr-FR"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357166"/>
            <a:ext cx="8643998" cy="461665"/>
          </a:xfrm>
          <a:prstGeom prst="rect">
            <a:avLst/>
          </a:prstGeom>
          <a:noFill/>
        </p:spPr>
        <p:txBody>
          <a:bodyPr wrap="square" rtlCol="0">
            <a:spAutoFit/>
          </a:bodyPr>
          <a:lstStyle/>
          <a:p>
            <a:r>
              <a:rPr lang="fr-FR" sz="2400" b="1" u="sng" dirty="0" smtClean="0"/>
              <a:t>Variables Spéciales (prédéfinies)</a:t>
            </a:r>
          </a:p>
        </p:txBody>
      </p:sp>
      <p:sp>
        <p:nvSpPr>
          <p:cNvPr id="14" name="ZoneTexte 13"/>
          <p:cNvSpPr txBox="1"/>
          <p:nvPr/>
        </p:nvSpPr>
        <p:spPr>
          <a:xfrm>
            <a:off x="285721" y="928670"/>
            <a:ext cx="8501122" cy="1477328"/>
          </a:xfrm>
          <a:prstGeom prst="rect">
            <a:avLst/>
          </a:prstGeom>
          <a:noFill/>
        </p:spPr>
        <p:txBody>
          <a:bodyPr wrap="square" rtlCol="0">
            <a:spAutoFit/>
          </a:bodyPr>
          <a:lstStyle/>
          <a:p>
            <a:r>
              <a:rPr lang="fr-FR" dirty="0" smtClean="0"/>
              <a:t>Dans MATLAB, les variables prédéfinies sont </a:t>
            </a:r>
            <a:r>
              <a:rPr lang="fr-FR" dirty="0" err="1" smtClean="0"/>
              <a:t>réservée.Mais</a:t>
            </a:r>
            <a:r>
              <a:rPr lang="fr-FR" dirty="0" smtClean="0"/>
              <a:t>, on peut également les utiliser comme d’autres variables (entières ou réelles) si on les précise</a:t>
            </a:r>
          </a:p>
          <a:p>
            <a:endParaRPr lang="fr-FR" dirty="0" smtClean="0"/>
          </a:p>
          <a:p>
            <a:r>
              <a:rPr lang="fr-FR" dirty="0" smtClean="0"/>
              <a:t>La commande suivante créer une variable pi qui vaut </a:t>
            </a:r>
            <a:r>
              <a:rPr lang="fr-FR" b="1" dirty="0" smtClean="0"/>
              <a:t>45</a:t>
            </a:r>
            <a:r>
              <a:rPr lang="fr-FR" dirty="0" smtClean="0"/>
              <a:t> en écrasant la valeur </a:t>
            </a:r>
            <a:r>
              <a:rPr lang="fr-FR" b="1" dirty="0" smtClean="0">
                <a:latin typeface="Consolas" pitchFamily="49" charset="0"/>
              </a:rPr>
              <a:t>3.1416</a:t>
            </a:r>
            <a:endParaRPr lang="fr-FR" b="1" dirty="0"/>
          </a:p>
        </p:txBody>
      </p:sp>
      <p:graphicFrame>
        <p:nvGraphicFramePr>
          <p:cNvPr id="15" name="Tableau 14"/>
          <p:cNvGraphicFramePr>
            <a:graphicFrameLocks noGrp="1"/>
          </p:cNvGraphicFramePr>
          <p:nvPr/>
        </p:nvGraphicFramePr>
        <p:xfrm>
          <a:off x="357158" y="2571744"/>
          <a:ext cx="8358246" cy="428628"/>
        </p:xfrm>
        <a:graphic>
          <a:graphicData uri="http://schemas.openxmlformats.org/drawingml/2006/table">
            <a:tbl>
              <a:tblPr firstRow="1" bandRow="1">
                <a:tableStyleId>{5C22544A-7EE6-4342-B048-85BDC9FD1C3A}</a:tableStyleId>
              </a:tblPr>
              <a:tblGrid>
                <a:gridCol w="8358246"/>
              </a:tblGrid>
              <a:tr h="428628">
                <a:tc>
                  <a:txBody>
                    <a:bodyPr/>
                    <a:lstStyle/>
                    <a:p>
                      <a:pPr algn="l"/>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pi=45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ZoneTexte 5"/>
          <p:cNvSpPr txBox="1"/>
          <p:nvPr/>
        </p:nvSpPr>
        <p:spPr>
          <a:xfrm>
            <a:off x="8501090" y="6286520"/>
            <a:ext cx="441146" cy="369332"/>
          </a:xfrm>
          <a:prstGeom prst="rect">
            <a:avLst/>
          </a:prstGeom>
          <a:noFill/>
        </p:spPr>
        <p:txBody>
          <a:bodyPr wrap="none" rtlCol="0">
            <a:spAutoFit/>
          </a:bodyPr>
          <a:lstStyle/>
          <a:p>
            <a:r>
              <a:rPr lang="fr-FR" smtClean="0"/>
              <a:t>19</a:t>
            </a:r>
            <a:endParaRPr lang="fr-FR"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357166"/>
            <a:ext cx="8643998" cy="461665"/>
          </a:xfrm>
          <a:prstGeom prst="rect">
            <a:avLst/>
          </a:prstGeom>
          <a:noFill/>
        </p:spPr>
        <p:txBody>
          <a:bodyPr wrap="square" rtlCol="0">
            <a:spAutoFit/>
          </a:bodyPr>
          <a:lstStyle/>
          <a:p>
            <a:r>
              <a:rPr lang="fr-FR" sz="2400" b="1" u="sng" dirty="0" smtClean="0"/>
              <a:t>La Commande </a:t>
            </a:r>
            <a:r>
              <a:rPr lang="fr-FR" sz="2400" b="1" u="sng" dirty="0" err="1" smtClean="0">
                <a:latin typeface="Consolas" pitchFamily="49" charset="0"/>
              </a:rPr>
              <a:t>clear</a:t>
            </a:r>
            <a:endParaRPr lang="fr-FR" sz="2400" b="1" u="sng" dirty="0" smtClean="0">
              <a:latin typeface="Consolas" pitchFamily="49" charset="0"/>
            </a:endParaRPr>
          </a:p>
        </p:txBody>
      </p:sp>
      <p:sp>
        <p:nvSpPr>
          <p:cNvPr id="14" name="ZoneTexte 13"/>
          <p:cNvSpPr txBox="1"/>
          <p:nvPr/>
        </p:nvSpPr>
        <p:spPr>
          <a:xfrm>
            <a:off x="285721" y="928670"/>
            <a:ext cx="8501122" cy="646331"/>
          </a:xfrm>
          <a:prstGeom prst="rect">
            <a:avLst/>
          </a:prstGeom>
          <a:noFill/>
        </p:spPr>
        <p:txBody>
          <a:bodyPr wrap="square" rtlCol="0">
            <a:spAutoFit/>
          </a:bodyPr>
          <a:lstStyle/>
          <a:p>
            <a:r>
              <a:rPr lang="fr-FR" dirty="0" smtClean="0"/>
              <a:t>La commande </a:t>
            </a:r>
            <a:r>
              <a:rPr lang="fr-FR" b="1" dirty="0" err="1" smtClean="0"/>
              <a:t>clear</a:t>
            </a:r>
            <a:r>
              <a:rPr lang="fr-FR" dirty="0" smtClean="0"/>
              <a:t> permet de supprimer une variable plusieurs variables ou toutes les variables du </a:t>
            </a:r>
            <a:r>
              <a:rPr lang="fr-FR" dirty="0" err="1" smtClean="0"/>
              <a:t>workspace</a:t>
            </a:r>
            <a:r>
              <a:rPr lang="fr-FR" dirty="0" smtClean="0"/>
              <a:t>.</a:t>
            </a:r>
            <a:endParaRPr lang="fr-FR" b="1" dirty="0"/>
          </a:p>
        </p:txBody>
      </p:sp>
      <p:graphicFrame>
        <p:nvGraphicFramePr>
          <p:cNvPr id="6" name="Tableau 5"/>
          <p:cNvGraphicFramePr>
            <a:graphicFrameLocks noGrp="1"/>
          </p:cNvGraphicFramePr>
          <p:nvPr/>
        </p:nvGraphicFramePr>
        <p:xfrm>
          <a:off x="357158" y="2000240"/>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a=45 ; b=</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rPr>
                        <a:t>bonjour</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rPr>
                        <a:t> ; c=a+5i ; d=</a:t>
                      </a:r>
                      <a:r>
                        <a:rPr lang="fr-FR" b="0" baseline="0" dirty="0" err="1" smtClean="0">
                          <a:solidFill>
                            <a:schemeClr val="tx1"/>
                          </a:solidFill>
                          <a:latin typeface="Consolas" pitchFamily="49" charset="0"/>
                        </a:rPr>
                        <a:t>true</a:t>
                      </a:r>
                      <a:r>
                        <a:rPr lang="fr-FR" b="0" baseline="0" dirty="0" smtClean="0">
                          <a:solidFill>
                            <a:schemeClr val="tx1"/>
                          </a:solidFill>
                          <a:latin typeface="Consolas" pitchFamily="49" charset="0"/>
                        </a:rPr>
                        <a:t>; e = 12.5</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pic>
        <p:nvPicPr>
          <p:cNvPr id="17410" name="Picture 2"/>
          <p:cNvPicPr>
            <a:picLocks noChangeAspect="1" noChangeArrowheads="1"/>
          </p:cNvPicPr>
          <p:nvPr/>
        </p:nvPicPr>
        <p:blipFill>
          <a:blip r:embed="rId3" cstate="print"/>
          <a:srcRect/>
          <a:stretch>
            <a:fillRect/>
          </a:stretch>
        </p:blipFill>
        <p:spPr bwMode="auto">
          <a:xfrm>
            <a:off x="3214678" y="2857496"/>
            <a:ext cx="3182627" cy="2214578"/>
          </a:xfrm>
          <a:prstGeom prst="rect">
            <a:avLst/>
          </a:prstGeom>
          <a:noFill/>
          <a:ln w="9525">
            <a:noFill/>
            <a:miter lim="800000"/>
            <a:headEnd/>
            <a:tailEnd/>
          </a:ln>
          <a:effectLst/>
        </p:spPr>
      </p:pic>
      <p:sp>
        <p:nvSpPr>
          <p:cNvPr id="7" name="ZoneTexte 6"/>
          <p:cNvSpPr txBox="1"/>
          <p:nvPr/>
        </p:nvSpPr>
        <p:spPr>
          <a:xfrm>
            <a:off x="8501090" y="6286520"/>
            <a:ext cx="441146" cy="369332"/>
          </a:xfrm>
          <a:prstGeom prst="rect">
            <a:avLst/>
          </a:prstGeom>
          <a:noFill/>
        </p:spPr>
        <p:txBody>
          <a:bodyPr wrap="none" rtlCol="0">
            <a:spAutoFit/>
          </a:bodyPr>
          <a:lstStyle/>
          <a:p>
            <a:r>
              <a:rPr lang="fr-FR" dirty="0" smtClean="0"/>
              <a:t>20</a:t>
            </a:r>
            <a:endParaRPr lang="fr-FR"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357166"/>
            <a:ext cx="8643998" cy="461665"/>
          </a:xfrm>
          <a:prstGeom prst="rect">
            <a:avLst/>
          </a:prstGeom>
          <a:noFill/>
        </p:spPr>
        <p:txBody>
          <a:bodyPr wrap="square" rtlCol="0">
            <a:spAutoFit/>
          </a:bodyPr>
          <a:lstStyle/>
          <a:p>
            <a:r>
              <a:rPr lang="fr-FR" sz="2400" b="1" u="sng" dirty="0" smtClean="0"/>
              <a:t>La Commande </a:t>
            </a:r>
            <a:r>
              <a:rPr lang="fr-FR" sz="2400" b="1" u="sng" dirty="0" err="1" smtClean="0"/>
              <a:t>clear</a:t>
            </a:r>
            <a:endParaRPr lang="fr-FR" sz="2400" b="1" u="sng" dirty="0" smtClean="0"/>
          </a:p>
        </p:txBody>
      </p:sp>
      <p:pic>
        <p:nvPicPr>
          <p:cNvPr id="17410" name="Picture 2"/>
          <p:cNvPicPr>
            <a:picLocks noChangeAspect="1" noChangeArrowheads="1"/>
          </p:cNvPicPr>
          <p:nvPr/>
        </p:nvPicPr>
        <p:blipFill>
          <a:blip r:embed="rId3" cstate="print"/>
          <a:srcRect/>
          <a:stretch>
            <a:fillRect/>
          </a:stretch>
        </p:blipFill>
        <p:spPr bwMode="auto">
          <a:xfrm>
            <a:off x="3286116" y="1071546"/>
            <a:ext cx="2566635" cy="1785950"/>
          </a:xfrm>
          <a:prstGeom prst="rect">
            <a:avLst/>
          </a:prstGeom>
          <a:noFill/>
          <a:ln w="9525">
            <a:noFill/>
            <a:miter lim="800000"/>
            <a:headEnd/>
            <a:tailEnd/>
          </a:ln>
          <a:effectLst/>
        </p:spPr>
      </p:pic>
      <p:sp>
        <p:nvSpPr>
          <p:cNvPr id="10" name="ZoneTexte 9"/>
          <p:cNvSpPr txBox="1"/>
          <p:nvPr/>
        </p:nvSpPr>
        <p:spPr>
          <a:xfrm>
            <a:off x="285720" y="2915284"/>
            <a:ext cx="2890535" cy="369332"/>
          </a:xfrm>
          <a:prstGeom prst="rect">
            <a:avLst/>
          </a:prstGeom>
          <a:noFill/>
        </p:spPr>
        <p:txBody>
          <a:bodyPr wrap="none" rtlCol="0">
            <a:spAutoFit/>
          </a:bodyPr>
          <a:lstStyle/>
          <a:p>
            <a:r>
              <a:rPr lang="fr-FR" b="1" dirty="0" smtClean="0"/>
              <a:t>Supprimer une variable :</a:t>
            </a:r>
          </a:p>
        </p:txBody>
      </p:sp>
      <p:graphicFrame>
        <p:nvGraphicFramePr>
          <p:cNvPr id="11" name="Tableau 10"/>
          <p:cNvGraphicFramePr>
            <a:graphicFrameLocks noGrp="1"/>
          </p:cNvGraphicFramePr>
          <p:nvPr/>
        </p:nvGraphicFramePr>
        <p:xfrm>
          <a:off x="428596" y="3272474"/>
          <a:ext cx="7858180" cy="370840"/>
        </p:xfrm>
        <a:graphic>
          <a:graphicData uri="http://schemas.openxmlformats.org/drawingml/2006/table">
            <a:tbl>
              <a:tblPr firstRow="1" bandRow="1">
                <a:tableStyleId>{5C22544A-7EE6-4342-B048-85BDC9FD1C3A}</a:tableStyleId>
              </a:tblPr>
              <a:tblGrid>
                <a:gridCol w="7858180"/>
              </a:tblGrid>
              <a:tr h="370840">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err="1" smtClean="0">
                          <a:solidFill>
                            <a:schemeClr val="tx1"/>
                          </a:solidFill>
                          <a:latin typeface="Consolas" pitchFamily="49" charset="0"/>
                        </a:rPr>
                        <a:t>clear</a:t>
                      </a:r>
                      <a:r>
                        <a:rPr lang="fr-FR" b="0" baseline="0" dirty="0" smtClean="0">
                          <a:solidFill>
                            <a:schemeClr val="tx1"/>
                          </a:solidFill>
                          <a:latin typeface="Consolas" pitchFamily="49" charset="0"/>
                        </a:rPr>
                        <a:t> a</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5" name="ZoneTexte 14"/>
          <p:cNvSpPr txBox="1"/>
          <p:nvPr/>
        </p:nvSpPr>
        <p:spPr>
          <a:xfrm>
            <a:off x="857224" y="5072074"/>
            <a:ext cx="2322111" cy="369332"/>
          </a:xfrm>
          <a:prstGeom prst="rect">
            <a:avLst/>
          </a:prstGeom>
          <a:noFill/>
        </p:spPr>
        <p:txBody>
          <a:bodyPr wrap="none" rtlCol="0">
            <a:spAutoFit/>
          </a:bodyPr>
          <a:lstStyle/>
          <a:p>
            <a:r>
              <a:rPr lang="fr-FR" dirty="0" smtClean="0"/>
              <a:t>Nouveau </a:t>
            </a:r>
            <a:r>
              <a:rPr lang="fr-FR" dirty="0" err="1" smtClean="0"/>
              <a:t>Workspace</a:t>
            </a:r>
            <a:endParaRPr lang="fr-FR" dirty="0"/>
          </a:p>
        </p:txBody>
      </p:sp>
      <p:pic>
        <p:nvPicPr>
          <p:cNvPr id="18434" name="Picture 2"/>
          <p:cNvPicPr>
            <a:picLocks noChangeAspect="1" noChangeArrowheads="1"/>
          </p:cNvPicPr>
          <p:nvPr/>
        </p:nvPicPr>
        <p:blipFill>
          <a:blip r:embed="rId4" cstate="print"/>
          <a:srcRect/>
          <a:stretch>
            <a:fillRect/>
          </a:stretch>
        </p:blipFill>
        <p:spPr bwMode="auto">
          <a:xfrm>
            <a:off x="3214678" y="4429132"/>
            <a:ext cx="2691844" cy="1643074"/>
          </a:xfrm>
          <a:prstGeom prst="rect">
            <a:avLst/>
          </a:prstGeom>
          <a:noFill/>
          <a:ln w="9525">
            <a:noFill/>
            <a:miter lim="800000"/>
            <a:headEnd/>
            <a:tailEnd/>
          </a:ln>
          <a:effectLst/>
        </p:spPr>
      </p:pic>
      <p:sp>
        <p:nvSpPr>
          <p:cNvPr id="12" name="ZoneTexte 11"/>
          <p:cNvSpPr txBox="1"/>
          <p:nvPr/>
        </p:nvSpPr>
        <p:spPr>
          <a:xfrm>
            <a:off x="8501090" y="6286520"/>
            <a:ext cx="441146" cy="369332"/>
          </a:xfrm>
          <a:prstGeom prst="rect">
            <a:avLst/>
          </a:prstGeom>
          <a:noFill/>
        </p:spPr>
        <p:txBody>
          <a:bodyPr wrap="none" rtlCol="0">
            <a:spAutoFit/>
          </a:bodyPr>
          <a:lstStyle/>
          <a:p>
            <a:r>
              <a:rPr lang="fr-FR" dirty="0" smtClean="0"/>
              <a:t>21</a:t>
            </a:r>
            <a:endParaRPr lang="fr-FR"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357166"/>
            <a:ext cx="8643998" cy="461665"/>
          </a:xfrm>
          <a:prstGeom prst="rect">
            <a:avLst/>
          </a:prstGeom>
          <a:noFill/>
        </p:spPr>
        <p:txBody>
          <a:bodyPr wrap="square" rtlCol="0">
            <a:spAutoFit/>
          </a:bodyPr>
          <a:lstStyle/>
          <a:p>
            <a:r>
              <a:rPr lang="fr-FR" sz="2400" b="1" u="sng" dirty="0" smtClean="0"/>
              <a:t>La Commande </a:t>
            </a:r>
            <a:r>
              <a:rPr lang="fr-FR" sz="2400" b="1" u="sng" dirty="0" err="1" smtClean="0"/>
              <a:t>clear</a:t>
            </a:r>
            <a:endParaRPr lang="fr-FR" sz="2400" b="1" u="sng" dirty="0" smtClean="0"/>
          </a:p>
        </p:txBody>
      </p:sp>
      <p:sp>
        <p:nvSpPr>
          <p:cNvPr id="10" name="ZoneTexte 9"/>
          <p:cNvSpPr txBox="1"/>
          <p:nvPr/>
        </p:nvSpPr>
        <p:spPr>
          <a:xfrm>
            <a:off x="285720" y="2915284"/>
            <a:ext cx="3634328" cy="369332"/>
          </a:xfrm>
          <a:prstGeom prst="rect">
            <a:avLst/>
          </a:prstGeom>
          <a:noFill/>
        </p:spPr>
        <p:txBody>
          <a:bodyPr wrap="none" rtlCol="0">
            <a:spAutoFit/>
          </a:bodyPr>
          <a:lstStyle/>
          <a:p>
            <a:r>
              <a:rPr lang="fr-FR" b="1" dirty="0" smtClean="0"/>
              <a:t>Supprimer plusieurs variables :</a:t>
            </a:r>
          </a:p>
        </p:txBody>
      </p:sp>
      <p:graphicFrame>
        <p:nvGraphicFramePr>
          <p:cNvPr id="11" name="Tableau 10"/>
          <p:cNvGraphicFramePr>
            <a:graphicFrameLocks noGrp="1"/>
          </p:cNvGraphicFramePr>
          <p:nvPr/>
        </p:nvGraphicFramePr>
        <p:xfrm>
          <a:off x="428596" y="3415350"/>
          <a:ext cx="7858180" cy="370840"/>
        </p:xfrm>
        <a:graphic>
          <a:graphicData uri="http://schemas.openxmlformats.org/drawingml/2006/table">
            <a:tbl>
              <a:tblPr firstRow="1" bandRow="1">
                <a:tableStyleId>{5C22544A-7EE6-4342-B048-85BDC9FD1C3A}</a:tableStyleId>
              </a:tblPr>
              <a:tblGrid>
                <a:gridCol w="7858180"/>
              </a:tblGrid>
              <a:tr h="370840">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err="1" smtClean="0">
                          <a:solidFill>
                            <a:schemeClr val="tx1"/>
                          </a:solidFill>
                          <a:latin typeface="Consolas" pitchFamily="49" charset="0"/>
                        </a:rPr>
                        <a:t>clear</a:t>
                      </a:r>
                      <a:r>
                        <a:rPr lang="fr-FR" b="0" baseline="0" dirty="0" smtClean="0">
                          <a:solidFill>
                            <a:schemeClr val="tx1"/>
                          </a:solidFill>
                          <a:latin typeface="Consolas" pitchFamily="49" charset="0"/>
                        </a:rPr>
                        <a:t> c e</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5" name="ZoneTexte 14"/>
          <p:cNvSpPr txBox="1"/>
          <p:nvPr/>
        </p:nvSpPr>
        <p:spPr>
          <a:xfrm>
            <a:off x="642910" y="5143512"/>
            <a:ext cx="2322111" cy="369332"/>
          </a:xfrm>
          <a:prstGeom prst="rect">
            <a:avLst/>
          </a:prstGeom>
          <a:noFill/>
        </p:spPr>
        <p:txBody>
          <a:bodyPr wrap="none" rtlCol="0">
            <a:spAutoFit/>
          </a:bodyPr>
          <a:lstStyle/>
          <a:p>
            <a:r>
              <a:rPr lang="fr-FR" dirty="0" smtClean="0"/>
              <a:t>Nouveau </a:t>
            </a:r>
            <a:r>
              <a:rPr lang="fr-FR" dirty="0" err="1" smtClean="0"/>
              <a:t>Workspace</a:t>
            </a:r>
            <a:endParaRPr lang="fr-FR" dirty="0"/>
          </a:p>
        </p:txBody>
      </p:sp>
      <p:pic>
        <p:nvPicPr>
          <p:cNvPr id="18434" name="Picture 2"/>
          <p:cNvPicPr>
            <a:picLocks noChangeAspect="1" noChangeArrowheads="1"/>
          </p:cNvPicPr>
          <p:nvPr/>
        </p:nvPicPr>
        <p:blipFill>
          <a:blip r:embed="rId3" cstate="print"/>
          <a:srcRect/>
          <a:stretch>
            <a:fillRect/>
          </a:stretch>
        </p:blipFill>
        <p:spPr bwMode="auto">
          <a:xfrm>
            <a:off x="3071802" y="928670"/>
            <a:ext cx="2691844" cy="1643074"/>
          </a:xfrm>
          <a:prstGeom prst="rect">
            <a:avLst/>
          </a:prstGeom>
          <a:noFill/>
          <a:ln w="9525">
            <a:noFill/>
            <a:miter lim="800000"/>
            <a:headEnd/>
            <a:tailEnd/>
          </a:ln>
          <a:effectLst/>
        </p:spPr>
      </p:pic>
      <p:pic>
        <p:nvPicPr>
          <p:cNvPr id="19458" name="Picture 2"/>
          <p:cNvPicPr>
            <a:picLocks noChangeAspect="1" noChangeArrowheads="1"/>
          </p:cNvPicPr>
          <p:nvPr/>
        </p:nvPicPr>
        <p:blipFill>
          <a:blip r:embed="rId4" cstate="print"/>
          <a:srcRect/>
          <a:stretch>
            <a:fillRect/>
          </a:stretch>
        </p:blipFill>
        <p:spPr bwMode="auto">
          <a:xfrm>
            <a:off x="3071802" y="4500570"/>
            <a:ext cx="2595995" cy="1500198"/>
          </a:xfrm>
          <a:prstGeom prst="rect">
            <a:avLst/>
          </a:prstGeom>
          <a:noFill/>
          <a:ln w="9525">
            <a:noFill/>
            <a:miter lim="800000"/>
            <a:headEnd/>
            <a:tailEnd/>
          </a:ln>
          <a:effectLst/>
        </p:spPr>
      </p:pic>
      <p:sp>
        <p:nvSpPr>
          <p:cNvPr id="12" name="ZoneTexte 11"/>
          <p:cNvSpPr txBox="1"/>
          <p:nvPr/>
        </p:nvSpPr>
        <p:spPr>
          <a:xfrm>
            <a:off x="8501090" y="6286520"/>
            <a:ext cx="441146" cy="369332"/>
          </a:xfrm>
          <a:prstGeom prst="rect">
            <a:avLst/>
          </a:prstGeom>
          <a:noFill/>
        </p:spPr>
        <p:txBody>
          <a:bodyPr wrap="none" rtlCol="0">
            <a:spAutoFit/>
          </a:bodyPr>
          <a:lstStyle/>
          <a:p>
            <a:r>
              <a:rPr lang="fr-FR" dirty="0" smtClean="0"/>
              <a:t>22</a:t>
            </a:r>
            <a:endParaRPr lang="fr-FR"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357166"/>
            <a:ext cx="8643998" cy="461665"/>
          </a:xfrm>
          <a:prstGeom prst="rect">
            <a:avLst/>
          </a:prstGeom>
          <a:noFill/>
        </p:spPr>
        <p:txBody>
          <a:bodyPr wrap="square" rtlCol="0">
            <a:spAutoFit/>
          </a:bodyPr>
          <a:lstStyle/>
          <a:p>
            <a:r>
              <a:rPr lang="fr-FR" sz="2400" b="1" u="sng" dirty="0" smtClean="0"/>
              <a:t>La Commande </a:t>
            </a:r>
            <a:r>
              <a:rPr lang="fr-FR" sz="2400" b="1" u="sng" dirty="0" err="1" smtClean="0"/>
              <a:t>clear</a:t>
            </a:r>
            <a:endParaRPr lang="fr-FR" sz="2400" b="1" u="sng" dirty="0" smtClean="0"/>
          </a:p>
        </p:txBody>
      </p:sp>
      <p:sp>
        <p:nvSpPr>
          <p:cNvPr id="10" name="ZoneTexte 9"/>
          <p:cNvSpPr txBox="1"/>
          <p:nvPr/>
        </p:nvSpPr>
        <p:spPr>
          <a:xfrm>
            <a:off x="285720" y="2915284"/>
            <a:ext cx="3685624" cy="369332"/>
          </a:xfrm>
          <a:prstGeom prst="rect">
            <a:avLst/>
          </a:prstGeom>
          <a:noFill/>
        </p:spPr>
        <p:txBody>
          <a:bodyPr wrap="none" rtlCol="0">
            <a:spAutoFit/>
          </a:bodyPr>
          <a:lstStyle/>
          <a:p>
            <a:r>
              <a:rPr lang="fr-FR" b="1" dirty="0" smtClean="0"/>
              <a:t>Supprimer toutes les variables :</a:t>
            </a:r>
          </a:p>
        </p:txBody>
      </p:sp>
      <p:graphicFrame>
        <p:nvGraphicFramePr>
          <p:cNvPr id="11" name="Tableau 10"/>
          <p:cNvGraphicFramePr>
            <a:graphicFrameLocks noGrp="1"/>
          </p:cNvGraphicFramePr>
          <p:nvPr/>
        </p:nvGraphicFramePr>
        <p:xfrm>
          <a:off x="428596" y="3415350"/>
          <a:ext cx="7858180" cy="370840"/>
        </p:xfrm>
        <a:graphic>
          <a:graphicData uri="http://schemas.openxmlformats.org/drawingml/2006/table">
            <a:tbl>
              <a:tblPr firstRow="1" bandRow="1">
                <a:tableStyleId>{5C22544A-7EE6-4342-B048-85BDC9FD1C3A}</a:tableStyleId>
              </a:tblPr>
              <a:tblGrid>
                <a:gridCol w="7858180"/>
              </a:tblGrid>
              <a:tr h="370840">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err="1" smtClean="0">
                          <a:solidFill>
                            <a:schemeClr val="tx1"/>
                          </a:solidFill>
                          <a:latin typeface="Consolas" pitchFamily="49" charset="0"/>
                        </a:rPr>
                        <a:t>clear</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5" name="ZoneTexte 14"/>
          <p:cNvSpPr txBox="1"/>
          <p:nvPr/>
        </p:nvSpPr>
        <p:spPr>
          <a:xfrm>
            <a:off x="785786" y="5143512"/>
            <a:ext cx="2195922" cy="338554"/>
          </a:xfrm>
          <a:prstGeom prst="rect">
            <a:avLst/>
          </a:prstGeom>
          <a:noFill/>
        </p:spPr>
        <p:txBody>
          <a:bodyPr wrap="none" rtlCol="0">
            <a:spAutoFit/>
          </a:bodyPr>
          <a:lstStyle/>
          <a:p>
            <a:r>
              <a:rPr lang="fr-FR" sz="1600" b="1" dirty="0" smtClean="0"/>
              <a:t>Nouveau </a:t>
            </a:r>
            <a:r>
              <a:rPr lang="fr-FR" sz="1600" b="1" dirty="0" err="1" smtClean="0"/>
              <a:t>Workspace</a:t>
            </a:r>
            <a:endParaRPr lang="fr-FR" sz="1600" b="1" dirty="0"/>
          </a:p>
        </p:txBody>
      </p:sp>
      <p:pic>
        <p:nvPicPr>
          <p:cNvPr id="12" name="Picture 2"/>
          <p:cNvPicPr>
            <a:picLocks noChangeAspect="1" noChangeArrowheads="1"/>
          </p:cNvPicPr>
          <p:nvPr/>
        </p:nvPicPr>
        <p:blipFill>
          <a:blip r:embed="rId3" cstate="print"/>
          <a:srcRect/>
          <a:stretch>
            <a:fillRect/>
          </a:stretch>
        </p:blipFill>
        <p:spPr bwMode="auto">
          <a:xfrm>
            <a:off x="3428992" y="1071546"/>
            <a:ext cx="2595995" cy="1500198"/>
          </a:xfrm>
          <a:prstGeom prst="rect">
            <a:avLst/>
          </a:prstGeom>
          <a:noFill/>
          <a:ln w="9525">
            <a:noFill/>
            <a:miter lim="800000"/>
            <a:headEnd/>
            <a:tailEnd/>
          </a:ln>
          <a:effectLst/>
        </p:spPr>
      </p:pic>
      <p:pic>
        <p:nvPicPr>
          <p:cNvPr id="20482" name="Picture 2"/>
          <p:cNvPicPr>
            <a:picLocks noChangeAspect="1" noChangeArrowheads="1"/>
          </p:cNvPicPr>
          <p:nvPr/>
        </p:nvPicPr>
        <p:blipFill>
          <a:blip r:embed="rId4" cstate="print"/>
          <a:srcRect/>
          <a:stretch>
            <a:fillRect/>
          </a:stretch>
        </p:blipFill>
        <p:spPr bwMode="auto">
          <a:xfrm>
            <a:off x="3357554" y="4643446"/>
            <a:ext cx="2524125" cy="1181100"/>
          </a:xfrm>
          <a:prstGeom prst="rect">
            <a:avLst/>
          </a:prstGeom>
          <a:noFill/>
          <a:ln w="9525">
            <a:noFill/>
            <a:miter lim="800000"/>
            <a:headEnd/>
            <a:tailEnd/>
          </a:ln>
          <a:effectLst/>
        </p:spPr>
      </p:pic>
      <p:sp>
        <p:nvSpPr>
          <p:cNvPr id="13" name="ZoneTexte 12"/>
          <p:cNvSpPr txBox="1"/>
          <p:nvPr/>
        </p:nvSpPr>
        <p:spPr>
          <a:xfrm>
            <a:off x="8501090" y="6286520"/>
            <a:ext cx="441146" cy="369332"/>
          </a:xfrm>
          <a:prstGeom prst="rect">
            <a:avLst/>
          </a:prstGeom>
          <a:noFill/>
        </p:spPr>
        <p:txBody>
          <a:bodyPr wrap="none" rtlCol="0">
            <a:spAutoFit/>
          </a:bodyPr>
          <a:lstStyle/>
          <a:p>
            <a:r>
              <a:rPr lang="fr-FR" dirty="0" smtClean="0"/>
              <a:t>23</a:t>
            </a:r>
            <a:endParaRPr lang="fr-FR"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357166"/>
            <a:ext cx="8643998" cy="461665"/>
          </a:xfrm>
          <a:prstGeom prst="rect">
            <a:avLst/>
          </a:prstGeom>
          <a:noFill/>
        </p:spPr>
        <p:txBody>
          <a:bodyPr wrap="square" rtlCol="0">
            <a:spAutoFit/>
          </a:bodyPr>
          <a:lstStyle/>
          <a:p>
            <a:r>
              <a:rPr lang="fr-FR" sz="2400" b="1" u="sng" dirty="0" smtClean="0"/>
              <a:t>La Commande </a:t>
            </a:r>
            <a:r>
              <a:rPr lang="fr-FR" sz="2400" b="1" u="sng" dirty="0" err="1" smtClean="0"/>
              <a:t>who</a:t>
            </a:r>
            <a:endParaRPr lang="fr-FR" sz="2400" b="1" u="sng" dirty="0" smtClean="0"/>
          </a:p>
        </p:txBody>
      </p:sp>
      <p:sp>
        <p:nvSpPr>
          <p:cNvPr id="14" name="ZoneTexte 13"/>
          <p:cNvSpPr txBox="1"/>
          <p:nvPr/>
        </p:nvSpPr>
        <p:spPr>
          <a:xfrm>
            <a:off x="285721" y="928670"/>
            <a:ext cx="8501122" cy="646331"/>
          </a:xfrm>
          <a:prstGeom prst="rect">
            <a:avLst/>
          </a:prstGeom>
          <a:noFill/>
        </p:spPr>
        <p:txBody>
          <a:bodyPr wrap="square" rtlCol="0">
            <a:spAutoFit/>
          </a:bodyPr>
          <a:lstStyle/>
          <a:p>
            <a:r>
              <a:rPr lang="fr-FR" dirty="0" smtClean="0"/>
              <a:t>La commande </a:t>
            </a:r>
            <a:r>
              <a:rPr lang="fr-FR" b="1" dirty="0" err="1" smtClean="0"/>
              <a:t>who</a:t>
            </a:r>
            <a:r>
              <a:rPr lang="fr-FR" dirty="0" smtClean="0"/>
              <a:t> permet d’afficher la liste des variables présentes dans le </a:t>
            </a:r>
            <a:r>
              <a:rPr lang="fr-FR" dirty="0" err="1" smtClean="0"/>
              <a:t>workspace</a:t>
            </a:r>
            <a:r>
              <a:rPr lang="fr-FR" dirty="0" smtClean="0"/>
              <a:t>.</a:t>
            </a:r>
            <a:endParaRPr lang="fr-FR" b="1" dirty="0"/>
          </a:p>
        </p:txBody>
      </p:sp>
      <p:graphicFrame>
        <p:nvGraphicFramePr>
          <p:cNvPr id="6" name="Tableau 5"/>
          <p:cNvGraphicFramePr>
            <a:graphicFrameLocks noGrp="1"/>
          </p:cNvGraphicFramePr>
          <p:nvPr/>
        </p:nvGraphicFramePr>
        <p:xfrm>
          <a:off x="357158" y="1643050"/>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0" dirty="0" smtClean="0">
                          <a:solidFill>
                            <a:schemeClr val="tx1"/>
                          </a:solidFill>
                          <a:latin typeface="Consolas" pitchFamily="49" charset="0"/>
                        </a:rPr>
                        <a:t>&gt;&gt;</a:t>
                      </a:r>
                      <a:r>
                        <a:rPr lang="fr-FR" b="0" baseline="0" dirty="0" smtClean="0">
                          <a:solidFill>
                            <a:schemeClr val="tx1"/>
                          </a:solidFill>
                          <a:latin typeface="Consolas" pitchFamily="49" charset="0"/>
                        </a:rPr>
                        <a:t> a=45 ; b=</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rPr>
                        <a:t>bonjour</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rPr>
                        <a:t> ; c=a+5i ; d=</a:t>
                      </a:r>
                      <a:r>
                        <a:rPr lang="fr-FR" b="0" baseline="0" dirty="0" err="1" smtClean="0">
                          <a:solidFill>
                            <a:schemeClr val="tx1"/>
                          </a:solidFill>
                          <a:latin typeface="Consolas" pitchFamily="49" charset="0"/>
                        </a:rPr>
                        <a:t>true</a:t>
                      </a:r>
                      <a:r>
                        <a:rPr lang="fr-FR" b="0" baseline="0" dirty="0" smtClean="0">
                          <a:solidFill>
                            <a:schemeClr val="tx1"/>
                          </a:solidFill>
                          <a:latin typeface="Consolas" pitchFamily="49" charset="0"/>
                        </a:rPr>
                        <a:t>; e = 12.5;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7" name="Tableau 6"/>
          <p:cNvGraphicFramePr>
            <a:graphicFrameLocks noGrp="1"/>
          </p:cNvGraphicFramePr>
          <p:nvPr/>
        </p:nvGraphicFramePr>
        <p:xfrm>
          <a:off x="357158" y="2214554"/>
          <a:ext cx="8358246" cy="118872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a:t>
                      </a:r>
                      <a:r>
                        <a:rPr lang="fr-FR" b="0" baseline="0" dirty="0" err="1" smtClean="0">
                          <a:solidFill>
                            <a:schemeClr val="tx1"/>
                          </a:solidFill>
                          <a:latin typeface="Consolas" pitchFamily="49" charset="0"/>
                        </a:rPr>
                        <a:t>who</a:t>
                      </a:r>
                      <a:endParaRPr lang="fr-FR" b="0" baseline="0" dirty="0" smtClean="0">
                        <a:solidFill>
                          <a:schemeClr val="tx1"/>
                        </a:solidFill>
                        <a:latin typeface="Consolas" pitchFamily="49" charset="0"/>
                      </a:endParaRPr>
                    </a:p>
                    <a:p>
                      <a:r>
                        <a:rPr lang="en-US" b="1" baseline="0" dirty="0" smtClean="0">
                          <a:solidFill>
                            <a:schemeClr val="tx1"/>
                          </a:solidFill>
                          <a:latin typeface="Consolas" pitchFamily="49" charset="0"/>
                        </a:rPr>
                        <a:t>Your variables are:</a:t>
                      </a:r>
                    </a:p>
                    <a:p>
                      <a:endParaRPr lang="en-US" b="1" baseline="0" dirty="0" smtClean="0">
                        <a:solidFill>
                          <a:schemeClr val="tx1"/>
                        </a:solidFill>
                        <a:latin typeface="Consolas" pitchFamily="49" charset="0"/>
                      </a:endParaRPr>
                    </a:p>
                    <a:p>
                      <a:r>
                        <a:rPr lang="en-US" b="1" baseline="0" dirty="0" smtClean="0">
                          <a:solidFill>
                            <a:schemeClr val="tx1"/>
                          </a:solidFill>
                          <a:latin typeface="Consolas" pitchFamily="49" charset="0"/>
                        </a:rPr>
                        <a:t>a  b  c  d  e </a:t>
                      </a:r>
                      <a:endParaRPr lang="fr-FR" b="1" baseline="0" dirty="0" smtClean="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ZoneTexte 7"/>
          <p:cNvSpPr txBox="1"/>
          <p:nvPr/>
        </p:nvSpPr>
        <p:spPr>
          <a:xfrm>
            <a:off x="357158" y="3643314"/>
            <a:ext cx="8501122" cy="369332"/>
          </a:xfrm>
          <a:prstGeom prst="rect">
            <a:avLst/>
          </a:prstGeom>
          <a:noFill/>
        </p:spPr>
        <p:txBody>
          <a:bodyPr wrap="square" rtlCol="0">
            <a:spAutoFit/>
          </a:bodyPr>
          <a:lstStyle/>
          <a:p>
            <a:r>
              <a:rPr lang="fr-FR" dirty="0" smtClean="0"/>
              <a:t>Pour afficher la valeur d’une variable, il suffit de taper son nom (id)</a:t>
            </a:r>
            <a:endParaRPr lang="fr-FR" b="1" dirty="0"/>
          </a:p>
        </p:txBody>
      </p:sp>
      <p:graphicFrame>
        <p:nvGraphicFramePr>
          <p:cNvPr id="10" name="Tableau 9"/>
          <p:cNvGraphicFramePr>
            <a:graphicFrameLocks noGrp="1"/>
          </p:cNvGraphicFramePr>
          <p:nvPr/>
        </p:nvGraphicFramePr>
        <p:xfrm>
          <a:off x="357158" y="4214818"/>
          <a:ext cx="8358246" cy="64008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b</a:t>
                      </a:r>
                    </a:p>
                    <a:p>
                      <a:r>
                        <a:rPr lang="fr-FR" b="1" baseline="0" dirty="0" smtClean="0">
                          <a:solidFill>
                            <a:schemeClr val="tx1"/>
                          </a:solidFill>
                          <a:latin typeface="Consolas" pitchFamily="49" charset="0"/>
                        </a:rPr>
                        <a:t>b = bonjour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1" name="ZoneTexte 10"/>
          <p:cNvSpPr txBox="1"/>
          <p:nvPr/>
        </p:nvSpPr>
        <p:spPr>
          <a:xfrm>
            <a:off x="8501090" y="6286520"/>
            <a:ext cx="441146" cy="369332"/>
          </a:xfrm>
          <a:prstGeom prst="rect">
            <a:avLst/>
          </a:prstGeom>
          <a:noFill/>
        </p:spPr>
        <p:txBody>
          <a:bodyPr wrap="none" rtlCol="0">
            <a:spAutoFit/>
          </a:bodyPr>
          <a:lstStyle/>
          <a:p>
            <a:r>
              <a:rPr lang="fr-FR" dirty="0" smtClean="0"/>
              <a:t>24</a:t>
            </a:r>
            <a:endParaRPr lang="fr-FR"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357166"/>
            <a:ext cx="8643998" cy="461665"/>
          </a:xfrm>
          <a:prstGeom prst="rect">
            <a:avLst/>
          </a:prstGeom>
          <a:noFill/>
        </p:spPr>
        <p:txBody>
          <a:bodyPr wrap="square" rtlCol="0">
            <a:spAutoFit/>
          </a:bodyPr>
          <a:lstStyle/>
          <a:p>
            <a:r>
              <a:rPr lang="fr-FR" sz="2400" b="1" u="sng" dirty="0" smtClean="0"/>
              <a:t>Sauvegarde des variables</a:t>
            </a:r>
          </a:p>
        </p:txBody>
      </p:sp>
      <p:sp>
        <p:nvSpPr>
          <p:cNvPr id="14" name="ZoneTexte 13"/>
          <p:cNvSpPr txBox="1"/>
          <p:nvPr/>
        </p:nvSpPr>
        <p:spPr>
          <a:xfrm>
            <a:off x="285721" y="928670"/>
            <a:ext cx="8501122" cy="1200329"/>
          </a:xfrm>
          <a:prstGeom prst="rect">
            <a:avLst/>
          </a:prstGeom>
          <a:noFill/>
        </p:spPr>
        <p:txBody>
          <a:bodyPr wrap="square" rtlCol="0">
            <a:spAutoFit/>
          </a:bodyPr>
          <a:lstStyle/>
          <a:p>
            <a:r>
              <a:rPr lang="fr-FR" dirty="0" smtClean="0"/>
              <a:t>Lorsque Matlab se ferme, le </a:t>
            </a:r>
            <a:r>
              <a:rPr lang="fr-FR" dirty="0" err="1" smtClean="0"/>
              <a:t>Workspace</a:t>
            </a:r>
            <a:r>
              <a:rPr lang="fr-FR" dirty="0" smtClean="0"/>
              <a:t> est détruit, ce qui signifie que toutes les variables sont perdues.</a:t>
            </a:r>
          </a:p>
          <a:p>
            <a:r>
              <a:rPr lang="fr-FR" dirty="0" smtClean="0"/>
              <a:t>Il est cependant possible de sauvegarder les variables dans un fichier </a:t>
            </a:r>
            <a:r>
              <a:rPr lang="fr-FR" b="1" dirty="0" smtClean="0"/>
              <a:t>mat</a:t>
            </a:r>
            <a:r>
              <a:rPr lang="fr-FR" dirty="0" smtClean="0"/>
              <a:t> grâce à la commande </a:t>
            </a:r>
            <a:r>
              <a:rPr lang="fr-FR" b="1" dirty="0" err="1" smtClean="0"/>
              <a:t>save</a:t>
            </a:r>
            <a:endParaRPr lang="fr-FR" b="1" dirty="0" smtClean="0"/>
          </a:p>
        </p:txBody>
      </p:sp>
      <p:graphicFrame>
        <p:nvGraphicFramePr>
          <p:cNvPr id="11" name="Tableau 10"/>
          <p:cNvGraphicFramePr>
            <a:graphicFrameLocks noGrp="1"/>
          </p:cNvGraphicFramePr>
          <p:nvPr/>
        </p:nvGraphicFramePr>
        <p:xfrm>
          <a:off x="357158" y="2285992"/>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0" dirty="0" smtClean="0">
                          <a:solidFill>
                            <a:schemeClr val="tx1"/>
                          </a:solidFill>
                          <a:latin typeface="Consolas" pitchFamily="49" charset="0"/>
                        </a:rPr>
                        <a:t>&gt;&gt;</a:t>
                      </a:r>
                      <a:r>
                        <a:rPr lang="fr-FR" b="0" baseline="0" dirty="0" smtClean="0">
                          <a:solidFill>
                            <a:schemeClr val="tx1"/>
                          </a:solidFill>
                          <a:latin typeface="Consolas" pitchFamily="49" charset="0"/>
                        </a:rPr>
                        <a:t> a=45 ; b=</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rPr>
                        <a:t>bonjour</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rPr>
                        <a:t> ; c=a+5i ; d=</a:t>
                      </a:r>
                      <a:r>
                        <a:rPr lang="fr-FR" b="0" baseline="0" dirty="0" err="1" smtClean="0">
                          <a:solidFill>
                            <a:schemeClr val="tx1"/>
                          </a:solidFill>
                          <a:latin typeface="Consolas" pitchFamily="49" charset="0"/>
                        </a:rPr>
                        <a:t>true</a:t>
                      </a:r>
                      <a:r>
                        <a:rPr lang="fr-FR" b="0" baseline="0" dirty="0" smtClean="0">
                          <a:solidFill>
                            <a:schemeClr val="tx1"/>
                          </a:solidFill>
                          <a:latin typeface="Consolas" pitchFamily="49" charset="0"/>
                        </a:rPr>
                        <a:t>; e = 12.5;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3" name="Tableau 12"/>
          <p:cNvGraphicFramePr>
            <a:graphicFrameLocks noGrp="1"/>
          </p:cNvGraphicFramePr>
          <p:nvPr/>
        </p:nvGraphicFramePr>
        <p:xfrm>
          <a:off x="357158" y="3143248"/>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a:t>
                      </a:r>
                      <a:r>
                        <a:rPr lang="fr-FR" b="1" baseline="0" dirty="0" err="1" smtClean="0">
                          <a:solidFill>
                            <a:schemeClr val="tx1"/>
                          </a:solidFill>
                          <a:latin typeface="Consolas" pitchFamily="49" charset="0"/>
                        </a:rPr>
                        <a:t>save</a:t>
                      </a:r>
                      <a:r>
                        <a:rPr lang="fr-FR" b="0" baseline="0" dirty="0" smtClean="0">
                          <a:solidFill>
                            <a:schemeClr val="tx1"/>
                          </a:solidFill>
                          <a:latin typeface="Consolas" pitchFamily="49" charset="0"/>
                        </a:rPr>
                        <a:t>(‘</a:t>
                      </a:r>
                      <a:r>
                        <a:rPr lang="fr-FR" b="0" baseline="0" dirty="0" err="1" smtClean="0">
                          <a:solidFill>
                            <a:schemeClr val="tx1"/>
                          </a:solidFill>
                          <a:latin typeface="Consolas" pitchFamily="49" charset="0"/>
                        </a:rPr>
                        <a:t>Mes_Variables</a:t>
                      </a:r>
                      <a:r>
                        <a:rPr lang="fr-FR" b="0" baseline="0" dirty="0" smtClean="0">
                          <a:solidFill>
                            <a:schemeClr val="tx1"/>
                          </a:solidFill>
                          <a:latin typeface="Consolas"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5" name="ZoneTexte 14"/>
          <p:cNvSpPr txBox="1"/>
          <p:nvPr/>
        </p:nvSpPr>
        <p:spPr>
          <a:xfrm>
            <a:off x="357158" y="3714752"/>
            <a:ext cx="8501122" cy="923330"/>
          </a:xfrm>
          <a:prstGeom prst="rect">
            <a:avLst/>
          </a:prstGeom>
          <a:noFill/>
        </p:spPr>
        <p:txBody>
          <a:bodyPr wrap="square" rtlCol="0">
            <a:spAutoFit/>
          </a:bodyPr>
          <a:lstStyle/>
          <a:p>
            <a:r>
              <a:rPr lang="fr-FR" dirty="0" smtClean="0"/>
              <a:t>La commande ci-dessous, crée un fichier nommé </a:t>
            </a:r>
            <a:r>
              <a:rPr lang="fr-FR" b="1" dirty="0" smtClean="0"/>
              <a:t>Mes_Variables.mat </a:t>
            </a:r>
            <a:r>
              <a:rPr lang="fr-FR" dirty="0" smtClean="0"/>
              <a:t>qui contient toutes les variables (</a:t>
            </a:r>
            <a:r>
              <a:rPr lang="fr-FR" dirty="0" err="1" smtClean="0"/>
              <a:t>a,b,c,d</a:t>
            </a:r>
            <a:r>
              <a:rPr lang="fr-FR" dirty="0" smtClean="0"/>
              <a:t> et e). Ce Fichier est enregistré dans le </a:t>
            </a:r>
            <a:r>
              <a:rPr lang="fr-FR" b="1" u="sng" dirty="0" smtClean="0"/>
              <a:t>dossier en cours.</a:t>
            </a:r>
            <a:endParaRPr lang="fr-FR" b="1" u="sng" dirty="0"/>
          </a:p>
        </p:txBody>
      </p:sp>
      <p:pic>
        <p:nvPicPr>
          <p:cNvPr id="21506" name="Picture 2"/>
          <p:cNvPicPr>
            <a:picLocks noChangeAspect="1" noChangeArrowheads="1"/>
          </p:cNvPicPr>
          <p:nvPr/>
        </p:nvPicPr>
        <p:blipFill>
          <a:blip r:embed="rId3" cstate="print"/>
          <a:srcRect/>
          <a:stretch>
            <a:fillRect/>
          </a:stretch>
        </p:blipFill>
        <p:spPr bwMode="auto">
          <a:xfrm>
            <a:off x="428596" y="4643446"/>
            <a:ext cx="2562758" cy="1571636"/>
          </a:xfrm>
          <a:prstGeom prst="rect">
            <a:avLst/>
          </a:prstGeom>
          <a:noFill/>
          <a:ln w="9525">
            <a:noFill/>
            <a:miter lim="800000"/>
            <a:headEnd/>
            <a:tailEnd/>
          </a:ln>
          <a:effectLst/>
        </p:spPr>
      </p:pic>
      <p:sp>
        <p:nvSpPr>
          <p:cNvPr id="10" name="ZoneTexte 9"/>
          <p:cNvSpPr txBox="1"/>
          <p:nvPr/>
        </p:nvSpPr>
        <p:spPr>
          <a:xfrm>
            <a:off x="8501090" y="6286520"/>
            <a:ext cx="441146" cy="369332"/>
          </a:xfrm>
          <a:prstGeom prst="rect">
            <a:avLst/>
          </a:prstGeom>
          <a:noFill/>
        </p:spPr>
        <p:txBody>
          <a:bodyPr wrap="none" rtlCol="0">
            <a:spAutoFit/>
          </a:bodyPr>
          <a:lstStyle/>
          <a:p>
            <a:r>
              <a:rPr lang="fr-FR" dirty="0" smtClean="0"/>
              <a:t>25</a:t>
            </a:r>
            <a:endParaRPr lang="fr-FR"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357166"/>
            <a:ext cx="8643998" cy="461665"/>
          </a:xfrm>
          <a:prstGeom prst="rect">
            <a:avLst/>
          </a:prstGeom>
          <a:noFill/>
        </p:spPr>
        <p:txBody>
          <a:bodyPr wrap="square" rtlCol="0">
            <a:spAutoFit/>
          </a:bodyPr>
          <a:lstStyle/>
          <a:p>
            <a:r>
              <a:rPr lang="fr-FR" sz="2400" b="1" u="sng" dirty="0" smtClean="0"/>
              <a:t>Sauvegarder une variable</a:t>
            </a:r>
          </a:p>
        </p:txBody>
      </p:sp>
      <p:sp>
        <p:nvSpPr>
          <p:cNvPr id="14" name="ZoneTexte 13"/>
          <p:cNvSpPr txBox="1"/>
          <p:nvPr/>
        </p:nvSpPr>
        <p:spPr>
          <a:xfrm>
            <a:off x="285721" y="928670"/>
            <a:ext cx="8501122" cy="646331"/>
          </a:xfrm>
          <a:prstGeom prst="rect">
            <a:avLst/>
          </a:prstGeom>
          <a:noFill/>
        </p:spPr>
        <p:txBody>
          <a:bodyPr wrap="square" rtlCol="0">
            <a:spAutoFit/>
          </a:bodyPr>
          <a:lstStyle/>
          <a:p>
            <a:r>
              <a:rPr lang="fr-FR" dirty="0" smtClean="0"/>
              <a:t>La commande </a:t>
            </a:r>
            <a:r>
              <a:rPr lang="fr-FR" dirty="0" err="1" smtClean="0"/>
              <a:t>save</a:t>
            </a:r>
            <a:r>
              <a:rPr lang="fr-FR" dirty="0" smtClean="0"/>
              <a:t> permet aussi de sauvegarder une seule variable au lieu de tout le </a:t>
            </a:r>
            <a:r>
              <a:rPr lang="fr-FR" dirty="0" err="1" smtClean="0"/>
              <a:t>workspace</a:t>
            </a:r>
            <a:endParaRPr lang="fr-FR" b="1" dirty="0" smtClean="0"/>
          </a:p>
        </p:txBody>
      </p:sp>
      <p:graphicFrame>
        <p:nvGraphicFramePr>
          <p:cNvPr id="11" name="Tableau 10"/>
          <p:cNvGraphicFramePr>
            <a:graphicFrameLocks noGrp="1"/>
          </p:cNvGraphicFramePr>
          <p:nvPr/>
        </p:nvGraphicFramePr>
        <p:xfrm>
          <a:off x="428596" y="1643050"/>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0" dirty="0" smtClean="0">
                          <a:solidFill>
                            <a:schemeClr val="tx1"/>
                          </a:solidFill>
                          <a:latin typeface="Consolas" pitchFamily="49" charset="0"/>
                        </a:rPr>
                        <a:t>&gt;&gt;</a:t>
                      </a:r>
                      <a:r>
                        <a:rPr lang="fr-FR" b="0" baseline="0" dirty="0" smtClean="0">
                          <a:solidFill>
                            <a:schemeClr val="tx1"/>
                          </a:solidFill>
                          <a:latin typeface="Consolas" pitchFamily="49" charset="0"/>
                        </a:rPr>
                        <a:t> a=45 ; b=</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rPr>
                        <a:t>bonjour</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rPr>
                        <a:t> ; c=a+5i ; d=</a:t>
                      </a:r>
                      <a:r>
                        <a:rPr lang="fr-FR" b="0" baseline="0" dirty="0" err="1" smtClean="0">
                          <a:solidFill>
                            <a:schemeClr val="tx1"/>
                          </a:solidFill>
                          <a:latin typeface="Consolas" pitchFamily="49" charset="0"/>
                        </a:rPr>
                        <a:t>true</a:t>
                      </a:r>
                      <a:r>
                        <a:rPr lang="fr-FR" b="0" baseline="0" dirty="0" smtClean="0">
                          <a:solidFill>
                            <a:schemeClr val="tx1"/>
                          </a:solidFill>
                          <a:latin typeface="Consolas" pitchFamily="49" charset="0"/>
                        </a:rPr>
                        <a:t>; e = 12.5;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3" name="Tableau 12"/>
          <p:cNvGraphicFramePr>
            <a:graphicFrameLocks noGrp="1"/>
          </p:cNvGraphicFramePr>
          <p:nvPr/>
        </p:nvGraphicFramePr>
        <p:xfrm>
          <a:off x="428596" y="2285992"/>
          <a:ext cx="8358246" cy="64008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a:t>
                      </a:r>
                      <a:r>
                        <a:rPr lang="fr-FR" b="1" baseline="0" dirty="0" err="1" smtClean="0">
                          <a:solidFill>
                            <a:schemeClr val="tx1"/>
                          </a:solidFill>
                          <a:latin typeface="Consolas" pitchFamily="49" charset="0"/>
                        </a:rPr>
                        <a:t>save</a:t>
                      </a:r>
                      <a:r>
                        <a:rPr lang="fr-FR" b="0" baseline="0" dirty="0" smtClean="0">
                          <a:solidFill>
                            <a:schemeClr val="tx1"/>
                          </a:solidFill>
                          <a:latin typeface="Consolas" pitchFamily="49" charset="0"/>
                        </a:rPr>
                        <a:t>(</a:t>
                      </a:r>
                      <a:r>
                        <a:rPr lang="fr-FR" b="0" baseline="0" dirty="0" smtClean="0">
                          <a:solidFill>
                            <a:schemeClr val="tx1"/>
                          </a:solidFill>
                          <a:latin typeface="Arial" pitchFamily="34" charset="0"/>
                          <a:cs typeface="Arial" pitchFamily="34" charset="0"/>
                        </a:rPr>
                        <a:t>’</a:t>
                      </a:r>
                      <a:r>
                        <a:rPr lang="fr-FR" b="0" baseline="0" dirty="0" err="1" smtClean="0">
                          <a:solidFill>
                            <a:schemeClr val="tx1"/>
                          </a:solidFill>
                          <a:latin typeface="Consolas" pitchFamily="49" charset="0"/>
                        </a:rPr>
                        <a:t>Var_a</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rPr>
                        <a:t>,</a:t>
                      </a:r>
                      <a:r>
                        <a:rPr lang="fr-FR" b="0" baseline="0" dirty="0" smtClean="0">
                          <a:solidFill>
                            <a:schemeClr val="tx1"/>
                          </a:solidFill>
                          <a:latin typeface="Arial" pitchFamily="34" charset="0"/>
                          <a:cs typeface="Arial" pitchFamily="34" charset="0"/>
                        </a:rPr>
                        <a:t> ’</a:t>
                      </a:r>
                      <a:r>
                        <a:rPr lang="fr-FR" b="0" baseline="0" dirty="0" smtClean="0">
                          <a:solidFill>
                            <a:schemeClr val="tx1"/>
                          </a:solidFill>
                          <a:latin typeface="Consolas" pitchFamily="49" charset="0"/>
                        </a:rPr>
                        <a:t>a</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a:t>
                      </a:r>
                      <a:r>
                        <a:rPr lang="fr-FR" b="1" baseline="0" dirty="0" err="1" smtClean="0">
                          <a:solidFill>
                            <a:schemeClr val="tx1"/>
                          </a:solidFill>
                          <a:latin typeface="Consolas" pitchFamily="49" charset="0"/>
                        </a:rPr>
                        <a:t>save</a:t>
                      </a:r>
                      <a:r>
                        <a:rPr lang="fr-FR" b="0" baseline="0" dirty="0" smtClean="0">
                          <a:solidFill>
                            <a:schemeClr val="tx1"/>
                          </a:solidFill>
                          <a:latin typeface="Consolas" pitchFamily="49" charset="0"/>
                        </a:rPr>
                        <a:t>(</a:t>
                      </a:r>
                      <a:r>
                        <a:rPr lang="fr-FR" b="0" baseline="0" dirty="0" smtClean="0">
                          <a:solidFill>
                            <a:schemeClr val="tx1"/>
                          </a:solidFill>
                          <a:latin typeface="Arial" pitchFamily="34" charset="0"/>
                          <a:cs typeface="Arial" pitchFamily="34" charset="0"/>
                        </a:rPr>
                        <a:t>’</a:t>
                      </a:r>
                      <a:r>
                        <a:rPr lang="fr-FR" b="0" baseline="0" dirty="0" err="1" smtClean="0">
                          <a:solidFill>
                            <a:schemeClr val="tx1"/>
                          </a:solidFill>
                          <a:latin typeface="Consolas" pitchFamily="49" charset="0"/>
                        </a:rPr>
                        <a:t>Var_b</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rPr>
                        <a:t>,</a:t>
                      </a:r>
                      <a:r>
                        <a:rPr lang="fr-FR" b="0" baseline="0" dirty="0" smtClean="0">
                          <a:solidFill>
                            <a:schemeClr val="tx1"/>
                          </a:solidFill>
                          <a:latin typeface="Arial" pitchFamily="34" charset="0"/>
                          <a:cs typeface="Arial" pitchFamily="34" charset="0"/>
                        </a:rPr>
                        <a:t> ’</a:t>
                      </a:r>
                      <a:r>
                        <a:rPr lang="fr-FR" b="0" baseline="0" dirty="0" smtClean="0">
                          <a:solidFill>
                            <a:schemeClr val="tx1"/>
                          </a:solidFill>
                          <a:latin typeface="Consolas" pitchFamily="49" charset="0"/>
                        </a:rPr>
                        <a:t>b</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5" name="ZoneTexte 14"/>
          <p:cNvSpPr txBox="1"/>
          <p:nvPr/>
        </p:nvSpPr>
        <p:spPr>
          <a:xfrm>
            <a:off x="357158" y="3071810"/>
            <a:ext cx="8501122" cy="646331"/>
          </a:xfrm>
          <a:prstGeom prst="rect">
            <a:avLst/>
          </a:prstGeom>
          <a:noFill/>
        </p:spPr>
        <p:txBody>
          <a:bodyPr wrap="square" rtlCol="0">
            <a:spAutoFit/>
          </a:bodyPr>
          <a:lstStyle/>
          <a:p>
            <a:r>
              <a:rPr lang="fr-FR" dirty="0" smtClean="0"/>
              <a:t>Les commandes ci-dessous, crée deux fichiers nommés </a:t>
            </a:r>
            <a:r>
              <a:rPr lang="fr-FR" b="1" dirty="0" smtClean="0"/>
              <a:t>Var_a.mat </a:t>
            </a:r>
            <a:r>
              <a:rPr lang="fr-FR" dirty="0" smtClean="0"/>
              <a:t>et</a:t>
            </a:r>
            <a:r>
              <a:rPr lang="fr-FR" b="1" dirty="0" smtClean="0"/>
              <a:t> Var_b.mat </a:t>
            </a:r>
            <a:r>
              <a:rPr lang="fr-FR" dirty="0" smtClean="0"/>
              <a:t>qui contiennent  les variables </a:t>
            </a:r>
            <a:r>
              <a:rPr lang="fr-FR" b="1" dirty="0" smtClean="0"/>
              <a:t>a</a:t>
            </a:r>
            <a:r>
              <a:rPr lang="fr-FR" dirty="0" smtClean="0"/>
              <a:t> et </a:t>
            </a:r>
            <a:r>
              <a:rPr lang="fr-FR" b="1" dirty="0" smtClean="0"/>
              <a:t>b </a:t>
            </a:r>
            <a:r>
              <a:rPr lang="fr-FR" dirty="0" smtClean="0"/>
              <a:t>dans</a:t>
            </a:r>
            <a:r>
              <a:rPr lang="fr-FR" b="1" dirty="0" smtClean="0"/>
              <a:t> </a:t>
            </a:r>
            <a:r>
              <a:rPr lang="fr-FR" b="1" u="sng" dirty="0" smtClean="0"/>
              <a:t>le dossier en cours</a:t>
            </a:r>
            <a:endParaRPr lang="fr-FR" b="1" u="sng" dirty="0"/>
          </a:p>
        </p:txBody>
      </p:sp>
      <p:pic>
        <p:nvPicPr>
          <p:cNvPr id="21507" name="Picture 3"/>
          <p:cNvPicPr>
            <a:picLocks noChangeAspect="1" noChangeArrowheads="1"/>
          </p:cNvPicPr>
          <p:nvPr/>
        </p:nvPicPr>
        <p:blipFill>
          <a:blip r:embed="rId3" cstate="print"/>
          <a:srcRect/>
          <a:stretch>
            <a:fillRect/>
          </a:stretch>
        </p:blipFill>
        <p:spPr bwMode="auto">
          <a:xfrm>
            <a:off x="3071802" y="3929066"/>
            <a:ext cx="2861758" cy="2071702"/>
          </a:xfrm>
          <a:prstGeom prst="rect">
            <a:avLst/>
          </a:prstGeom>
          <a:noFill/>
          <a:ln w="9525">
            <a:noFill/>
            <a:miter lim="800000"/>
            <a:headEnd/>
            <a:tailEnd/>
          </a:ln>
          <a:effectLst/>
        </p:spPr>
      </p:pic>
      <p:sp>
        <p:nvSpPr>
          <p:cNvPr id="10" name="ZoneTexte 9"/>
          <p:cNvSpPr txBox="1"/>
          <p:nvPr/>
        </p:nvSpPr>
        <p:spPr>
          <a:xfrm>
            <a:off x="8501090" y="6286520"/>
            <a:ext cx="441146" cy="369332"/>
          </a:xfrm>
          <a:prstGeom prst="rect">
            <a:avLst/>
          </a:prstGeom>
          <a:noFill/>
        </p:spPr>
        <p:txBody>
          <a:bodyPr wrap="none" rtlCol="0">
            <a:spAutoFit/>
          </a:bodyPr>
          <a:lstStyle/>
          <a:p>
            <a:r>
              <a:rPr lang="fr-FR" dirty="0" smtClean="0"/>
              <a:t>26</a:t>
            </a:r>
            <a:endParaRPr lang="fr-FR"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142852"/>
            <a:ext cx="8643998" cy="461665"/>
          </a:xfrm>
          <a:prstGeom prst="rect">
            <a:avLst/>
          </a:prstGeom>
          <a:noFill/>
        </p:spPr>
        <p:txBody>
          <a:bodyPr wrap="square" rtlCol="0">
            <a:spAutoFit/>
          </a:bodyPr>
          <a:lstStyle/>
          <a:p>
            <a:r>
              <a:rPr lang="fr-FR" sz="2400" b="1" u="sng" dirty="0" smtClean="0"/>
              <a:t>Charger des variables sauvegardées</a:t>
            </a:r>
          </a:p>
        </p:txBody>
      </p:sp>
      <p:sp>
        <p:nvSpPr>
          <p:cNvPr id="15" name="ZoneTexte 14"/>
          <p:cNvSpPr txBox="1"/>
          <p:nvPr/>
        </p:nvSpPr>
        <p:spPr>
          <a:xfrm>
            <a:off x="357158" y="1068157"/>
            <a:ext cx="5786478" cy="923330"/>
          </a:xfrm>
          <a:prstGeom prst="rect">
            <a:avLst/>
          </a:prstGeom>
          <a:noFill/>
        </p:spPr>
        <p:txBody>
          <a:bodyPr wrap="square" rtlCol="0">
            <a:spAutoFit/>
          </a:bodyPr>
          <a:lstStyle/>
          <a:p>
            <a:r>
              <a:rPr lang="fr-FR" dirty="0" smtClean="0"/>
              <a:t>Au démarrage de </a:t>
            </a:r>
            <a:r>
              <a:rPr lang="fr-FR" dirty="0" err="1" smtClean="0"/>
              <a:t>matlab</a:t>
            </a:r>
            <a:r>
              <a:rPr lang="fr-FR" dirty="0" smtClean="0"/>
              <a:t> le </a:t>
            </a:r>
            <a:r>
              <a:rPr lang="fr-FR" dirty="0" err="1" smtClean="0"/>
              <a:t>workspace</a:t>
            </a:r>
            <a:r>
              <a:rPr lang="fr-FR" dirty="0" smtClean="0"/>
              <a:t> est toujours vide. La commande </a:t>
            </a:r>
            <a:r>
              <a:rPr lang="fr-FR" b="1" dirty="0" err="1" smtClean="0"/>
              <a:t>load</a:t>
            </a:r>
            <a:r>
              <a:rPr lang="fr-FR" dirty="0" smtClean="0"/>
              <a:t> permet de charger des variables sauvegardées dans un fichier.</a:t>
            </a:r>
            <a:endParaRPr lang="fr-FR" b="1" u="sng" dirty="0"/>
          </a:p>
        </p:txBody>
      </p:sp>
      <p:graphicFrame>
        <p:nvGraphicFramePr>
          <p:cNvPr id="10" name="Tableau 9"/>
          <p:cNvGraphicFramePr>
            <a:graphicFrameLocks noGrp="1"/>
          </p:cNvGraphicFramePr>
          <p:nvPr/>
        </p:nvGraphicFramePr>
        <p:xfrm>
          <a:off x="428596" y="1996851"/>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a:t>
                      </a:r>
                      <a:r>
                        <a:rPr lang="fr-FR" b="1" baseline="0" dirty="0" err="1" smtClean="0">
                          <a:solidFill>
                            <a:schemeClr val="tx1"/>
                          </a:solidFill>
                          <a:latin typeface="Consolas" pitchFamily="49" charset="0"/>
                        </a:rPr>
                        <a:t>load</a:t>
                      </a:r>
                      <a:r>
                        <a:rPr lang="fr-FR" b="0" baseline="0" dirty="0" smtClean="0">
                          <a:solidFill>
                            <a:schemeClr val="tx1"/>
                          </a:solidFill>
                          <a:latin typeface="Consolas" pitchFamily="49" charset="0"/>
                        </a:rPr>
                        <a:t>(</a:t>
                      </a:r>
                      <a:r>
                        <a:rPr lang="fr-FR" b="0" baseline="0" dirty="0" smtClean="0">
                          <a:solidFill>
                            <a:schemeClr val="tx1"/>
                          </a:solidFill>
                          <a:latin typeface="Arial" pitchFamily="34" charset="0"/>
                          <a:cs typeface="Arial" pitchFamily="34" charset="0"/>
                        </a:rPr>
                        <a:t>’</a:t>
                      </a:r>
                      <a:r>
                        <a:rPr lang="fr-FR" b="0" baseline="0" dirty="0" err="1" smtClean="0">
                          <a:solidFill>
                            <a:schemeClr val="tx1"/>
                          </a:solidFill>
                          <a:latin typeface="Consolas" pitchFamily="49" charset="0"/>
                        </a:rPr>
                        <a:t>Mes_Variables</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2" name="ZoneTexte 11"/>
          <p:cNvSpPr txBox="1"/>
          <p:nvPr/>
        </p:nvSpPr>
        <p:spPr>
          <a:xfrm>
            <a:off x="428596" y="2496917"/>
            <a:ext cx="8429684" cy="646331"/>
          </a:xfrm>
          <a:prstGeom prst="rect">
            <a:avLst/>
          </a:prstGeom>
          <a:noFill/>
        </p:spPr>
        <p:txBody>
          <a:bodyPr wrap="square" rtlCol="0">
            <a:spAutoFit/>
          </a:bodyPr>
          <a:lstStyle/>
          <a:p>
            <a:r>
              <a:rPr lang="fr-FR" dirty="0" smtClean="0"/>
              <a:t>La commande ci-dessus charge toutes les variables contenues dans le fichier </a:t>
            </a:r>
            <a:r>
              <a:rPr lang="fr-FR" b="1" dirty="0" err="1" smtClean="0"/>
              <a:t>Mes_Variables</a:t>
            </a:r>
            <a:r>
              <a:rPr lang="fr-FR" dirty="0" smtClean="0"/>
              <a:t> sauvegardé précédemment.</a:t>
            </a:r>
          </a:p>
        </p:txBody>
      </p:sp>
      <p:pic>
        <p:nvPicPr>
          <p:cNvPr id="22530" name="Picture 2"/>
          <p:cNvPicPr>
            <a:picLocks noChangeAspect="1" noChangeArrowheads="1"/>
          </p:cNvPicPr>
          <p:nvPr/>
        </p:nvPicPr>
        <p:blipFill>
          <a:blip r:embed="rId3" cstate="print"/>
          <a:srcRect/>
          <a:stretch>
            <a:fillRect/>
          </a:stretch>
        </p:blipFill>
        <p:spPr bwMode="auto">
          <a:xfrm>
            <a:off x="500034" y="3214686"/>
            <a:ext cx="3015348" cy="2357454"/>
          </a:xfrm>
          <a:prstGeom prst="rect">
            <a:avLst/>
          </a:prstGeom>
          <a:noFill/>
          <a:ln w="9525">
            <a:noFill/>
            <a:miter lim="800000"/>
            <a:headEnd/>
            <a:tailEnd/>
          </a:ln>
          <a:effectLst/>
        </p:spPr>
      </p:pic>
      <p:sp>
        <p:nvSpPr>
          <p:cNvPr id="16" name="ZoneTexte 15"/>
          <p:cNvSpPr txBox="1"/>
          <p:nvPr/>
        </p:nvSpPr>
        <p:spPr>
          <a:xfrm>
            <a:off x="4643438" y="3571876"/>
            <a:ext cx="4286280" cy="1200329"/>
          </a:xfrm>
          <a:prstGeom prst="rect">
            <a:avLst/>
          </a:prstGeom>
          <a:noFill/>
        </p:spPr>
        <p:txBody>
          <a:bodyPr wrap="square" rtlCol="0">
            <a:spAutoFit/>
          </a:bodyPr>
          <a:lstStyle/>
          <a:p>
            <a:r>
              <a:rPr lang="fr-FR" dirty="0" smtClean="0"/>
              <a:t>Il faut s’assurer que le fichier chargé (</a:t>
            </a:r>
            <a:r>
              <a:rPr lang="fr-FR" b="1" dirty="0" err="1" smtClean="0"/>
              <a:t>Mes_Variables</a:t>
            </a:r>
            <a:r>
              <a:rPr lang="fr-FR" dirty="0" smtClean="0"/>
              <a:t>) soit disponible dans la fenêtre </a:t>
            </a:r>
            <a:r>
              <a:rPr lang="fr-FR" b="1" dirty="0" err="1" smtClean="0"/>
              <a:t>Current</a:t>
            </a:r>
            <a:r>
              <a:rPr lang="fr-FR" b="1" dirty="0" smtClean="0"/>
              <a:t> </a:t>
            </a:r>
            <a:r>
              <a:rPr lang="fr-FR" b="1" dirty="0" err="1" smtClean="0"/>
              <a:t>Folder</a:t>
            </a:r>
            <a:endParaRPr lang="fr-FR" b="1" dirty="0" smtClean="0"/>
          </a:p>
          <a:p>
            <a:r>
              <a:rPr lang="fr-FR" dirty="0" smtClean="0"/>
              <a:t>Sinon </a:t>
            </a:r>
            <a:r>
              <a:rPr lang="fr-FR" dirty="0" err="1" smtClean="0"/>
              <a:t>matlab</a:t>
            </a:r>
            <a:r>
              <a:rPr lang="fr-FR" dirty="0" smtClean="0"/>
              <a:t> </a:t>
            </a:r>
            <a:r>
              <a:rPr lang="fr-FR" dirty="0" err="1" smtClean="0"/>
              <a:t>génére</a:t>
            </a:r>
            <a:r>
              <a:rPr lang="fr-FR" dirty="0" smtClean="0"/>
              <a:t> une erreur!</a:t>
            </a:r>
          </a:p>
        </p:txBody>
      </p:sp>
      <p:sp>
        <p:nvSpPr>
          <p:cNvPr id="17" name="Flèche droite 16"/>
          <p:cNvSpPr/>
          <p:nvPr/>
        </p:nvSpPr>
        <p:spPr>
          <a:xfrm rot="10800000">
            <a:off x="2357423" y="4241099"/>
            <a:ext cx="2214578" cy="188032"/>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18" name="Picture 2"/>
          <p:cNvPicPr>
            <a:picLocks noChangeAspect="1" noChangeArrowheads="1"/>
          </p:cNvPicPr>
          <p:nvPr/>
        </p:nvPicPr>
        <p:blipFill>
          <a:blip r:embed="rId4" cstate="print"/>
          <a:srcRect/>
          <a:stretch>
            <a:fillRect/>
          </a:stretch>
        </p:blipFill>
        <p:spPr bwMode="auto">
          <a:xfrm>
            <a:off x="5857884" y="815751"/>
            <a:ext cx="2524125" cy="1181100"/>
          </a:xfrm>
          <a:prstGeom prst="rect">
            <a:avLst/>
          </a:prstGeom>
          <a:noFill/>
          <a:ln w="9525">
            <a:noFill/>
            <a:miter lim="800000"/>
            <a:headEnd/>
            <a:tailEnd/>
          </a:ln>
          <a:effectLst/>
        </p:spPr>
      </p:pic>
      <p:pic>
        <p:nvPicPr>
          <p:cNvPr id="19" name="Picture 2"/>
          <p:cNvPicPr>
            <a:picLocks noChangeAspect="1" noChangeArrowheads="1"/>
          </p:cNvPicPr>
          <p:nvPr/>
        </p:nvPicPr>
        <p:blipFill>
          <a:blip r:embed="rId5" cstate="print"/>
          <a:srcRect/>
          <a:stretch>
            <a:fillRect/>
          </a:stretch>
        </p:blipFill>
        <p:spPr bwMode="auto">
          <a:xfrm>
            <a:off x="2928927" y="5003314"/>
            <a:ext cx="2357454" cy="1640395"/>
          </a:xfrm>
          <a:prstGeom prst="rect">
            <a:avLst/>
          </a:prstGeom>
          <a:noFill/>
          <a:ln w="9525">
            <a:noFill/>
            <a:miter lim="800000"/>
            <a:headEnd/>
            <a:tailEnd/>
          </a:ln>
          <a:effectLst/>
        </p:spPr>
      </p:pic>
      <p:sp>
        <p:nvSpPr>
          <p:cNvPr id="13" name="ZoneTexte 12"/>
          <p:cNvSpPr txBox="1"/>
          <p:nvPr/>
        </p:nvSpPr>
        <p:spPr>
          <a:xfrm>
            <a:off x="8501090" y="6286520"/>
            <a:ext cx="441146" cy="369332"/>
          </a:xfrm>
          <a:prstGeom prst="rect">
            <a:avLst/>
          </a:prstGeom>
          <a:noFill/>
        </p:spPr>
        <p:txBody>
          <a:bodyPr wrap="none" rtlCol="0">
            <a:spAutoFit/>
          </a:bodyPr>
          <a:lstStyle/>
          <a:p>
            <a:r>
              <a:rPr lang="fr-FR" smtClean="0"/>
              <a:t>27</a:t>
            </a:r>
            <a:endParaRPr lang="fr-FR"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9" name="ZoneTexte 8"/>
          <p:cNvSpPr txBox="1"/>
          <p:nvPr/>
        </p:nvSpPr>
        <p:spPr>
          <a:xfrm>
            <a:off x="214283" y="214290"/>
            <a:ext cx="8643998" cy="461665"/>
          </a:xfrm>
          <a:prstGeom prst="rect">
            <a:avLst/>
          </a:prstGeom>
          <a:noFill/>
        </p:spPr>
        <p:txBody>
          <a:bodyPr wrap="square" rtlCol="0">
            <a:spAutoFit/>
          </a:bodyPr>
          <a:lstStyle/>
          <a:p>
            <a:r>
              <a:rPr lang="fr-FR" sz="2400" b="1" u="sng" dirty="0" smtClean="0"/>
              <a:t>Charger une seule variable depuis un fichier</a:t>
            </a:r>
          </a:p>
        </p:txBody>
      </p:sp>
      <p:sp>
        <p:nvSpPr>
          <p:cNvPr id="15" name="ZoneTexte 14"/>
          <p:cNvSpPr txBox="1"/>
          <p:nvPr/>
        </p:nvSpPr>
        <p:spPr>
          <a:xfrm>
            <a:off x="285720" y="1000108"/>
            <a:ext cx="8501122" cy="646331"/>
          </a:xfrm>
          <a:prstGeom prst="rect">
            <a:avLst/>
          </a:prstGeom>
          <a:noFill/>
        </p:spPr>
        <p:txBody>
          <a:bodyPr wrap="square" rtlCol="0">
            <a:spAutoFit/>
          </a:bodyPr>
          <a:lstStyle/>
          <a:p>
            <a:r>
              <a:rPr lang="fr-FR" dirty="0" smtClean="0"/>
              <a:t>Il est aussi possible de charger qu’une seule variable depuis un fichier en indiquant le nom de la variable après le nom du fichier</a:t>
            </a:r>
            <a:endParaRPr lang="fr-FR" b="1" u="sng" dirty="0"/>
          </a:p>
        </p:txBody>
      </p:sp>
      <p:graphicFrame>
        <p:nvGraphicFramePr>
          <p:cNvPr id="10" name="Tableau 9"/>
          <p:cNvGraphicFramePr>
            <a:graphicFrameLocks noGrp="1"/>
          </p:cNvGraphicFramePr>
          <p:nvPr/>
        </p:nvGraphicFramePr>
        <p:xfrm>
          <a:off x="357158" y="2214554"/>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0" baseline="0" dirty="0" smtClean="0">
                          <a:solidFill>
                            <a:schemeClr val="tx1"/>
                          </a:solidFill>
                          <a:latin typeface="Consolas" pitchFamily="49" charset="0"/>
                        </a:rPr>
                        <a:t> </a:t>
                      </a:r>
                      <a:r>
                        <a:rPr lang="fr-FR" b="1" baseline="0" dirty="0" err="1" smtClean="0">
                          <a:solidFill>
                            <a:schemeClr val="tx1"/>
                          </a:solidFill>
                          <a:latin typeface="Consolas" pitchFamily="49" charset="0"/>
                        </a:rPr>
                        <a:t>load</a:t>
                      </a:r>
                      <a:r>
                        <a:rPr lang="fr-FR" b="0" baseline="0" dirty="0" smtClean="0">
                          <a:solidFill>
                            <a:schemeClr val="tx1"/>
                          </a:solidFill>
                          <a:latin typeface="Consolas" pitchFamily="49" charset="0"/>
                        </a:rPr>
                        <a:t>(</a:t>
                      </a:r>
                      <a:r>
                        <a:rPr lang="fr-FR" b="0" baseline="0" dirty="0" smtClean="0">
                          <a:solidFill>
                            <a:schemeClr val="tx1"/>
                          </a:solidFill>
                          <a:latin typeface="Arial" pitchFamily="34" charset="0"/>
                          <a:cs typeface="Arial" pitchFamily="34" charset="0"/>
                        </a:rPr>
                        <a:t>’</a:t>
                      </a:r>
                      <a:r>
                        <a:rPr lang="fr-FR" b="0" baseline="0" dirty="0" err="1" smtClean="0">
                          <a:solidFill>
                            <a:schemeClr val="tx1"/>
                          </a:solidFill>
                          <a:latin typeface="Consolas" pitchFamily="49" charset="0"/>
                        </a:rPr>
                        <a:t>Mes_Variables</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cs typeface="Arial" pitchFamily="34" charset="0"/>
                        </a:rPr>
                        <a:t>a</a:t>
                      </a:r>
                      <a:r>
                        <a:rPr lang="fr-FR" b="0" baseline="0" dirty="0" smtClean="0">
                          <a:solidFill>
                            <a:schemeClr val="tx1"/>
                          </a:solidFill>
                          <a:latin typeface="Arial" pitchFamily="34" charset="0"/>
                          <a:cs typeface="Arial" pitchFamily="34" charset="0"/>
                        </a:rPr>
                        <a:t>’</a:t>
                      </a:r>
                      <a:r>
                        <a:rPr lang="fr-FR" b="0" baseline="0" dirty="0" smtClean="0">
                          <a:solidFill>
                            <a:schemeClr val="tx1"/>
                          </a:solidFill>
                          <a:latin typeface="Consolas"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2" name="ZoneTexte 11"/>
          <p:cNvSpPr txBox="1"/>
          <p:nvPr/>
        </p:nvSpPr>
        <p:spPr>
          <a:xfrm>
            <a:off x="285720" y="2786058"/>
            <a:ext cx="8429684" cy="369332"/>
          </a:xfrm>
          <a:prstGeom prst="rect">
            <a:avLst/>
          </a:prstGeom>
          <a:noFill/>
        </p:spPr>
        <p:txBody>
          <a:bodyPr wrap="square" rtlCol="0">
            <a:spAutoFit/>
          </a:bodyPr>
          <a:lstStyle/>
          <a:p>
            <a:r>
              <a:rPr lang="fr-FR" dirty="0" smtClean="0"/>
              <a:t>La commande ci-dessus charge uniquement la variables </a:t>
            </a:r>
            <a:r>
              <a:rPr lang="fr-FR" b="1" dirty="0" smtClean="0"/>
              <a:t>a</a:t>
            </a:r>
            <a:r>
              <a:rPr lang="fr-FR" dirty="0" smtClean="0"/>
              <a:t> dans le </a:t>
            </a:r>
            <a:r>
              <a:rPr lang="fr-FR" dirty="0" err="1" smtClean="0"/>
              <a:t>workspace</a:t>
            </a:r>
            <a:endParaRPr lang="fr-FR" dirty="0" smtClean="0"/>
          </a:p>
        </p:txBody>
      </p:sp>
      <p:sp>
        <p:nvSpPr>
          <p:cNvPr id="7" name="ZoneTexte 6"/>
          <p:cNvSpPr txBox="1"/>
          <p:nvPr/>
        </p:nvSpPr>
        <p:spPr>
          <a:xfrm>
            <a:off x="8501090" y="6286520"/>
            <a:ext cx="441146" cy="369332"/>
          </a:xfrm>
          <a:prstGeom prst="rect">
            <a:avLst/>
          </a:prstGeom>
          <a:noFill/>
        </p:spPr>
        <p:txBody>
          <a:bodyPr wrap="none" rtlCol="0">
            <a:spAutoFit/>
          </a:bodyPr>
          <a:lstStyle/>
          <a:p>
            <a:r>
              <a:rPr lang="fr-FR" dirty="0" smtClean="0"/>
              <a:t>28</a:t>
            </a:r>
            <a:endParaRPr lang="fr-FR"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2844" y="2285992"/>
            <a:ext cx="8786874" cy="1143000"/>
          </a:xfrm>
        </p:spPr>
        <p:txBody>
          <a:bodyPr>
            <a:normAutofit/>
          </a:bodyPr>
          <a:lstStyle/>
          <a:p>
            <a:pPr algn="ctr"/>
            <a:r>
              <a:rPr lang="fr-FR" sz="3200" b="1" u="sng" dirty="0" smtClean="0"/>
              <a:t>Les opérateurs </a:t>
            </a:r>
            <a:r>
              <a:rPr lang="fr-FR" sz="3200" b="1" u="sng" dirty="0" smtClean="0"/>
              <a:t> dans Matlab</a:t>
            </a:r>
            <a:endParaRPr lang="fr-FR" sz="3200" b="1" u="sng" dirty="0"/>
          </a:p>
        </p:txBody>
      </p:sp>
      <p:sp>
        <p:nvSpPr>
          <p:cNvPr id="7" name="ZoneTexte 6"/>
          <p:cNvSpPr txBox="1"/>
          <p:nvPr/>
        </p:nvSpPr>
        <p:spPr>
          <a:xfrm>
            <a:off x="642910" y="2571744"/>
            <a:ext cx="184731" cy="369332"/>
          </a:xfrm>
          <a:prstGeom prst="rect">
            <a:avLst/>
          </a:prstGeom>
          <a:noFill/>
        </p:spPr>
        <p:txBody>
          <a:bodyPr wrap="none" rtlCol="0">
            <a:spAutoFit/>
          </a:bodyPr>
          <a:lstStyle/>
          <a:p>
            <a:endParaRPr lang="fr-FR"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3" name="ZoneTexte 12"/>
          <p:cNvSpPr txBox="1"/>
          <p:nvPr/>
        </p:nvSpPr>
        <p:spPr>
          <a:xfrm>
            <a:off x="285720" y="285728"/>
            <a:ext cx="2392001" cy="461665"/>
          </a:xfrm>
          <a:prstGeom prst="rect">
            <a:avLst/>
          </a:prstGeom>
          <a:noFill/>
        </p:spPr>
        <p:txBody>
          <a:bodyPr wrap="none" rtlCol="0">
            <a:spAutoFit/>
          </a:bodyPr>
          <a:lstStyle/>
          <a:p>
            <a:r>
              <a:rPr lang="fr-FR" sz="2400" b="1" dirty="0" smtClean="0"/>
              <a:t>Les opérateurs</a:t>
            </a:r>
          </a:p>
        </p:txBody>
      </p:sp>
      <p:sp>
        <p:nvSpPr>
          <p:cNvPr id="16" name="ZoneTexte 15"/>
          <p:cNvSpPr txBox="1"/>
          <p:nvPr/>
        </p:nvSpPr>
        <p:spPr>
          <a:xfrm>
            <a:off x="357158" y="1071546"/>
            <a:ext cx="4673074" cy="2031325"/>
          </a:xfrm>
          <a:prstGeom prst="rect">
            <a:avLst/>
          </a:prstGeom>
          <a:noFill/>
        </p:spPr>
        <p:txBody>
          <a:bodyPr wrap="none" rtlCol="0">
            <a:spAutoFit/>
          </a:bodyPr>
          <a:lstStyle/>
          <a:p>
            <a:r>
              <a:rPr lang="fr-FR" dirty="0" smtClean="0"/>
              <a:t>Il existe essentiellement 3 types d’opérateur</a:t>
            </a:r>
          </a:p>
          <a:p>
            <a:endParaRPr lang="fr-FR" dirty="0" smtClean="0"/>
          </a:p>
          <a:p>
            <a:pPr lvl="1">
              <a:buFont typeface="Arial" pitchFamily="34" charset="0"/>
              <a:buChar char="•"/>
            </a:pPr>
            <a:r>
              <a:rPr lang="fr-FR" b="1" dirty="0" smtClean="0"/>
              <a:t> Les opérateurs arithmétiques</a:t>
            </a:r>
          </a:p>
          <a:p>
            <a:pPr lvl="1"/>
            <a:endParaRPr lang="fr-FR" b="1" dirty="0" smtClean="0"/>
          </a:p>
          <a:p>
            <a:pPr lvl="1">
              <a:buFont typeface="Arial" pitchFamily="34" charset="0"/>
              <a:buChar char="•"/>
            </a:pPr>
            <a:r>
              <a:rPr lang="fr-FR" b="1" dirty="0" smtClean="0"/>
              <a:t> Les opérateurs Logiques.</a:t>
            </a:r>
          </a:p>
          <a:p>
            <a:pPr lvl="1"/>
            <a:endParaRPr lang="fr-FR" b="1" dirty="0" smtClean="0"/>
          </a:p>
          <a:p>
            <a:pPr lvl="1">
              <a:buFont typeface="Arial" pitchFamily="34" charset="0"/>
              <a:buChar char="•"/>
            </a:pPr>
            <a:r>
              <a:rPr lang="fr-FR" b="1" dirty="0" smtClean="0"/>
              <a:t> Les opérateurs relationnels</a:t>
            </a:r>
            <a:endParaRPr lang="fr-FR" b="1" dirty="0"/>
          </a:p>
        </p:txBody>
      </p:sp>
      <p:sp>
        <p:nvSpPr>
          <p:cNvPr id="5" name="ZoneTexte 4"/>
          <p:cNvSpPr txBox="1"/>
          <p:nvPr/>
        </p:nvSpPr>
        <p:spPr>
          <a:xfrm>
            <a:off x="8501090" y="6345816"/>
            <a:ext cx="441146" cy="369332"/>
          </a:xfrm>
          <a:prstGeom prst="rect">
            <a:avLst/>
          </a:prstGeom>
          <a:noFill/>
        </p:spPr>
        <p:txBody>
          <a:bodyPr wrap="none" rtlCol="0">
            <a:spAutoFit/>
          </a:bodyPr>
          <a:lstStyle/>
          <a:p>
            <a:r>
              <a:rPr lang="fr-FR" dirty="0" smtClean="0"/>
              <a:t>29</a:t>
            </a:r>
            <a:endParaRPr lang="fr-FR"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3" name="ZoneTexte 12"/>
          <p:cNvSpPr txBox="1"/>
          <p:nvPr/>
        </p:nvSpPr>
        <p:spPr>
          <a:xfrm>
            <a:off x="285720" y="285728"/>
            <a:ext cx="2392001" cy="461665"/>
          </a:xfrm>
          <a:prstGeom prst="rect">
            <a:avLst/>
          </a:prstGeom>
          <a:noFill/>
        </p:spPr>
        <p:txBody>
          <a:bodyPr wrap="none" rtlCol="0">
            <a:spAutoFit/>
          </a:bodyPr>
          <a:lstStyle/>
          <a:p>
            <a:r>
              <a:rPr lang="fr-FR" sz="2400" b="1" dirty="0" smtClean="0"/>
              <a:t>Les opérateurs</a:t>
            </a:r>
          </a:p>
        </p:txBody>
      </p:sp>
      <p:graphicFrame>
        <p:nvGraphicFramePr>
          <p:cNvPr id="5" name="Tableau 4"/>
          <p:cNvGraphicFramePr>
            <a:graphicFrameLocks noGrp="1"/>
          </p:cNvGraphicFramePr>
          <p:nvPr/>
        </p:nvGraphicFramePr>
        <p:xfrm>
          <a:off x="357158" y="1357298"/>
          <a:ext cx="3476628" cy="2225040"/>
        </p:xfrm>
        <a:graphic>
          <a:graphicData uri="http://schemas.openxmlformats.org/drawingml/2006/table">
            <a:tbl>
              <a:tblPr firstRow="1" bandRow="1">
                <a:tableStyleId>{073A0DAA-6AF3-43AB-8588-CEC1D06C72B9}</a:tableStyleId>
              </a:tblPr>
              <a:tblGrid>
                <a:gridCol w="1262050"/>
                <a:gridCol w="2214578"/>
              </a:tblGrid>
              <a:tr h="370840">
                <a:tc>
                  <a:txBody>
                    <a:bodyPr/>
                    <a:lstStyle/>
                    <a:p>
                      <a:pPr algn="ctr"/>
                      <a:r>
                        <a:rPr lang="fr-FR" dirty="0" smtClean="0"/>
                        <a:t>Symbole</a:t>
                      </a:r>
                      <a:endParaRPr lang="fr-FR" dirty="0"/>
                    </a:p>
                  </a:txBody>
                  <a:tcPr/>
                </a:tc>
                <a:tc>
                  <a:txBody>
                    <a:bodyPr/>
                    <a:lstStyle/>
                    <a:p>
                      <a:pPr algn="ctr"/>
                      <a:r>
                        <a:rPr lang="fr-FR" dirty="0" smtClean="0"/>
                        <a:t>Opération</a:t>
                      </a:r>
                      <a:endParaRPr lang="fr-FR" dirty="0"/>
                    </a:p>
                  </a:txBody>
                  <a:tcPr/>
                </a:tc>
              </a:tr>
              <a:tr h="370840">
                <a:tc>
                  <a:txBody>
                    <a:bodyPr/>
                    <a:lstStyle/>
                    <a:p>
                      <a:pPr algn="ctr"/>
                      <a:r>
                        <a:rPr lang="fr-FR" b="1" dirty="0" smtClean="0"/>
                        <a:t>+</a:t>
                      </a:r>
                      <a:endParaRPr lang="fr-FR" b="1" dirty="0"/>
                    </a:p>
                  </a:txBody>
                  <a:tcPr/>
                </a:tc>
                <a:tc>
                  <a:txBody>
                    <a:bodyPr/>
                    <a:lstStyle/>
                    <a:p>
                      <a:pPr algn="ctr"/>
                      <a:r>
                        <a:rPr lang="fr-FR" b="1" dirty="0" smtClean="0"/>
                        <a:t>Addition</a:t>
                      </a:r>
                      <a:endParaRPr lang="fr-FR" b="1" dirty="0"/>
                    </a:p>
                  </a:txBody>
                  <a:tcPr/>
                </a:tc>
              </a:tr>
              <a:tr h="370840">
                <a:tc>
                  <a:txBody>
                    <a:bodyPr/>
                    <a:lstStyle/>
                    <a:p>
                      <a:pPr algn="ctr"/>
                      <a:r>
                        <a:rPr lang="fr-FR" b="1" dirty="0" smtClean="0"/>
                        <a:t>-</a:t>
                      </a:r>
                      <a:endParaRPr lang="fr-FR" b="1" dirty="0"/>
                    </a:p>
                  </a:txBody>
                  <a:tcPr/>
                </a:tc>
                <a:tc>
                  <a:txBody>
                    <a:bodyPr/>
                    <a:lstStyle/>
                    <a:p>
                      <a:pPr algn="ctr"/>
                      <a:r>
                        <a:rPr lang="fr-FR" b="1" dirty="0" smtClean="0"/>
                        <a:t>Soustraction</a:t>
                      </a:r>
                      <a:endParaRPr lang="fr-FR" b="1" dirty="0"/>
                    </a:p>
                  </a:txBody>
                  <a:tcPr/>
                </a:tc>
              </a:tr>
              <a:tr h="370840">
                <a:tc>
                  <a:txBody>
                    <a:bodyPr/>
                    <a:lstStyle/>
                    <a:p>
                      <a:pPr algn="ctr"/>
                      <a:r>
                        <a:rPr lang="fr-FR" b="1" dirty="0" smtClean="0"/>
                        <a:t>*</a:t>
                      </a:r>
                      <a:endParaRPr lang="fr-FR" b="1" dirty="0"/>
                    </a:p>
                  </a:txBody>
                  <a:tcPr/>
                </a:tc>
                <a:tc>
                  <a:txBody>
                    <a:bodyPr/>
                    <a:lstStyle/>
                    <a:p>
                      <a:pPr algn="ctr"/>
                      <a:r>
                        <a:rPr lang="fr-FR" b="1" dirty="0" smtClean="0"/>
                        <a:t>Multiplication</a:t>
                      </a:r>
                      <a:endParaRPr lang="fr-FR" b="1" dirty="0"/>
                    </a:p>
                  </a:txBody>
                  <a:tcPr/>
                </a:tc>
              </a:tr>
              <a:tr h="370840">
                <a:tc>
                  <a:txBody>
                    <a:bodyPr/>
                    <a:lstStyle/>
                    <a:p>
                      <a:pPr algn="ctr"/>
                      <a:r>
                        <a:rPr lang="fr-FR" b="1" dirty="0" smtClean="0"/>
                        <a:t>/</a:t>
                      </a:r>
                      <a:endParaRPr lang="fr-FR" b="1" dirty="0"/>
                    </a:p>
                  </a:txBody>
                  <a:tcPr/>
                </a:tc>
                <a:tc>
                  <a:txBody>
                    <a:bodyPr/>
                    <a:lstStyle/>
                    <a:p>
                      <a:pPr algn="ctr"/>
                      <a:r>
                        <a:rPr lang="fr-FR" b="1" dirty="0" smtClean="0"/>
                        <a:t>Division</a:t>
                      </a:r>
                      <a:endParaRPr lang="fr-FR" b="1" dirty="0"/>
                    </a:p>
                  </a:txBody>
                  <a:tcPr/>
                </a:tc>
              </a:tr>
              <a:tr h="370840">
                <a:tc>
                  <a:txBody>
                    <a:bodyPr/>
                    <a:lstStyle/>
                    <a:p>
                      <a:pPr algn="ctr"/>
                      <a:r>
                        <a:rPr lang="fr-FR" b="1" dirty="0" smtClean="0"/>
                        <a:t>^</a:t>
                      </a:r>
                      <a:endParaRPr lang="fr-FR" b="1" dirty="0"/>
                    </a:p>
                  </a:txBody>
                  <a:tcPr/>
                </a:tc>
                <a:tc>
                  <a:txBody>
                    <a:bodyPr/>
                    <a:lstStyle/>
                    <a:p>
                      <a:pPr algn="ctr"/>
                      <a:r>
                        <a:rPr lang="fr-FR" b="1" dirty="0" smtClean="0"/>
                        <a:t>Puissance</a:t>
                      </a:r>
                      <a:endParaRPr lang="fr-FR" b="1" dirty="0"/>
                    </a:p>
                  </a:txBody>
                  <a:tcPr/>
                </a:tc>
              </a:tr>
            </a:tbl>
          </a:graphicData>
        </a:graphic>
      </p:graphicFrame>
      <p:sp>
        <p:nvSpPr>
          <p:cNvPr id="6" name="ZoneTexte 5"/>
          <p:cNvSpPr txBox="1"/>
          <p:nvPr/>
        </p:nvSpPr>
        <p:spPr>
          <a:xfrm>
            <a:off x="357158" y="928670"/>
            <a:ext cx="3500462" cy="369332"/>
          </a:xfrm>
          <a:prstGeom prst="rect">
            <a:avLst/>
          </a:prstGeom>
          <a:noFill/>
        </p:spPr>
        <p:txBody>
          <a:bodyPr wrap="square" rtlCol="0">
            <a:spAutoFit/>
          </a:bodyPr>
          <a:lstStyle/>
          <a:p>
            <a:pPr algn="ctr"/>
            <a:r>
              <a:rPr lang="fr-FR" b="1" dirty="0" smtClean="0"/>
              <a:t>Opérateurs Arithmétiques</a:t>
            </a:r>
            <a:endParaRPr lang="fr-FR" b="1" dirty="0"/>
          </a:p>
        </p:txBody>
      </p:sp>
      <p:graphicFrame>
        <p:nvGraphicFramePr>
          <p:cNvPr id="7" name="Tableau 6"/>
          <p:cNvGraphicFramePr>
            <a:graphicFrameLocks noGrp="1"/>
          </p:cNvGraphicFramePr>
          <p:nvPr/>
        </p:nvGraphicFramePr>
        <p:xfrm>
          <a:off x="428596" y="4786322"/>
          <a:ext cx="3476628" cy="1483360"/>
        </p:xfrm>
        <a:graphic>
          <a:graphicData uri="http://schemas.openxmlformats.org/drawingml/2006/table">
            <a:tbl>
              <a:tblPr firstRow="1" bandRow="1">
                <a:tableStyleId>{073A0DAA-6AF3-43AB-8588-CEC1D06C72B9}</a:tableStyleId>
              </a:tblPr>
              <a:tblGrid>
                <a:gridCol w="1262050"/>
                <a:gridCol w="2214578"/>
              </a:tblGrid>
              <a:tr h="370840">
                <a:tc>
                  <a:txBody>
                    <a:bodyPr/>
                    <a:lstStyle/>
                    <a:p>
                      <a:pPr algn="ctr"/>
                      <a:r>
                        <a:rPr lang="fr-FR" dirty="0" smtClean="0"/>
                        <a:t>Symbole</a:t>
                      </a:r>
                      <a:endParaRPr lang="fr-FR" dirty="0"/>
                    </a:p>
                  </a:txBody>
                  <a:tcPr/>
                </a:tc>
                <a:tc>
                  <a:txBody>
                    <a:bodyPr/>
                    <a:lstStyle/>
                    <a:p>
                      <a:pPr algn="ctr"/>
                      <a:r>
                        <a:rPr lang="fr-FR" dirty="0" smtClean="0"/>
                        <a:t>Opération</a:t>
                      </a:r>
                      <a:endParaRPr lang="fr-FR" dirty="0"/>
                    </a:p>
                  </a:txBody>
                  <a:tcPr/>
                </a:tc>
              </a:tr>
              <a:tr h="370840">
                <a:tc>
                  <a:txBody>
                    <a:bodyPr/>
                    <a:lstStyle/>
                    <a:p>
                      <a:pPr algn="ctr"/>
                      <a:r>
                        <a:rPr lang="fr-FR" b="1" dirty="0" smtClean="0"/>
                        <a:t>&amp;</a:t>
                      </a:r>
                      <a:endParaRPr lang="fr-FR" b="1" dirty="0"/>
                    </a:p>
                  </a:txBody>
                  <a:tcPr/>
                </a:tc>
                <a:tc>
                  <a:txBody>
                    <a:bodyPr/>
                    <a:lstStyle/>
                    <a:p>
                      <a:pPr algn="ctr"/>
                      <a:r>
                        <a:rPr lang="fr-FR" b="1" dirty="0" smtClean="0"/>
                        <a:t>ET</a:t>
                      </a:r>
                      <a:endParaRPr lang="fr-FR" b="1" dirty="0"/>
                    </a:p>
                  </a:txBody>
                  <a:tcPr/>
                </a:tc>
              </a:tr>
              <a:tr h="370840">
                <a:tc>
                  <a:txBody>
                    <a:bodyPr/>
                    <a:lstStyle/>
                    <a:p>
                      <a:pPr algn="ctr"/>
                      <a:r>
                        <a:rPr lang="fr-FR" b="1" dirty="0" smtClean="0"/>
                        <a:t>|</a:t>
                      </a:r>
                      <a:endParaRPr lang="fr-FR" b="1" dirty="0"/>
                    </a:p>
                  </a:txBody>
                  <a:tcPr/>
                </a:tc>
                <a:tc>
                  <a:txBody>
                    <a:bodyPr/>
                    <a:lstStyle/>
                    <a:p>
                      <a:pPr algn="ctr"/>
                      <a:r>
                        <a:rPr lang="fr-FR" b="1" dirty="0" smtClean="0"/>
                        <a:t>OU</a:t>
                      </a:r>
                      <a:endParaRPr lang="fr-FR" b="1" dirty="0"/>
                    </a:p>
                  </a:txBody>
                  <a:tcPr/>
                </a:tc>
              </a:tr>
              <a:tr h="370840">
                <a:tc>
                  <a:txBody>
                    <a:bodyPr/>
                    <a:lstStyle/>
                    <a:p>
                      <a:pPr algn="ctr"/>
                      <a:r>
                        <a:rPr lang="fr-FR" b="1" dirty="0" smtClean="0"/>
                        <a:t>~</a:t>
                      </a:r>
                      <a:endParaRPr lang="fr-FR" b="1" dirty="0"/>
                    </a:p>
                  </a:txBody>
                  <a:tcPr/>
                </a:tc>
                <a:tc>
                  <a:txBody>
                    <a:bodyPr/>
                    <a:lstStyle/>
                    <a:p>
                      <a:pPr algn="ctr"/>
                      <a:r>
                        <a:rPr lang="fr-FR" b="1" dirty="0" smtClean="0"/>
                        <a:t>NON</a:t>
                      </a:r>
                      <a:endParaRPr lang="fr-FR" b="1" dirty="0"/>
                    </a:p>
                  </a:txBody>
                  <a:tcPr/>
                </a:tc>
              </a:tr>
            </a:tbl>
          </a:graphicData>
        </a:graphic>
      </p:graphicFrame>
      <p:sp>
        <p:nvSpPr>
          <p:cNvPr id="8" name="ZoneTexte 7"/>
          <p:cNvSpPr txBox="1"/>
          <p:nvPr/>
        </p:nvSpPr>
        <p:spPr>
          <a:xfrm>
            <a:off x="428596" y="4357694"/>
            <a:ext cx="3500462" cy="369332"/>
          </a:xfrm>
          <a:prstGeom prst="rect">
            <a:avLst/>
          </a:prstGeom>
          <a:noFill/>
        </p:spPr>
        <p:txBody>
          <a:bodyPr wrap="square" rtlCol="0">
            <a:spAutoFit/>
          </a:bodyPr>
          <a:lstStyle/>
          <a:p>
            <a:pPr algn="ctr"/>
            <a:r>
              <a:rPr lang="fr-FR" b="1" dirty="0" smtClean="0"/>
              <a:t>Opérateurs Logiques</a:t>
            </a:r>
            <a:endParaRPr lang="fr-FR" b="1" dirty="0"/>
          </a:p>
        </p:txBody>
      </p:sp>
      <p:graphicFrame>
        <p:nvGraphicFramePr>
          <p:cNvPr id="12" name="Tableau 11"/>
          <p:cNvGraphicFramePr>
            <a:graphicFrameLocks noGrp="1"/>
          </p:cNvGraphicFramePr>
          <p:nvPr/>
        </p:nvGraphicFramePr>
        <p:xfrm>
          <a:off x="4429124" y="1357298"/>
          <a:ext cx="4286280" cy="2595880"/>
        </p:xfrm>
        <a:graphic>
          <a:graphicData uri="http://schemas.openxmlformats.org/drawingml/2006/table">
            <a:tbl>
              <a:tblPr firstRow="1" bandRow="1">
                <a:tableStyleId>{073A0DAA-6AF3-43AB-8588-CEC1D06C72B9}</a:tableStyleId>
              </a:tblPr>
              <a:tblGrid>
                <a:gridCol w="1555961"/>
                <a:gridCol w="2730319"/>
              </a:tblGrid>
              <a:tr h="370840">
                <a:tc>
                  <a:txBody>
                    <a:bodyPr/>
                    <a:lstStyle/>
                    <a:p>
                      <a:pPr algn="ctr"/>
                      <a:r>
                        <a:rPr lang="fr-FR" dirty="0" smtClean="0"/>
                        <a:t>Symbole</a:t>
                      </a:r>
                      <a:endParaRPr lang="fr-FR" dirty="0"/>
                    </a:p>
                  </a:txBody>
                  <a:tcPr/>
                </a:tc>
                <a:tc>
                  <a:txBody>
                    <a:bodyPr/>
                    <a:lstStyle/>
                    <a:p>
                      <a:pPr algn="ctr"/>
                      <a:r>
                        <a:rPr lang="fr-FR" dirty="0" smtClean="0"/>
                        <a:t>Opération</a:t>
                      </a:r>
                      <a:endParaRPr lang="fr-FR" dirty="0"/>
                    </a:p>
                  </a:txBody>
                  <a:tcPr/>
                </a:tc>
              </a:tr>
              <a:tr h="370840">
                <a:tc>
                  <a:txBody>
                    <a:bodyPr/>
                    <a:lstStyle/>
                    <a:p>
                      <a:pPr algn="ctr"/>
                      <a:r>
                        <a:rPr lang="fr-FR" b="1" dirty="0" smtClean="0"/>
                        <a:t>&lt;</a:t>
                      </a:r>
                      <a:endParaRPr lang="fr-FR" b="1" dirty="0"/>
                    </a:p>
                  </a:txBody>
                  <a:tcPr/>
                </a:tc>
                <a:tc>
                  <a:txBody>
                    <a:bodyPr/>
                    <a:lstStyle/>
                    <a:p>
                      <a:pPr algn="ctr"/>
                      <a:r>
                        <a:rPr lang="fr-FR" b="1" dirty="0" smtClean="0"/>
                        <a:t>Inférieur Strictement</a:t>
                      </a:r>
                      <a:endParaRPr lang="fr-FR" b="1" dirty="0"/>
                    </a:p>
                  </a:txBody>
                  <a:tcPr/>
                </a:tc>
              </a:tr>
              <a:tr h="370840">
                <a:tc>
                  <a:txBody>
                    <a:bodyPr/>
                    <a:lstStyle/>
                    <a:p>
                      <a:pPr algn="ctr"/>
                      <a:r>
                        <a:rPr lang="fr-FR" b="1" dirty="0" smtClean="0"/>
                        <a:t>&lt;=</a:t>
                      </a:r>
                      <a:endParaRPr lang="fr-FR" b="1" dirty="0"/>
                    </a:p>
                  </a:txBody>
                  <a:tcPr/>
                </a:tc>
                <a:tc>
                  <a:txBody>
                    <a:bodyPr/>
                    <a:lstStyle/>
                    <a:p>
                      <a:pPr algn="ctr"/>
                      <a:r>
                        <a:rPr lang="fr-FR" b="1" dirty="0" smtClean="0"/>
                        <a:t>Inférieur ou égal</a:t>
                      </a:r>
                      <a:endParaRPr lang="fr-FR" b="1" dirty="0"/>
                    </a:p>
                  </a:txBody>
                  <a:tcPr/>
                </a:tc>
              </a:tr>
              <a:tr h="370840">
                <a:tc>
                  <a:txBody>
                    <a:bodyPr/>
                    <a:lstStyle/>
                    <a:p>
                      <a:pPr algn="ctr"/>
                      <a:r>
                        <a:rPr lang="fr-FR" b="1" dirty="0" smtClean="0"/>
                        <a:t>&gt;</a:t>
                      </a:r>
                      <a:endParaRPr lang="fr-FR" b="1" dirty="0"/>
                    </a:p>
                  </a:txBody>
                  <a:tcPr/>
                </a:tc>
                <a:tc>
                  <a:txBody>
                    <a:bodyPr/>
                    <a:lstStyle/>
                    <a:p>
                      <a:pPr algn="ctr"/>
                      <a:r>
                        <a:rPr lang="fr-FR" b="1" dirty="0" smtClean="0"/>
                        <a:t>Supérieur Strictement</a:t>
                      </a:r>
                      <a:endParaRPr lang="fr-FR" b="1" dirty="0"/>
                    </a:p>
                  </a:txBody>
                  <a:tcPr/>
                </a:tc>
              </a:tr>
              <a:tr h="370840">
                <a:tc>
                  <a:txBody>
                    <a:bodyPr/>
                    <a:lstStyle/>
                    <a:p>
                      <a:pPr algn="ctr"/>
                      <a:r>
                        <a:rPr lang="fr-FR" b="1" dirty="0" smtClean="0"/>
                        <a:t>&gt;=</a:t>
                      </a:r>
                      <a:endParaRPr lang="fr-FR" b="1" dirty="0"/>
                    </a:p>
                  </a:txBody>
                  <a:tcPr/>
                </a:tc>
                <a:tc>
                  <a:txBody>
                    <a:bodyPr/>
                    <a:lstStyle/>
                    <a:p>
                      <a:pPr algn="ctr"/>
                      <a:r>
                        <a:rPr lang="fr-FR" b="1" dirty="0" smtClean="0"/>
                        <a:t>Supérieur ou égal</a:t>
                      </a:r>
                      <a:endParaRPr lang="fr-FR" b="1" dirty="0"/>
                    </a:p>
                  </a:txBody>
                  <a:tcPr/>
                </a:tc>
              </a:tr>
              <a:tr h="370840">
                <a:tc>
                  <a:txBody>
                    <a:bodyPr/>
                    <a:lstStyle/>
                    <a:p>
                      <a:pPr algn="ctr"/>
                      <a:r>
                        <a:rPr lang="fr-FR" b="1" dirty="0" smtClean="0"/>
                        <a:t>==</a:t>
                      </a:r>
                      <a:endParaRPr lang="fr-FR" b="1" dirty="0"/>
                    </a:p>
                  </a:txBody>
                  <a:tcPr/>
                </a:tc>
                <a:tc>
                  <a:txBody>
                    <a:bodyPr/>
                    <a:lstStyle/>
                    <a:p>
                      <a:pPr algn="ctr"/>
                      <a:r>
                        <a:rPr lang="fr-FR" b="1" dirty="0" smtClean="0"/>
                        <a:t>égal</a:t>
                      </a:r>
                      <a:endParaRPr lang="fr-FR" b="1" dirty="0"/>
                    </a:p>
                  </a:txBody>
                  <a:tcPr/>
                </a:tc>
              </a:tr>
              <a:tr h="370840">
                <a:tc>
                  <a:txBody>
                    <a:bodyPr/>
                    <a:lstStyle/>
                    <a:p>
                      <a:pPr algn="ctr"/>
                      <a:r>
                        <a:rPr lang="fr-FR" b="1" dirty="0" smtClean="0"/>
                        <a:t>~=</a:t>
                      </a:r>
                      <a:endParaRPr lang="fr-FR" b="1" dirty="0"/>
                    </a:p>
                  </a:txBody>
                  <a:tcPr/>
                </a:tc>
                <a:tc>
                  <a:txBody>
                    <a:bodyPr/>
                    <a:lstStyle/>
                    <a:p>
                      <a:pPr algn="ctr"/>
                      <a:r>
                        <a:rPr lang="fr-FR" b="1" dirty="0" smtClean="0"/>
                        <a:t>Est différent</a:t>
                      </a:r>
                      <a:endParaRPr lang="fr-FR" b="1" dirty="0"/>
                    </a:p>
                  </a:txBody>
                  <a:tcPr/>
                </a:tc>
              </a:tr>
            </a:tbl>
          </a:graphicData>
        </a:graphic>
      </p:graphicFrame>
      <p:sp>
        <p:nvSpPr>
          <p:cNvPr id="14" name="ZoneTexte 13"/>
          <p:cNvSpPr txBox="1"/>
          <p:nvPr/>
        </p:nvSpPr>
        <p:spPr>
          <a:xfrm>
            <a:off x="4429124" y="928670"/>
            <a:ext cx="4286280" cy="369332"/>
          </a:xfrm>
          <a:prstGeom prst="rect">
            <a:avLst/>
          </a:prstGeom>
          <a:noFill/>
        </p:spPr>
        <p:txBody>
          <a:bodyPr wrap="square" rtlCol="0">
            <a:spAutoFit/>
          </a:bodyPr>
          <a:lstStyle/>
          <a:p>
            <a:pPr algn="ctr"/>
            <a:r>
              <a:rPr lang="fr-FR" b="1" dirty="0" smtClean="0"/>
              <a:t>Opérateurs Relationnels</a:t>
            </a:r>
            <a:endParaRPr lang="fr-FR" b="1" dirty="0"/>
          </a:p>
        </p:txBody>
      </p:sp>
      <p:sp>
        <p:nvSpPr>
          <p:cNvPr id="10" name="ZoneTexte 9"/>
          <p:cNvSpPr txBox="1"/>
          <p:nvPr/>
        </p:nvSpPr>
        <p:spPr>
          <a:xfrm>
            <a:off x="8501090" y="6286520"/>
            <a:ext cx="441146" cy="369332"/>
          </a:xfrm>
          <a:prstGeom prst="rect">
            <a:avLst/>
          </a:prstGeom>
          <a:noFill/>
        </p:spPr>
        <p:txBody>
          <a:bodyPr wrap="none" rtlCol="0">
            <a:spAutoFit/>
          </a:bodyPr>
          <a:lstStyle/>
          <a:p>
            <a:r>
              <a:rPr lang="fr-FR" dirty="0" smtClean="0"/>
              <a:t>30</a:t>
            </a:r>
            <a:endParaRPr lang="fr-FR"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3" name="ZoneTexte 12"/>
          <p:cNvSpPr txBox="1"/>
          <p:nvPr/>
        </p:nvSpPr>
        <p:spPr>
          <a:xfrm>
            <a:off x="285720" y="285728"/>
            <a:ext cx="5657318" cy="461665"/>
          </a:xfrm>
          <a:prstGeom prst="rect">
            <a:avLst/>
          </a:prstGeom>
          <a:noFill/>
        </p:spPr>
        <p:txBody>
          <a:bodyPr wrap="none" rtlCol="0">
            <a:spAutoFit/>
          </a:bodyPr>
          <a:lstStyle/>
          <a:p>
            <a:r>
              <a:rPr lang="fr-FR" sz="2400" b="1" dirty="0" smtClean="0"/>
              <a:t>Priorités des opérateur arithmétique</a:t>
            </a:r>
          </a:p>
        </p:txBody>
      </p:sp>
      <p:sp>
        <p:nvSpPr>
          <p:cNvPr id="10" name="ZoneTexte 9"/>
          <p:cNvSpPr txBox="1"/>
          <p:nvPr/>
        </p:nvSpPr>
        <p:spPr>
          <a:xfrm>
            <a:off x="571472" y="1500174"/>
            <a:ext cx="4772460" cy="2123658"/>
          </a:xfrm>
          <a:prstGeom prst="rect">
            <a:avLst/>
          </a:prstGeom>
          <a:noFill/>
        </p:spPr>
        <p:txBody>
          <a:bodyPr wrap="none" rtlCol="0">
            <a:spAutoFit/>
          </a:bodyPr>
          <a:lstStyle/>
          <a:p>
            <a:r>
              <a:rPr lang="fr-FR" sz="2400" b="1" dirty="0" smtClean="0"/>
              <a:t>Priorité 1 :</a:t>
            </a:r>
            <a:r>
              <a:rPr lang="fr-FR" sz="2400" dirty="0" smtClean="0"/>
              <a:t>   </a:t>
            </a:r>
            <a:r>
              <a:rPr lang="fr-FR" sz="2800" b="1" dirty="0" smtClean="0"/>
              <a:t>^</a:t>
            </a:r>
            <a:r>
              <a:rPr lang="fr-FR" sz="2400" dirty="0" smtClean="0"/>
              <a:t> (exponentiation) </a:t>
            </a:r>
          </a:p>
          <a:p>
            <a:endParaRPr lang="fr-FR" sz="2400" dirty="0" smtClean="0"/>
          </a:p>
          <a:p>
            <a:r>
              <a:rPr lang="fr-FR" sz="2400" b="1" dirty="0" smtClean="0"/>
              <a:t>Priorité 2 :</a:t>
            </a:r>
            <a:r>
              <a:rPr lang="fr-FR" sz="2400" dirty="0" smtClean="0"/>
              <a:t> </a:t>
            </a:r>
            <a:r>
              <a:rPr lang="fr-FR" sz="2800" b="1" dirty="0" smtClean="0"/>
              <a:t>*</a:t>
            </a:r>
            <a:r>
              <a:rPr lang="fr-FR" sz="2400" dirty="0" smtClean="0"/>
              <a:t> et </a:t>
            </a:r>
            <a:r>
              <a:rPr lang="fr-FR" sz="2800" b="1" dirty="0" smtClean="0"/>
              <a:t>/</a:t>
            </a:r>
            <a:r>
              <a:rPr lang="fr-FR" sz="2400" dirty="0" smtClean="0"/>
              <a:t> (même priorité)</a:t>
            </a:r>
          </a:p>
          <a:p>
            <a:endParaRPr lang="fr-FR" sz="2400" dirty="0" smtClean="0"/>
          </a:p>
          <a:p>
            <a:r>
              <a:rPr lang="fr-FR" sz="2400" b="1" dirty="0" smtClean="0"/>
              <a:t>Priorité 3 :</a:t>
            </a:r>
            <a:r>
              <a:rPr lang="fr-FR" sz="2400" dirty="0" smtClean="0"/>
              <a:t> </a:t>
            </a:r>
            <a:r>
              <a:rPr lang="fr-FR" sz="2800" b="1" dirty="0" smtClean="0"/>
              <a:t>+</a:t>
            </a:r>
            <a:r>
              <a:rPr lang="fr-FR" sz="2400" dirty="0" smtClean="0"/>
              <a:t> et </a:t>
            </a:r>
            <a:r>
              <a:rPr lang="fr-FR" sz="2800" b="1" dirty="0" smtClean="0"/>
              <a:t>–</a:t>
            </a:r>
            <a:r>
              <a:rPr lang="fr-FR" sz="2400" dirty="0" smtClean="0"/>
              <a:t> (même priorité)</a:t>
            </a:r>
            <a:endParaRPr lang="fr-FR" sz="2400" dirty="0"/>
          </a:p>
        </p:txBody>
      </p:sp>
      <p:sp>
        <p:nvSpPr>
          <p:cNvPr id="11" name="ZoneTexte 10"/>
          <p:cNvSpPr txBox="1"/>
          <p:nvPr/>
        </p:nvSpPr>
        <p:spPr>
          <a:xfrm>
            <a:off x="285720" y="4631304"/>
            <a:ext cx="8674169" cy="369332"/>
          </a:xfrm>
          <a:prstGeom prst="rect">
            <a:avLst/>
          </a:prstGeom>
          <a:noFill/>
        </p:spPr>
        <p:txBody>
          <a:bodyPr wrap="none" rtlCol="0">
            <a:spAutoFit/>
          </a:bodyPr>
          <a:lstStyle/>
          <a:p>
            <a:r>
              <a:rPr lang="fr-FR" b="1" dirty="0" smtClean="0"/>
              <a:t>Il est possible de modifier cet ordre de priorité en intégrant les parenthèses ()</a:t>
            </a:r>
            <a:endParaRPr lang="fr-FR" b="1" dirty="0"/>
          </a:p>
        </p:txBody>
      </p:sp>
      <p:sp>
        <p:nvSpPr>
          <p:cNvPr id="7" name="ZoneTexte 6"/>
          <p:cNvSpPr txBox="1"/>
          <p:nvPr/>
        </p:nvSpPr>
        <p:spPr>
          <a:xfrm>
            <a:off x="8501090" y="6286520"/>
            <a:ext cx="441146" cy="369332"/>
          </a:xfrm>
          <a:prstGeom prst="rect">
            <a:avLst/>
          </a:prstGeom>
          <a:noFill/>
        </p:spPr>
        <p:txBody>
          <a:bodyPr wrap="none" rtlCol="0">
            <a:spAutoFit/>
          </a:bodyPr>
          <a:lstStyle/>
          <a:p>
            <a:r>
              <a:rPr lang="fr-FR" dirty="0" smtClean="0"/>
              <a:t>31</a:t>
            </a:r>
            <a:endParaRPr lang="fr-FR"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3" name="ZoneTexte 12"/>
          <p:cNvSpPr txBox="1"/>
          <p:nvPr/>
        </p:nvSpPr>
        <p:spPr>
          <a:xfrm>
            <a:off x="285720" y="285728"/>
            <a:ext cx="1452642" cy="461665"/>
          </a:xfrm>
          <a:prstGeom prst="rect">
            <a:avLst/>
          </a:prstGeom>
          <a:noFill/>
        </p:spPr>
        <p:txBody>
          <a:bodyPr wrap="none" rtlCol="0">
            <a:spAutoFit/>
          </a:bodyPr>
          <a:lstStyle/>
          <a:p>
            <a:r>
              <a:rPr lang="fr-FR" sz="2400" b="1" dirty="0" smtClean="0"/>
              <a:t>Exercice</a:t>
            </a:r>
          </a:p>
        </p:txBody>
      </p:sp>
      <p:sp>
        <p:nvSpPr>
          <p:cNvPr id="10" name="ZoneTexte 9"/>
          <p:cNvSpPr txBox="1"/>
          <p:nvPr/>
        </p:nvSpPr>
        <p:spPr>
          <a:xfrm>
            <a:off x="500034" y="1857364"/>
            <a:ext cx="5301451" cy="646331"/>
          </a:xfrm>
          <a:prstGeom prst="rect">
            <a:avLst/>
          </a:prstGeom>
          <a:noFill/>
        </p:spPr>
        <p:txBody>
          <a:bodyPr wrap="none" rtlCol="0">
            <a:spAutoFit/>
          </a:bodyPr>
          <a:lstStyle/>
          <a:p>
            <a:r>
              <a:rPr lang="fr-FR" dirty="0" smtClean="0"/>
              <a:t>Que donnent les commandes suivantes </a:t>
            </a:r>
          </a:p>
          <a:p>
            <a:r>
              <a:rPr lang="fr-FR" dirty="0" smtClean="0"/>
              <a:t>Quel est le type et la valeur de chaque expression</a:t>
            </a:r>
            <a:endParaRPr lang="fr-FR" dirty="0"/>
          </a:p>
        </p:txBody>
      </p:sp>
      <p:graphicFrame>
        <p:nvGraphicFramePr>
          <p:cNvPr id="15" name="Tableau 14"/>
          <p:cNvGraphicFramePr>
            <a:graphicFrameLocks noGrp="1"/>
          </p:cNvGraphicFramePr>
          <p:nvPr/>
        </p:nvGraphicFramePr>
        <p:xfrm>
          <a:off x="500034" y="2714620"/>
          <a:ext cx="8358246" cy="3108960"/>
        </p:xfrm>
        <a:graphic>
          <a:graphicData uri="http://schemas.openxmlformats.org/drawingml/2006/table">
            <a:tbl>
              <a:tblPr firstRow="1" bandRow="1">
                <a:tableStyleId>{5C22544A-7EE6-4342-B048-85BDC9FD1C3A}</a:tableStyleId>
              </a:tblPr>
              <a:tblGrid>
                <a:gridCol w="8358246"/>
              </a:tblGrid>
              <a:tr h="370840">
                <a:tc>
                  <a:txBody>
                    <a:bodyPr/>
                    <a:lstStyle/>
                    <a:p>
                      <a:r>
                        <a:rPr lang="fr-FR" b="0" baseline="0" dirty="0" smtClean="0">
                          <a:solidFill>
                            <a:schemeClr val="tx1"/>
                          </a:solidFill>
                          <a:latin typeface="Consolas" pitchFamily="49" charset="0"/>
                        </a:rPr>
                        <a:t>&gt;&gt; x&lt;y</a:t>
                      </a:r>
                    </a:p>
                    <a:p>
                      <a:endParaRPr lang="fr-FR" b="0" baseline="0" dirty="0" smtClean="0">
                        <a:solidFill>
                          <a:schemeClr val="tx1"/>
                        </a:solidFill>
                        <a:latin typeface="Consolas" pitchFamily="49" charset="0"/>
                      </a:endParaRPr>
                    </a:p>
                    <a:p>
                      <a:r>
                        <a:rPr lang="fr-FR" b="0" baseline="0" dirty="0" smtClean="0">
                          <a:solidFill>
                            <a:schemeClr val="tx1"/>
                          </a:solidFill>
                          <a:latin typeface="Consolas" pitchFamily="49" charset="0"/>
                        </a:rPr>
                        <a:t>&gt;&gt; y&lt;x</a:t>
                      </a:r>
                    </a:p>
                    <a:p>
                      <a:endParaRPr lang="fr-FR" b="0" baseline="0" dirty="0" smtClean="0">
                        <a:solidFill>
                          <a:schemeClr val="tx1"/>
                        </a:solidFill>
                        <a:latin typeface="Consolas" pitchFamily="49" charset="0"/>
                      </a:endParaRPr>
                    </a:p>
                    <a:p>
                      <a:r>
                        <a:rPr lang="fr-FR" b="0" baseline="0" dirty="0" smtClean="0">
                          <a:solidFill>
                            <a:schemeClr val="tx1"/>
                          </a:solidFill>
                          <a:latin typeface="Consolas" pitchFamily="49" charset="0"/>
                        </a:rPr>
                        <a:t>&gt;&gt; ~(x&lt;y)</a:t>
                      </a:r>
                    </a:p>
                    <a:p>
                      <a:endParaRPr lang="fr-FR" b="0" baseline="0" dirty="0" smtClean="0">
                        <a:solidFill>
                          <a:schemeClr val="tx1"/>
                        </a:solidFill>
                        <a:latin typeface="Consolas" pitchFamily="49" charset="0"/>
                      </a:endParaRPr>
                    </a:p>
                    <a:p>
                      <a:r>
                        <a:rPr lang="fr-FR" b="0" baseline="0" dirty="0" smtClean="0">
                          <a:solidFill>
                            <a:schemeClr val="tx1"/>
                          </a:solidFill>
                          <a:latin typeface="Consolas" pitchFamily="49" charset="0"/>
                        </a:rPr>
                        <a:t>&gt;&gt; (x==y)</a:t>
                      </a:r>
                    </a:p>
                    <a:p>
                      <a:endParaRPr lang="fr-FR" b="0" baseline="0" dirty="0" smtClean="0">
                        <a:solidFill>
                          <a:schemeClr val="tx1"/>
                        </a:solidFill>
                        <a:latin typeface="Consolas" pitchFamily="49" charset="0"/>
                      </a:endParaRPr>
                    </a:p>
                    <a:p>
                      <a:r>
                        <a:rPr lang="fr-FR" b="0" baseline="0" dirty="0" smtClean="0">
                          <a:solidFill>
                            <a:schemeClr val="tx1"/>
                          </a:solidFill>
                          <a:latin typeface="Consolas" pitchFamily="49" charset="0"/>
                        </a:rPr>
                        <a:t>&gt;&gt; (x&lt;11) &amp; (y=3)</a:t>
                      </a:r>
                    </a:p>
                    <a:p>
                      <a:pPr marL="0" marR="0" indent="0" algn="l" defTabSz="914400" rtl="0" eaLnBrk="1" fontAlgn="auto" latinLnBrk="0" hangingPunct="1">
                        <a:lnSpc>
                          <a:spcPct val="100000"/>
                        </a:lnSpc>
                        <a:spcBef>
                          <a:spcPts val="0"/>
                        </a:spcBef>
                        <a:spcAft>
                          <a:spcPts val="0"/>
                        </a:spcAft>
                        <a:buClrTx/>
                        <a:buSzTx/>
                        <a:buFontTx/>
                        <a:buNone/>
                        <a:tabLst/>
                        <a:defRPr/>
                      </a:pPr>
                      <a:endParaRPr lang="fr-FR" b="0" baseline="0" dirty="0" smtClean="0">
                        <a:solidFill>
                          <a:schemeClr val="tx1"/>
                        </a:solidFill>
                        <a:latin typeface="Consolas" pitchFamily="49"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b="0" baseline="0" dirty="0" smtClean="0">
                          <a:solidFill>
                            <a:schemeClr val="tx1"/>
                          </a:solidFill>
                          <a:latin typeface="Consolas" pitchFamily="49" charset="0"/>
                        </a:rPr>
                        <a:t>&gt;&gt; (x&lt;11) &amp; (y==3)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ZoneTexte 5"/>
          <p:cNvSpPr txBox="1"/>
          <p:nvPr/>
        </p:nvSpPr>
        <p:spPr>
          <a:xfrm>
            <a:off x="571472" y="785794"/>
            <a:ext cx="6173485" cy="369332"/>
          </a:xfrm>
          <a:prstGeom prst="rect">
            <a:avLst/>
          </a:prstGeom>
          <a:noFill/>
        </p:spPr>
        <p:txBody>
          <a:bodyPr wrap="none" rtlCol="0">
            <a:spAutoFit/>
          </a:bodyPr>
          <a:lstStyle/>
          <a:p>
            <a:r>
              <a:rPr lang="fr-FR" dirty="0" smtClean="0"/>
              <a:t>Soit les variables x et y définies par la commande suivante</a:t>
            </a:r>
            <a:endParaRPr lang="fr-FR" dirty="0"/>
          </a:p>
        </p:txBody>
      </p:sp>
      <p:graphicFrame>
        <p:nvGraphicFramePr>
          <p:cNvPr id="7" name="Tableau 6"/>
          <p:cNvGraphicFramePr>
            <a:graphicFrameLocks noGrp="1"/>
          </p:cNvGraphicFramePr>
          <p:nvPr/>
        </p:nvGraphicFramePr>
        <p:xfrm>
          <a:off x="500034" y="1214422"/>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0" dirty="0" smtClean="0">
                          <a:solidFill>
                            <a:schemeClr val="tx1"/>
                          </a:solidFill>
                          <a:latin typeface="Consolas" pitchFamily="49" charset="0"/>
                        </a:rPr>
                        <a:t>&gt;&gt;</a:t>
                      </a:r>
                      <a:r>
                        <a:rPr lang="fr-FR" b="0" baseline="0" dirty="0" smtClean="0">
                          <a:solidFill>
                            <a:schemeClr val="tx1"/>
                          </a:solidFill>
                          <a:latin typeface="Consolas" pitchFamily="49" charset="0"/>
                        </a:rPr>
                        <a:t> x=10; y=20;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ZoneTexte 8"/>
          <p:cNvSpPr txBox="1"/>
          <p:nvPr/>
        </p:nvSpPr>
        <p:spPr>
          <a:xfrm>
            <a:off x="8501090" y="6286520"/>
            <a:ext cx="441146" cy="369332"/>
          </a:xfrm>
          <a:prstGeom prst="rect">
            <a:avLst/>
          </a:prstGeom>
          <a:noFill/>
        </p:spPr>
        <p:txBody>
          <a:bodyPr wrap="none" rtlCol="0">
            <a:spAutoFit/>
          </a:bodyPr>
          <a:lstStyle/>
          <a:p>
            <a:r>
              <a:rPr lang="fr-FR" smtClean="0"/>
              <a:t>32</a:t>
            </a:r>
            <a:endParaRPr lang="fr-FR"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3" name="ZoneTexte 12"/>
          <p:cNvSpPr txBox="1"/>
          <p:nvPr/>
        </p:nvSpPr>
        <p:spPr>
          <a:xfrm>
            <a:off x="285720" y="285728"/>
            <a:ext cx="1452642" cy="461665"/>
          </a:xfrm>
          <a:prstGeom prst="rect">
            <a:avLst/>
          </a:prstGeom>
          <a:noFill/>
        </p:spPr>
        <p:txBody>
          <a:bodyPr wrap="none" rtlCol="0">
            <a:spAutoFit/>
          </a:bodyPr>
          <a:lstStyle/>
          <a:p>
            <a:r>
              <a:rPr lang="fr-FR" sz="2400" b="1" dirty="0" smtClean="0"/>
              <a:t>Exercice</a:t>
            </a:r>
          </a:p>
        </p:txBody>
      </p:sp>
      <p:sp>
        <p:nvSpPr>
          <p:cNvPr id="10" name="ZoneTexte 9"/>
          <p:cNvSpPr txBox="1"/>
          <p:nvPr/>
        </p:nvSpPr>
        <p:spPr>
          <a:xfrm>
            <a:off x="285720" y="857232"/>
            <a:ext cx="3365024" cy="369332"/>
          </a:xfrm>
          <a:prstGeom prst="rect">
            <a:avLst/>
          </a:prstGeom>
          <a:noFill/>
        </p:spPr>
        <p:txBody>
          <a:bodyPr wrap="none" rtlCol="0">
            <a:spAutoFit/>
          </a:bodyPr>
          <a:lstStyle/>
          <a:p>
            <a:r>
              <a:rPr lang="fr-FR" dirty="0" smtClean="0"/>
              <a:t>Que fait la commande suivante</a:t>
            </a:r>
            <a:endParaRPr lang="fr-FR" dirty="0"/>
          </a:p>
        </p:txBody>
      </p:sp>
      <p:graphicFrame>
        <p:nvGraphicFramePr>
          <p:cNvPr id="15" name="Tableau 14"/>
          <p:cNvGraphicFramePr>
            <a:graphicFrameLocks noGrp="1"/>
          </p:cNvGraphicFramePr>
          <p:nvPr/>
        </p:nvGraphicFramePr>
        <p:xfrm>
          <a:off x="285720" y="1428736"/>
          <a:ext cx="8358246" cy="37084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z = (x==5)</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ZoneTexte 5"/>
          <p:cNvSpPr txBox="1"/>
          <p:nvPr/>
        </p:nvSpPr>
        <p:spPr>
          <a:xfrm>
            <a:off x="285720" y="2500306"/>
            <a:ext cx="7853432" cy="369332"/>
          </a:xfrm>
          <a:prstGeom prst="rect">
            <a:avLst/>
          </a:prstGeom>
          <a:noFill/>
        </p:spPr>
        <p:txBody>
          <a:bodyPr wrap="none" rtlCol="0">
            <a:spAutoFit/>
          </a:bodyPr>
          <a:lstStyle/>
          <a:p>
            <a:r>
              <a:rPr lang="fr-FR" dirty="0" smtClean="0"/>
              <a:t>Donnez la commande Matlab permettant de calculer l’expression suivante</a:t>
            </a:r>
            <a:endParaRPr lang="fr-FR" dirty="0"/>
          </a:p>
        </p:txBody>
      </p:sp>
      <p:graphicFrame>
        <p:nvGraphicFramePr>
          <p:cNvPr id="7" name="Objet 6"/>
          <p:cNvGraphicFramePr>
            <a:graphicFrameLocks noChangeAspect="1"/>
          </p:cNvGraphicFramePr>
          <p:nvPr/>
        </p:nvGraphicFramePr>
        <p:xfrm>
          <a:off x="4000496" y="3357562"/>
          <a:ext cx="1357093" cy="1079506"/>
        </p:xfrm>
        <a:graphic>
          <a:graphicData uri="http://schemas.openxmlformats.org/presentationml/2006/ole">
            <p:oleObj spid="_x0000_s3074" name="Équation" r:id="rId4" imgW="558558" imgH="444307" progId="">
              <p:embed/>
            </p:oleObj>
          </a:graphicData>
        </a:graphic>
      </p:graphicFrame>
      <p:sp>
        <p:nvSpPr>
          <p:cNvPr id="9" name="ZoneTexte 8"/>
          <p:cNvSpPr txBox="1"/>
          <p:nvPr/>
        </p:nvSpPr>
        <p:spPr>
          <a:xfrm>
            <a:off x="8501090" y="6286520"/>
            <a:ext cx="441146" cy="369332"/>
          </a:xfrm>
          <a:prstGeom prst="rect">
            <a:avLst/>
          </a:prstGeom>
          <a:noFill/>
        </p:spPr>
        <p:txBody>
          <a:bodyPr wrap="none" rtlCol="0">
            <a:spAutoFit/>
          </a:bodyPr>
          <a:lstStyle/>
          <a:p>
            <a:r>
              <a:rPr lang="fr-FR" dirty="0" smtClean="0"/>
              <a:t>33</a:t>
            </a:r>
            <a:endParaRPr lang="fr-FR"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2844" y="2285992"/>
            <a:ext cx="8786874" cy="1143000"/>
          </a:xfrm>
        </p:spPr>
        <p:txBody>
          <a:bodyPr>
            <a:normAutofit/>
          </a:bodyPr>
          <a:lstStyle/>
          <a:p>
            <a:pPr algn="ctr"/>
            <a:r>
              <a:rPr lang="fr-FR" sz="3200" b="1" dirty="0" smtClean="0"/>
              <a:t>Les Fonctions prédéfinies</a:t>
            </a:r>
            <a:endParaRPr lang="fr-FR" sz="3200" b="1" dirty="0"/>
          </a:p>
        </p:txBody>
      </p:sp>
      <p:sp>
        <p:nvSpPr>
          <p:cNvPr id="7" name="ZoneTexte 6"/>
          <p:cNvSpPr txBox="1"/>
          <p:nvPr/>
        </p:nvSpPr>
        <p:spPr>
          <a:xfrm>
            <a:off x="642910" y="2571744"/>
            <a:ext cx="184731" cy="369332"/>
          </a:xfrm>
          <a:prstGeom prst="rect">
            <a:avLst/>
          </a:prstGeom>
          <a:noFill/>
        </p:spPr>
        <p:txBody>
          <a:bodyPr wrap="none" rtlCol="0">
            <a:spAutoFit/>
          </a:bodyPr>
          <a:lstStyle/>
          <a:p>
            <a:endParaRPr lang="fr-FR"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3" name="ZoneTexte 12"/>
          <p:cNvSpPr txBox="1"/>
          <p:nvPr/>
        </p:nvSpPr>
        <p:spPr>
          <a:xfrm>
            <a:off x="285720" y="285728"/>
            <a:ext cx="3995004" cy="461665"/>
          </a:xfrm>
          <a:prstGeom prst="rect">
            <a:avLst/>
          </a:prstGeom>
          <a:noFill/>
        </p:spPr>
        <p:txBody>
          <a:bodyPr wrap="none" rtlCol="0">
            <a:spAutoFit/>
          </a:bodyPr>
          <a:lstStyle/>
          <a:p>
            <a:r>
              <a:rPr lang="fr-FR" sz="2400" b="1" dirty="0" smtClean="0"/>
              <a:t>Les Fonctions prédéfinies</a:t>
            </a:r>
          </a:p>
        </p:txBody>
      </p:sp>
      <p:sp>
        <p:nvSpPr>
          <p:cNvPr id="10" name="ZoneTexte 9"/>
          <p:cNvSpPr txBox="1"/>
          <p:nvPr/>
        </p:nvSpPr>
        <p:spPr>
          <a:xfrm>
            <a:off x="285720" y="857232"/>
            <a:ext cx="8443337" cy="646331"/>
          </a:xfrm>
          <a:prstGeom prst="rect">
            <a:avLst/>
          </a:prstGeom>
          <a:noFill/>
        </p:spPr>
        <p:txBody>
          <a:bodyPr wrap="none" rtlCol="0">
            <a:spAutoFit/>
          </a:bodyPr>
          <a:lstStyle/>
          <a:p>
            <a:r>
              <a:rPr lang="fr-FR" dirty="0" smtClean="0"/>
              <a:t>Matlab peut être considéré comme une calculatrice scientifique géante avec des </a:t>
            </a:r>
          </a:p>
          <a:p>
            <a:r>
              <a:rPr lang="fr-FR" dirty="0" smtClean="0"/>
              <a:t>milliers de fonctions. Nous allons voir uniquement les fonctions les plus utilisées.</a:t>
            </a:r>
            <a:endParaRPr lang="fr-FR" dirty="0"/>
          </a:p>
        </p:txBody>
      </p:sp>
      <p:graphicFrame>
        <p:nvGraphicFramePr>
          <p:cNvPr id="14" name="Tableau 13"/>
          <p:cNvGraphicFramePr>
            <a:graphicFrameLocks noGrp="1"/>
          </p:cNvGraphicFramePr>
          <p:nvPr/>
        </p:nvGraphicFramePr>
        <p:xfrm>
          <a:off x="1428728" y="1785926"/>
          <a:ext cx="6096000" cy="4419600"/>
        </p:xfrm>
        <a:graphic>
          <a:graphicData uri="http://schemas.openxmlformats.org/drawingml/2006/table">
            <a:tbl>
              <a:tblPr firstRow="1" bandRow="1">
                <a:tableStyleId>{073A0DAA-6AF3-43AB-8588-CEC1D06C72B9}</a:tableStyleId>
              </a:tblPr>
              <a:tblGrid>
                <a:gridCol w="2214578"/>
                <a:gridCol w="1849422"/>
                <a:gridCol w="2032000"/>
              </a:tblGrid>
              <a:tr h="299402">
                <a:tc>
                  <a:txBody>
                    <a:bodyPr/>
                    <a:lstStyle/>
                    <a:p>
                      <a:pPr algn="ctr"/>
                      <a:r>
                        <a:rPr lang="fr-FR" dirty="0" smtClean="0"/>
                        <a:t>Trigonométriques</a:t>
                      </a:r>
                      <a:endParaRPr lang="fr-FR" dirty="0"/>
                    </a:p>
                  </a:txBody>
                  <a:tcPr/>
                </a:tc>
                <a:tc>
                  <a:txBody>
                    <a:bodyPr/>
                    <a:lstStyle/>
                    <a:p>
                      <a:pPr algn="ctr"/>
                      <a:r>
                        <a:rPr lang="fr-FR" dirty="0" smtClean="0"/>
                        <a:t>Calculs</a:t>
                      </a:r>
                      <a:endParaRPr lang="fr-FR" dirty="0"/>
                    </a:p>
                  </a:txBody>
                  <a:tcPr/>
                </a:tc>
                <a:tc>
                  <a:txBody>
                    <a:bodyPr/>
                    <a:lstStyle/>
                    <a:p>
                      <a:pPr algn="ctr"/>
                      <a:r>
                        <a:rPr lang="fr-FR" dirty="0" smtClean="0"/>
                        <a:t>Chaines</a:t>
                      </a:r>
                      <a:endParaRPr lang="fr-FR" dirty="0"/>
                    </a:p>
                  </a:txBody>
                  <a:tcPr/>
                </a:tc>
              </a:tr>
              <a:tr h="370840">
                <a:tc>
                  <a:txBody>
                    <a:bodyPr/>
                    <a:lstStyle/>
                    <a:p>
                      <a:pPr algn="ctr"/>
                      <a:r>
                        <a:rPr lang="fr-FR" sz="2000" b="1" dirty="0" smtClean="0">
                          <a:latin typeface="Consolas" pitchFamily="49" charset="0"/>
                        </a:rPr>
                        <a:t>sin</a:t>
                      </a:r>
                    </a:p>
                    <a:p>
                      <a:pPr algn="ctr"/>
                      <a:r>
                        <a:rPr lang="fr-FR" sz="2000" b="1" dirty="0" err="1" smtClean="0">
                          <a:latin typeface="Consolas" pitchFamily="49" charset="0"/>
                        </a:rPr>
                        <a:t>sind</a:t>
                      </a:r>
                      <a:endParaRPr lang="fr-FR" sz="2000" b="1" dirty="0" smtClean="0">
                        <a:latin typeface="Consolas" pitchFamily="49" charset="0"/>
                      </a:endParaRPr>
                    </a:p>
                    <a:p>
                      <a:pPr algn="ctr"/>
                      <a:r>
                        <a:rPr lang="fr-FR" sz="2000" b="1" dirty="0" smtClean="0">
                          <a:latin typeface="Consolas" pitchFamily="49" charset="0"/>
                        </a:rPr>
                        <a:t>cos</a:t>
                      </a:r>
                    </a:p>
                    <a:p>
                      <a:pPr algn="ctr"/>
                      <a:r>
                        <a:rPr lang="fr-FR" sz="2000" b="1" dirty="0" err="1" smtClean="0">
                          <a:latin typeface="Consolas" pitchFamily="49" charset="0"/>
                        </a:rPr>
                        <a:t>cosd</a:t>
                      </a:r>
                      <a:endParaRPr lang="fr-FR" sz="2000" b="1" dirty="0" smtClean="0">
                        <a:latin typeface="Consolas" pitchFamily="49" charset="0"/>
                      </a:endParaRPr>
                    </a:p>
                    <a:p>
                      <a:pPr algn="ctr"/>
                      <a:r>
                        <a:rPr lang="fr-FR" sz="2000" b="1" dirty="0" smtClean="0">
                          <a:latin typeface="Consolas" pitchFamily="49" charset="0"/>
                        </a:rPr>
                        <a:t>tan</a:t>
                      </a:r>
                    </a:p>
                    <a:p>
                      <a:pPr algn="ctr"/>
                      <a:r>
                        <a:rPr lang="fr-FR" sz="2000" b="1" dirty="0" err="1" smtClean="0">
                          <a:latin typeface="Consolas" pitchFamily="49" charset="0"/>
                        </a:rPr>
                        <a:t>tand</a:t>
                      </a:r>
                      <a:endParaRPr lang="fr-FR" sz="2000" b="1" dirty="0" smtClean="0">
                        <a:latin typeface="Consolas" pitchFamily="49" charset="0"/>
                      </a:endParaRPr>
                    </a:p>
                    <a:p>
                      <a:pPr algn="ctr"/>
                      <a:r>
                        <a:rPr lang="fr-FR" sz="2000" b="1" dirty="0" err="1" smtClean="0">
                          <a:latin typeface="Consolas" pitchFamily="49" charset="0"/>
                        </a:rPr>
                        <a:t>atan</a:t>
                      </a:r>
                      <a:endParaRPr lang="fr-FR" sz="2000" b="1" dirty="0" smtClean="0">
                        <a:latin typeface="Consolas" pitchFamily="49" charset="0"/>
                      </a:endParaRPr>
                    </a:p>
                    <a:p>
                      <a:pPr algn="ctr"/>
                      <a:r>
                        <a:rPr lang="fr-FR" sz="2000" b="1" dirty="0" err="1" smtClean="0">
                          <a:latin typeface="Consolas" pitchFamily="49" charset="0"/>
                        </a:rPr>
                        <a:t>atand</a:t>
                      </a:r>
                      <a:endParaRPr lang="fr-FR" sz="2000" b="1" dirty="0" smtClean="0">
                        <a:latin typeface="Consolas" pitchFamily="49" charset="0"/>
                      </a:endParaRPr>
                    </a:p>
                    <a:p>
                      <a:pPr algn="ctr"/>
                      <a:r>
                        <a:rPr lang="fr-FR" sz="2000" b="1" dirty="0" err="1" smtClean="0">
                          <a:latin typeface="Consolas" pitchFamily="49" charset="0"/>
                        </a:rPr>
                        <a:t>asin</a:t>
                      </a:r>
                      <a:endParaRPr lang="fr-FR" sz="2000" b="1" dirty="0" smtClean="0">
                        <a:latin typeface="Consolas" pitchFamily="49" charset="0"/>
                      </a:endParaRPr>
                    </a:p>
                    <a:p>
                      <a:pPr algn="ctr"/>
                      <a:r>
                        <a:rPr lang="fr-FR" sz="2000" b="1" dirty="0" err="1" smtClean="0">
                          <a:latin typeface="Consolas" pitchFamily="49" charset="0"/>
                        </a:rPr>
                        <a:t>acos</a:t>
                      </a:r>
                      <a:endParaRPr lang="fr-FR" sz="2000" b="1" dirty="0" smtClean="0">
                        <a:latin typeface="Consolas" pitchFamily="49" charset="0"/>
                      </a:endParaRPr>
                    </a:p>
                    <a:p>
                      <a:pPr algn="ctr"/>
                      <a:r>
                        <a:rPr lang="fr-FR" sz="2000" b="1" dirty="0" err="1" smtClean="0">
                          <a:latin typeface="Consolas" pitchFamily="49" charset="0"/>
                        </a:rPr>
                        <a:t>asind</a:t>
                      </a:r>
                      <a:endParaRPr lang="fr-FR" sz="2000" b="1" dirty="0" smtClean="0">
                        <a:latin typeface="Consolas" pitchFamily="49" charset="0"/>
                      </a:endParaRPr>
                    </a:p>
                    <a:p>
                      <a:pPr algn="ctr"/>
                      <a:r>
                        <a:rPr lang="fr-FR" sz="2000" b="1" dirty="0" err="1" smtClean="0">
                          <a:latin typeface="Consolas" pitchFamily="49" charset="0"/>
                        </a:rPr>
                        <a:t>acosd</a:t>
                      </a:r>
                      <a:endParaRPr lang="fr-FR" sz="2000" b="1" dirty="0" smtClean="0">
                        <a:latin typeface="Consolas" pitchFamily="49" charset="0"/>
                      </a:endParaRPr>
                    </a:p>
                  </a:txBody>
                  <a:tcPr/>
                </a:tc>
                <a:tc>
                  <a:txBody>
                    <a:bodyPr/>
                    <a:lstStyle/>
                    <a:p>
                      <a:pPr algn="ctr"/>
                      <a:r>
                        <a:rPr lang="fr-FR" sz="2000" b="1" dirty="0" err="1" smtClean="0">
                          <a:latin typeface="Consolas" pitchFamily="49" charset="0"/>
                        </a:rPr>
                        <a:t>exp</a:t>
                      </a:r>
                      <a:endParaRPr lang="fr-FR" sz="2000" b="1" dirty="0" smtClean="0">
                        <a:latin typeface="Consolas" pitchFamily="49" charset="0"/>
                      </a:endParaRPr>
                    </a:p>
                    <a:p>
                      <a:pPr algn="ctr"/>
                      <a:r>
                        <a:rPr lang="fr-FR" sz="2000" b="1" dirty="0" smtClean="0">
                          <a:latin typeface="Consolas" pitchFamily="49" charset="0"/>
                        </a:rPr>
                        <a:t>log</a:t>
                      </a:r>
                    </a:p>
                    <a:p>
                      <a:pPr algn="ctr"/>
                      <a:r>
                        <a:rPr lang="fr-FR" sz="2000" b="1" dirty="0" smtClean="0">
                          <a:latin typeface="Consolas" pitchFamily="49" charset="0"/>
                        </a:rPr>
                        <a:t>log10</a:t>
                      </a:r>
                    </a:p>
                    <a:p>
                      <a:pPr algn="ctr"/>
                      <a:r>
                        <a:rPr lang="fr-FR" sz="2000" b="1" dirty="0" err="1" smtClean="0">
                          <a:latin typeface="Consolas" pitchFamily="49" charset="0"/>
                        </a:rPr>
                        <a:t>sqrt</a:t>
                      </a:r>
                      <a:endParaRPr lang="fr-FR" sz="2000" b="1" dirty="0" smtClean="0">
                        <a:latin typeface="Consolas" pitchFamily="49" charset="0"/>
                      </a:endParaRPr>
                    </a:p>
                    <a:p>
                      <a:pPr algn="ctr"/>
                      <a:r>
                        <a:rPr lang="fr-FR" sz="2000" b="1" dirty="0" smtClean="0">
                          <a:latin typeface="Consolas" pitchFamily="49" charset="0"/>
                        </a:rPr>
                        <a:t>abs</a:t>
                      </a:r>
                    </a:p>
                    <a:p>
                      <a:pPr marL="0" marR="0" indent="0" algn="ctr" defTabSz="914400" rtl="0" eaLnBrk="1" fontAlgn="auto" latinLnBrk="0" hangingPunct="1">
                        <a:lnSpc>
                          <a:spcPct val="100000"/>
                        </a:lnSpc>
                        <a:spcBef>
                          <a:spcPts val="0"/>
                        </a:spcBef>
                        <a:spcAft>
                          <a:spcPts val="0"/>
                        </a:spcAft>
                        <a:buClrTx/>
                        <a:buSzTx/>
                        <a:buFontTx/>
                        <a:buNone/>
                        <a:tabLst/>
                        <a:defRPr/>
                      </a:pPr>
                      <a:r>
                        <a:rPr lang="fr-FR" sz="2000" b="1" dirty="0" err="1" smtClean="0">
                          <a:latin typeface="Consolas" pitchFamily="49" charset="0"/>
                        </a:rPr>
                        <a:t>conj</a:t>
                      </a:r>
                      <a:endParaRPr lang="fr-FR" sz="2000" b="1" dirty="0" smtClean="0">
                        <a:latin typeface="Consolas" pitchFamily="49" charset="0"/>
                      </a:endParaRPr>
                    </a:p>
                    <a:p>
                      <a:pPr algn="ctr"/>
                      <a:r>
                        <a:rPr lang="fr-FR" sz="2000" b="1" dirty="0" err="1" smtClean="0">
                          <a:latin typeface="Consolas" pitchFamily="49" charset="0"/>
                        </a:rPr>
                        <a:t>imag</a:t>
                      </a:r>
                      <a:endParaRPr lang="fr-FR" sz="2000" b="1" dirty="0" smtClean="0">
                        <a:latin typeface="Consolas" pitchFamily="49" charset="0"/>
                      </a:endParaRPr>
                    </a:p>
                    <a:p>
                      <a:pPr algn="ctr"/>
                      <a:r>
                        <a:rPr lang="fr-FR" sz="2000" b="1" dirty="0" smtClean="0">
                          <a:latin typeface="Consolas" pitchFamily="49" charset="0"/>
                        </a:rPr>
                        <a:t>real</a:t>
                      </a:r>
                    </a:p>
                    <a:p>
                      <a:pPr marL="0" marR="0" indent="0" algn="ctr" defTabSz="914400" rtl="0" eaLnBrk="1" fontAlgn="auto" latinLnBrk="0" hangingPunct="1">
                        <a:lnSpc>
                          <a:spcPct val="100000"/>
                        </a:lnSpc>
                        <a:spcBef>
                          <a:spcPts val="0"/>
                        </a:spcBef>
                        <a:spcAft>
                          <a:spcPts val="0"/>
                        </a:spcAft>
                        <a:buClrTx/>
                        <a:buSzTx/>
                        <a:buFontTx/>
                        <a:buNone/>
                        <a:tabLst/>
                        <a:defRPr/>
                      </a:pPr>
                      <a:r>
                        <a:rPr lang="fr-FR" sz="2000" b="1" dirty="0" err="1" smtClean="0">
                          <a:latin typeface="Consolas" pitchFamily="49" charset="0"/>
                        </a:rPr>
                        <a:t>complex</a:t>
                      </a:r>
                      <a:endParaRPr lang="fr-FR" sz="2000" b="1" dirty="0" smtClean="0">
                        <a:latin typeface="Consolas" pitchFamily="49"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fr-FR" sz="2000" b="1" dirty="0" smtClean="0">
                          <a:latin typeface="Consolas" pitchFamily="49" charset="0"/>
                        </a:rPr>
                        <a:t>round</a:t>
                      </a:r>
                    </a:p>
                    <a:p>
                      <a:pPr algn="ctr"/>
                      <a:r>
                        <a:rPr lang="fr-FR" sz="2000" b="1" dirty="0" err="1" smtClean="0">
                          <a:latin typeface="Consolas" pitchFamily="49" charset="0"/>
                        </a:rPr>
                        <a:t>floor</a:t>
                      </a:r>
                      <a:endParaRPr lang="fr-FR" sz="2000" b="1" dirty="0" smtClean="0">
                        <a:latin typeface="Consolas" pitchFamily="49" charset="0"/>
                      </a:endParaRPr>
                    </a:p>
                    <a:p>
                      <a:pPr algn="ctr"/>
                      <a:r>
                        <a:rPr lang="fr-FR" sz="2000" b="1" dirty="0" err="1" smtClean="0">
                          <a:latin typeface="Consolas" pitchFamily="49" charset="0"/>
                        </a:rPr>
                        <a:t>ceil</a:t>
                      </a:r>
                      <a:endParaRPr lang="fr-FR" sz="2000" b="1" dirty="0" smtClean="0">
                        <a:latin typeface="Consolas" pitchFamily="49" charset="0"/>
                      </a:endParaRPr>
                    </a:p>
                    <a:p>
                      <a:pPr algn="ctr"/>
                      <a:r>
                        <a:rPr lang="fr-FR" sz="2000" b="1" dirty="0" err="1" smtClean="0">
                          <a:latin typeface="Consolas" pitchFamily="49" charset="0"/>
                        </a:rPr>
                        <a:t>Mod</a:t>
                      </a:r>
                      <a:endParaRPr lang="fr-FR" sz="2000" b="1" dirty="0" smtClean="0">
                        <a:latin typeface="Consolas" pitchFamily="49" charset="0"/>
                      </a:endParaRPr>
                    </a:p>
                  </a:txBody>
                  <a:tcPr/>
                </a:tc>
                <a:tc>
                  <a:txBody>
                    <a:bodyPr/>
                    <a:lstStyle/>
                    <a:p>
                      <a:pPr algn="ctr"/>
                      <a:r>
                        <a:rPr lang="fr-FR" sz="2000" b="1" dirty="0" err="1" smtClean="0">
                          <a:latin typeface="Consolas" pitchFamily="49" charset="0"/>
                        </a:rPr>
                        <a:t>strcat</a:t>
                      </a:r>
                      <a:endParaRPr lang="fr-FR" sz="2000" b="1" dirty="0" smtClean="0">
                        <a:latin typeface="Consolas" pitchFamily="49" charset="0"/>
                      </a:endParaRPr>
                    </a:p>
                    <a:p>
                      <a:pPr algn="ctr"/>
                      <a:r>
                        <a:rPr lang="fr-FR" sz="2000" b="1" dirty="0" err="1" smtClean="0">
                          <a:latin typeface="Consolas" pitchFamily="49" charset="0"/>
                        </a:rPr>
                        <a:t>upper</a:t>
                      </a:r>
                      <a:endParaRPr lang="fr-FR" sz="2000" b="1" dirty="0" smtClean="0">
                        <a:latin typeface="Consolas" pitchFamily="49" charset="0"/>
                      </a:endParaRPr>
                    </a:p>
                    <a:p>
                      <a:pPr algn="ctr"/>
                      <a:r>
                        <a:rPr lang="fr-FR" sz="2000" b="1" dirty="0" err="1" smtClean="0">
                          <a:latin typeface="Consolas" pitchFamily="49" charset="0"/>
                        </a:rPr>
                        <a:t>lower</a:t>
                      </a:r>
                      <a:endParaRPr lang="fr-FR" sz="2000" b="1" dirty="0" smtClean="0">
                        <a:latin typeface="Consolas" pitchFamily="49" charset="0"/>
                      </a:endParaRPr>
                    </a:p>
                    <a:p>
                      <a:pPr algn="ctr"/>
                      <a:r>
                        <a:rPr lang="fr-FR" sz="2000" b="1" dirty="0" err="1" smtClean="0">
                          <a:latin typeface="Consolas" pitchFamily="49" charset="0"/>
                        </a:rPr>
                        <a:t>length</a:t>
                      </a:r>
                      <a:endParaRPr lang="fr-FR" sz="2000" b="1" dirty="0" smtClean="0">
                        <a:latin typeface="Consolas" pitchFamily="49" charset="0"/>
                      </a:endParaRPr>
                    </a:p>
                  </a:txBody>
                  <a:tcPr/>
                </a:tc>
              </a:tr>
            </a:tbl>
          </a:graphicData>
        </a:graphic>
      </p:graphicFrame>
      <p:sp>
        <p:nvSpPr>
          <p:cNvPr id="6" name="ZoneTexte 5"/>
          <p:cNvSpPr txBox="1"/>
          <p:nvPr/>
        </p:nvSpPr>
        <p:spPr>
          <a:xfrm>
            <a:off x="8501090" y="6286520"/>
            <a:ext cx="441146" cy="369332"/>
          </a:xfrm>
          <a:prstGeom prst="rect">
            <a:avLst/>
          </a:prstGeom>
          <a:noFill/>
        </p:spPr>
        <p:txBody>
          <a:bodyPr wrap="none" rtlCol="0">
            <a:spAutoFit/>
          </a:bodyPr>
          <a:lstStyle/>
          <a:p>
            <a:r>
              <a:rPr lang="fr-FR" smtClean="0"/>
              <a:t>34</a:t>
            </a:r>
            <a:endParaRPr lang="fr-FR"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3" name="ZoneTexte 12"/>
          <p:cNvSpPr txBox="1"/>
          <p:nvPr/>
        </p:nvSpPr>
        <p:spPr>
          <a:xfrm>
            <a:off x="214282" y="142852"/>
            <a:ext cx="3871573" cy="461665"/>
          </a:xfrm>
          <a:prstGeom prst="rect">
            <a:avLst/>
          </a:prstGeom>
          <a:noFill/>
        </p:spPr>
        <p:txBody>
          <a:bodyPr wrap="none" rtlCol="0">
            <a:spAutoFit/>
          </a:bodyPr>
          <a:lstStyle/>
          <a:p>
            <a:r>
              <a:rPr lang="fr-FR" sz="2400" b="1" dirty="0" smtClean="0"/>
              <a:t>Utilisation d’une fonction</a:t>
            </a:r>
          </a:p>
        </p:txBody>
      </p:sp>
      <p:sp>
        <p:nvSpPr>
          <p:cNvPr id="10" name="ZoneTexte 9"/>
          <p:cNvSpPr txBox="1"/>
          <p:nvPr/>
        </p:nvSpPr>
        <p:spPr>
          <a:xfrm>
            <a:off x="142844" y="568091"/>
            <a:ext cx="8929718" cy="646331"/>
          </a:xfrm>
          <a:prstGeom prst="rect">
            <a:avLst/>
          </a:prstGeom>
          <a:noFill/>
        </p:spPr>
        <p:txBody>
          <a:bodyPr wrap="square" rtlCol="0">
            <a:spAutoFit/>
          </a:bodyPr>
          <a:lstStyle/>
          <a:p>
            <a:r>
              <a:rPr lang="fr-FR" dirty="0" smtClean="0"/>
              <a:t>Une fonction est appelée par son nom suivi des ses variables (paramètres) entre parenthèses.</a:t>
            </a:r>
            <a:endParaRPr lang="fr-FR" dirty="0"/>
          </a:p>
        </p:txBody>
      </p:sp>
      <p:sp>
        <p:nvSpPr>
          <p:cNvPr id="5" name="ZoneTexte 4"/>
          <p:cNvSpPr txBox="1"/>
          <p:nvPr/>
        </p:nvSpPr>
        <p:spPr>
          <a:xfrm>
            <a:off x="71406" y="1214422"/>
            <a:ext cx="6224781" cy="646331"/>
          </a:xfrm>
          <a:prstGeom prst="rect">
            <a:avLst/>
          </a:prstGeom>
          <a:noFill/>
        </p:spPr>
        <p:txBody>
          <a:bodyPr wrap="none" rtlCol="0">
            <a:spAutoFit/>
          </a:bodyPr>
          <a:lstStyle/>
          <a:p>
            <a:pPr marL="342900" indent="-342900">
              <a:buAutoNum type="arabicPeriod"/>
            </a:pPr>
            <a:r>
              <a:rPr lang="fr-FR" b="1" dirty="0" smtClean="0"/>
              <a:t>La fonction </a:t>
            </a:r>
            <a:r>
              <a:rPr lang="fr-FR" b="1" u="sng" dirty="0" smtClean="0"/>
              <a:t>sin</a:t>
            </a:r>
          </a:p>
          <a:p>
            <a:pPr marL="342900" indent="-342900"/>
            <a:r>
              <a:rPr lang="fr-FR" dirty="0" smtClean="0"/>
              <a:t> Cette fonction calcule le sinus d’un angle donné en radian.</a:t>
            </a:r>
            <a:endParaRPr lang="fr-FR" dirty="0"/>
          </a:p>
        </p:txBody>
      </p:sp>
      <p:graphicFrame>
        <p:nvGraphicFramePr>
          <p:cNvPr id="6" name="Tableau 5"/>
          <p:cNvGraphicFramePr>
            <a:graphicFrameLocks noGrp="1"/>
          </p:cNvGraphicFramePr>
          <p:nvPr/>
        </p:nvGraphicFramePr>
        <p:xfrm>
          <a:off x="214282" y="1857364"/>
          <a:ext cx="8358246" cy="64008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smtClean="0">
                          <a:solidFill>
                            <a:schemeClr val="tx1"/>
                          </a:solidFill>
                          <a:latin typeface="Consolas" pitchFamily="49" charset="0"/>
                        </a:rPr>
                        <a:t>sin(pi/2)</a:t>
                      </a:r>
                    </a:p>
                    <a:p>
                      <a:r>
                        <a:rPr lang="fr-FR" b="0" dirty="0" smtClean="0">
                          <a:solidFill>
                            <a:schemeClr val="tx1"/>
                          </a:solidFill>
                          <a:latin typeface="Consolas" pitchFamily="49" charset="0"/>
                        </a:rPr>
                        <a:t>ans</a:t>
                      </a:r>
                      <a:r>
                        <a:rPr lang="fr-FR" b="0" baseline="0" dirty="0" smtClean="0">
                          <a:solidFill>
                            <a:schemeClr val="tx1"/>
                          </a:solidFill>
                          <a:latin typeface="Consolas" pitchFamily="49" charset="0"/>
                        </a:rPr>
                        <a:t> = 1</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ZoneTexte 6"/>
          <p:cNvSpPr txBox="1"/>
          <p:nvPr/>
        </p:nvSpPr>
        <p:spPr>
          <a:xfrm>
            <a:off x="71406" y="2571744"/>
            <a:ext cx="6468437" cy="646331"/>
          </a:xfrm>
          <a:prstGeom prst="rect">
            <a:avLst/>
          </a:prstGeom>
          <a:noFill/>
        </p:spPr>
        <p:txBody>
          <a:bodyPr wrap="none" rtlCol="0">
            <a:spAutoFit/>
          </a:bodyPr>
          <a:lstStyle/>
          <a:p>
            <a:pPr marL="342900" indent="-342900"/>
            <a:r>
              <a:rPr lang="fr-FR" b="1" dirty="0" smtClean="0"/>
              <a:t>2. La fonction </a:t>
            </a:r>
            <a:r>
              <a:rPr lang="fr-FR" b="1" u="sng" dirty="0" smtClean="0"/>
              <a:t>cos</a:t>
            </a:r>
          </a:p>
          <a:p>
            <a:pPr marL="342900" indent="-342900"/>
            <a:r>
              <a:rPr lang="fr-FR" dirty="0" smtClean="0"/>
              <a:t> Cette fonction calcule le cosinus d’un angle donné en radian.</a:t>
            </a:r>
            <a:endParaRPr lang="fr-FR" dirty="0"/>
          </a:p>
        </p:txBody>
      </p:sp>
      <p:graphicFrame>
        <p:nvGraphicFramePr>
          <p:cNvPr id="8" name="Tableau 7"/>
          <p:cNvGraphicFramePr>
            <a:graphicFrameLocks noGrp="1"/>
          </p:cNvGraphicFramePr>
          <p:nvPr/>
        </p:nvGraphicFramePr>
        <p:xfrm>
          <a:off x="214282" y="3214686"/>
          <a:ext cx="8358246" cy="64008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smtClean="0">
                          <a:solidFill>
                            <a:schemeClr val="tx1"/>
                          </a:solidFill>
                          <a:latin typeface="Consolas" pitchFamily="49" charset="0"/>
                        </a:rPr>
                        <a:t>cos(pi)</a:t>
                      </a:r>
                    </a:p>
                    <a:p>
                      <a:r>
                        <a:rPr lang="fr-FR" b="0" dirty="0" smtClean="0">
                          <a:solidFill>
                            <a:schemeClr val="tx1"/>
                          </a:solidFill>
                          <a:latin typeface="Consolas" pitchFamily="49" charset="0"/>
                        </a:rPr>
                        <a:t>ans</a:t>
                      </a:r>
                      <a:r>
                        <a:rPr lang="fr-FR" b="0" baseline="0" dirty="0" smtClean="0">
                          <a:solidFill>
                            <a:schemeClr val="tx1"/>
                          </a:solidFill>
                          <a:latin typeface="Consolas" pitchFamily="49" charset="0"/>
                        </a:rPr>
                        <a:t> = -1</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ZoneTexte 8"/>
          <p:cNvSpPr txBox="1"/>
          <p:nvPr/>
        </p:nvSpPr>
        <p:spPr>
          <a:xfrm>
            <a:off x="71406" y="3929066"/>
            <a:ext cx="6109365" cy="646331"/>
          </a:xfrm>
          <a:prstGeom prst="rect">
            <a:avLst/>
          </a:prstGeom>
          <a:noFill/>
        </p:spPr>
        <p:txBody>
          <a:bodyPr wrap="none" rtlCol="0">
            <a:spAutoFit/>
          </a:bodyPr>
          <a:lstStyle/>
          <a:p>
            <a:pPr marL="342900" indent="-342900"/>
            <a:r>
              <a:rPr lang="fr-FR" b="1" dirty="0" smtClean="0"/>
              <a:t>3. La fonction </a:t>
            </a:r>
            <a:r>
              <a:rPr lang="fr-FR" b="1" u="sng" dirty="0" err="1" smtClean="0"/>
              <a:t>sind</a:t>
            </a:r>
            <a:endParaRPr lang="fr-FR" b="1" u="sng" dirty="0" smtClean="0"/>
          </a:p>
          <a:p>
            <a:pPr marL="342900" indent="-342900"/>
            <a:r>
              <a:rPr lang="fr-FR" dirty="0" smtClean="0"/>
              <a:t> Cette fonction calcule le sinus d’un angle donné en degré</a:t>
            </a:r>
            <a:endParaRPr lang="fr-FR" dirty="0"/>
          </a:p>
        </p:txBody>
      </p:sp>
      <p:graphicFrame>
        <p:nvGraphicFramePr>
          <p:cNvPr id="11" name="Tableau 10"/>
          <p:cNvGraphicFramePr>
            <a:graphicFrameLocks noGrp="1"/>
          </p:cNvGraphicFramePr>
          <p:nvPr/>
        </p:nvGraphicFramePr>
        <p:xfrm>
          <a:off x="214282" y="4572008"/>
          <a:ext cx="8358246" cy="64008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err="1" smtClean="0">
                          <a:solidFill>
                            <a:schemeClr val="tx1"/>
                          </a:solidFill>
                          <a:latin typeface="Consolas" pitchFamily="49" charset="0"/>
                        </a:rPr>
                        <a:t>sind</a:t>
                      </a:r>
                      <a:r>
                        <a:rPr lang="fr-FR" b="0" baseline="0" dirty="0" smtClean="0">
                          <a:solidFill>
                            <a:schemeClr val="tx1"/>
                          </a:solidFill>
                          <a:latin typeface="Consolas" pitchFamily="49" charset="0"/>
                        </a:rPr>
                        <a:t>(90)</a:t>
                      </a:r>
                    </a:p>
                    <a:p>
                      <a:r>
                        <a:rPr lang="fr-FR" b="0" dirty="0" smtClean="0">
                          <a:solidFill>
                            <a:schemeClr val="tx1"/>
                          </a:solidFill>
                          <a:latin typeface="Consolas" pitchFamily="49" charset="0"/>
                        </a:rPr>
                        <a:t>ans</a:t>
                      </a:r>
                      <a:r>
                        <a:rPr lang="fr-FR" b="0" baseline="0" dirty="0" smtClean="0">
                          <a:solidFill>
                            <a:schemeClr val="tx1"/>
                          </a:solidFill>
                          <a:latin typeface="Consolas" pitchFamily="49" charset="0"/>
                        </a:rPr>
                        <a:t> = 1</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2" name="ZoneTexte 11"/>
          <p:cNvSpPr txBox="1"/>
          <p:nvPr/>
        </p:nvSpPr>
        <p:spPr>
          <a:xfrm>
            <a:off x="142844" y="5289250"/>
            <a:ext cx="6353021" cy="646331"/>
          </a:xfrm>
          <a:prstGeom prst="rect">
            <a:avLst/>
          </a:prstGeom>
          <a:noFill/>
        </p:spPr>
        <p:txBody>
          <a:bodyPr wrap="none" rtlCol="0">
            <a:spAutoFit/>
          </a:bodyPr>
          <a:lstStyle/>
          <a:p>
            <a:pPr marL="342900" indent="-342900"/>
            <a:r>
              <a:rPr lang="fr-FR" b="1" dirty="0" smtClean="0"/>
              <a:t>4. La fonction </a:t>
            </a:r>
            <a:r>
              <a:rPr lang="fr-FR" b="1" u="sng" dirty="0" err="1" smtClean="0"/>
              <a:t>cosd</a:t>
            </a:r>
            <a:endParaRPr lang="fr-FR" b="1" u="sng" dirty="0" smtClean="0"/>
          </a:p>
          <a:p>
            <a:pPr marL="342900" indent="-342900"/>
            <a:r>
              <a:rPr lang="fr-FR" dirty="0" smtClean="0"/>
              <a:t> Cette fonction calcule le cosinus d’un angle donné en degré</a:t>
            </a:r>
            <a:endParaRPr lang="fr-FR" dirty="0"/>
          </a:p>
        </p:txBody>
      </p:sp>
      <p:graphicFrame>
        <p:nvGraphicFramePr>
          <p:cNvPr id="14" name="Tableau 13"/>
          <p:cNvGraphicFramePr>
            <a:graphicFrameLocks noGrp="1"/>
          </p:cNvGraphicFramePr>
          <p:nvPr/>
        </p:nvGraphicFramePr>
        <p:xfrm>
          <a:off x="285720" y="5932192"/>
          <a:ext cx="8358246" cy="64008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err="1" smtClean="0">
                          <a:solidFill>
                            <a:schemeClr val="tx1"/>
                          </a:solidFill>
                          <a:latin typeface="Consolas" pitchFamily="49" charset="0"/>
                        </a:rPr>
                        <a:t>cosd</a:t>
                      </a:r>
                      <a:r>
                        <a:rPr lang="fr-FR" b="0" baseline="0" dirty="0" smtClean="0">
                          <a:solidFill>
                            <a:schemeClr val="tx1"/>
                          </a:solidFill>
                          <a:latin typeface="Consolas" pitchFamily="49" charset="0"/>
                        </a:rPr>
                        <a:t>(180)</a:t>
                      </a:r>
                    </a:p>
                    <a:p>
                      <a:r>
                        <a:rPr lang="fr-FR" b="0" dirty="0" smtClean="0">
                          <a:solidFill>
                            <a:schemeClr val="tx1"/>
                          </a:solidFill>
                          <a:latin typeface="Consolas" pitchFamily="49" charset="0"/>
                        </a:rPr>
                        <a:t>ans</a:t>
                      </a:r>
                      <a:r>
                        <a:rPr lang="fr-FR" b="0" baseline="0" dirty="0" smtClean="0">
                          <a:solidFill>
                            <a:schemeClr val="tx1"/>
                          </a:solidFill>
                          <a:latin typeface="Consolas" pitchFamily="49" charset="0"/>
                        </a:rPr>
                        <a:t> = -1</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5" name="ZoneTexte 14"/>
          <p:cNvSpPr txBox="1"/>
          <p:nvPr/>
        </p:nvSpPr>
        <p:spPr>
          <a:xfrm>
            <a:off x="8631448" y="6286520"/>
            <a:ext cx="441146" cy="369332"/>
          </a:xfrm>
          <a:prstGeom prst="rect">
            <a:avLst/>
          </a:prstGeom>
          <a:noFill/>
        </p:spPr>
        <p:txBody>
          <a:bodyPr wrap="none" rtlCol="0">
            <a:spAutoFit/>
          </a:bodyPr>
          <a:lstStyle/>
          <a:p>
            <a:r>
              <a:rPr lang="fr-FR" dirty="0" smtClean="0"/>
              <a:t>35</a:t>
            </a:r>
            <a:endParaRPr lang="fr-FR"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2" name="ZoneTexte 11"/>
          <p:cNvSpPr txBox="1"/>
          <p:nvPr/>
        </p:nvSpPr>
        <p:spPr>
          <a:xfrm>
            <a:off x="214282" y="1000108"/>
            <a:ext cx="8572560" cy="2031325"/>
          </a:xfrm>
          <a:prstGeom prst="rect">
            <a:avLst/>
          </a:prstGeom>
          <a:noFill/>
        </p:spPr>
        <p:txBody>
          <a:bodyPr wrap="square" rtlCol="0">
            <a:spAutoFit/>
          </a:bodyPr>
          <a:lstStyle/>
          <a:p>
            <a:pPr marL="342900" indent="-342900"/>
            <a:r>
              <a:rPr lang="fr-FR" b="1" dirty="0" smtClean="0"/>
              <a:t>5. Les fonctions </a:t>
            </a:r>
            <a:r>
              <a:rPr lang="fr-FR" b="1" u="sng" dirty="0" smtClean="0"/>
              <a:t>tan</a:t>
            </a:r>
            <a:r>
              <a:rPr lang="fr-FR" b="1" dirty="0" smtClean="0"/>
              <a:t> </a:t>
            </a:r>
            <a:r>
              <a:rPr lang="fr-FR" b="1" u="sng" dirty="0" err="1" smtClean="0"/>
              <a:t>tand</a:t>
            </a:r>
            <a:r>
              <a:rPr lang="fr-FR" b="1" dirty="0" smtClean="0"/>
              <a:t> </a:t>
            </a:r>
            <a:endParaRPr lang="fr-FR" b="1" u="sng" dirty="0" smtClean="0"/>
          </a:p>
          <a:p>
            <a:pPr marL="342900" indent="-342900"/>
            <a:r>
              <a:rPr lang="fr-FR" dirty="0" smtClean="0"/>
              <a:t> Ces fonctions calculent la tangente d’un angle donné en radian/degré.</a:t>
            </a:r>
          </a:p>
          <a:p>
            <a:pPr marL="342900" indent="-342900"/>
            <a:endParaRPr lang="fr-FR" dirty="0" smtClean="0"/>
          </a:p>
          <a:p>
            <a:pPr marL="342900" indent="-342900"/>
            <a:r>
              <a:rPr lang="fr-FR" b="1" dirty="0" smtClean="0"/>
              <a:t>6. Les fonctions </a:t>
            </a:r>
            <a:r>
              <a:rPr lang="fr-FR" b="1" u="sng" dirty="0" err="1" smtClean="0"/>
              <a:t>asin</a:t>
            </a:r>
            <a:r>
              <a:rPr lang="fr-FR" b="1" dirty="0" smtClean="0"/>
              <a:t> </a:t>
            </a:r>
            <a:r>
              <a:rPr lang="fr-FR" b="1" u="sng" dirty="0" err="1" smtClean="0"/>
              <a:t>asind</a:t>
            </a:r>
            <a:r>
              <a:rPr lang="fr-FR" b="1" dirty="0" smtClean="0"/>
              <a:t> </a:t>
            </a:r>
            <a:r>
              <a:rPr lang="fr-FR" b="1" u="sng" dirty="0" err="1" smtClean="0"/>
              <a:t>acos</a:t>
            </a:r>
            <a:r>
              <a:rPr lang="fr-FR" b="1" dirty="0" smtClean="0"/>
              <a:t> </a:t>
            </a:r>
            <a:r>
              <a:rPr lang="fr-FR" b="1" u="sng" dirty="0" err="1" smtClean="0"/>
              <a:t>acosd</a:t>
            </a:r>
            <a:r>
              <a:rPr lang="fr-FR" b="1" dirty="0" smtClean="0"/>
              <a:t> </a:t>
            </a:r>
            <a:r>
              <a:rPr lang="fr-FR" b="1" u="sng" dirty="0" err="1" smtClean="0"/>
              <a:t>atan</a:t>
            </a:r>
            <a:r>
              <a:rPr lang="fr-FR" b="1" dirty="0" smtClean="0"/>
              <a:t> </a:t>
            </a:r>
            <a:r>
              <a:rPr lang="fr-FR" b="1" u="sng" dirty="0" err="1" smtClean="0"/>
              <a:t>atand</a:t>
            </a:r>
            <a:endParaRPr lang="fr-FR" b="1" u="sng" dirty="0" smtClean="0"/>
          </a:p>
          <a:p>
            <a:pPr marL="342900" indent="-342900"/>
            <a:r>
              <a:rPr lang="fr-FR" dirty="0" smtClean="0"/>
              <a:t> Ce sont les fonctions inverses des fonctions </a:t>
            </a:r>
            <a:r>
              <a:rPr lang="fr-FR" b="1" u="sng" dirty="0" smtClean="0"/>
              <a:t>sin</a:t>
            </a:r>
            <a:r>
              <a:rPr lang="fr-FR" dirty="0" smtClean="0"/>
              <a:t> </a:t>
            </a:r>
            <a:r>
              <a:rPr lang="fr-FR" b="1" u="sng" dirty="0" err="1" smtClean="0"/>
              <a:t>sind</a:t>
            </a:r>
            <a:r>
              <a:rPr lang="fr-FR" dirty="0" smtClean="0"/>
              <a:t> </a:t>
            </a:r>
            <a:r>
              <a:rPr lang="fr-FR" b="1" u="sng" dirty="0" smtClean="0"/>
              <a:t>cos</a:t>
            </a:r>
            <a:r>
              <a:rPr lang="fr-FR" dirty="0" smtClean="0"/>
              <a:t> </a:t>
            </a:r>
            <a:r>
              <a:rPr lang="fr-FR" b="1" u="sng" dirty="0" err="1" smtClean="0"/>
              <a:t>cosd</a:t>
            </a:r>
            <a:r>
              <a:rPr lang="fr-FR" dirty="0" smtClean="0"/>
              <a:t> </a:t>
            </a:r>
            <a:r>
              <a:rPr lang="fr-FR" b="1" u="sng" dirty="0" smtClean="0"/>
              <a:t>tan</a:t>
            </a:r>
            <a:r>
              <a:rPr lang="fr-FR" dirty="0" smtClean="0"/>
              <a:t> et </a:t>
            </a:r>
            <a:r>
              <a:rPr lang="fr-FR" b="1" u="sng" dirty="0" err="1" smtClean="0"/>
              <a:t>tand</a:t>
            </a:r>
            <a:r>
              <a:rPr lang="fr-FR" dirty="0" smtClean="0"/>
              <a:t> </a:t>
            </a:r>
          </a:p>
          <a:p>
            <a:pPr marL="342900" indent="-342900"/>
            <a:r>
              <a:rPr lang="fr-FR" dirty="0" smtClean="0"/>
              <a:t>respectivement</a:t>
            </a:r>
          </a:p>
          <a:p>
            <a:pPr marL="342900" indent="-342900"/>
            <a:endParaRPr lang="fr-FR" dirty="0"/>
          </a:p>
        </p:txBody>
      </p:sp>
      <p:graphicFrame>
        <p:nvGraphicFramePr>
          <p:cNvPr id="16" name="Tableau 15"/>
          <p:cNvGraphicFramePr>
            <a:graphicFrameLocks noGrp="1"/>
          </p:cNvGraphicFramePr>
          <p:nvPr/>
        </p:nvGraphicFramePr>
        <p:xfrm>
          <a:off x="285720" y="3214686"/>
          <a:ext cx="8358246" cy="91440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smtClean="0">
                          <a:solidFill>
                            <a:schemeClr val="tx1"/>
                          </a:solidFill>
                          <a:latin typeface="Consolas" pitchFamily="49" charset="0"/>
                        </a:rPr>
                        <a:t>x=90;</a:t>
                      </a:r>
                    </a:p>
                    <a:p>
                      <a:r>
                        <a:rPr lang="fr-FR" b="1" baseline="0" dirty="0" smtClean="0">
                          <a:solidFill>
                            <a:schemeClr val="tx1"/>
                          </a:solidFill>
                          <a:latin typeface="Consolas" pitchFamily="49" charset="0"/>
                        </a:rPr>
                        <a:t>&gt;&gt;</a:t>
                      </a:r>
                      <a:r>
                        <a:rPr lang="fr-FR" b="0" baseline="0" dirty="0" smtClean="0">
                          <a:solidFill>
                            <a:schemeClr val="tx1"/>
                          </a:solidFill>
                          <a:latin typeface="Consolas" pitchFamily="49" charset="0"/>
                        </a:rPr>
                        <a:t> </a:t>
                      </a:r>
                      <a:r>
                        <a:rPr lang="fr-FR" b="0" baseline="0" dirty="0" err="1" smtClean="0">
                          <a:solidFill>
                            <a:schemeClr val="tx1"/>
                          </a:solidFill>
                          <a:latin typeface="Consolas" pitchFamily="49" charset="0"/>
                        </a:rPr>
                        <a:t>acosd</a:t>
                      </a:r>
                      <a:r>
                        <a:rPr lang="fr-FR" b="0" baseline="0" dirty="0" smtClean="0">
                          <a:solidFill>
                            <a:schemeClr val="tx1"/>
                          </a:solidFill>
                          <a:latin typeface="Consolas" pitchFamily="49" charset="0"/>
                        </a:rPr>
                        <a:t>(</a:t>
                      </a:r>
                      <a:r>
                        <a:rPr lang="fr-FR" b="0" baseline="0" dirty="0" err="1" smtClean="0">
                          <a:solidFill>
                            <a:schemeClr val="tx1"/>
                          </a:solidFill>
                          <a:latin typeface="Consolas" pitchFamily="49" charset="0"/>
                        </a:rPr>
                        <a:t>cosd</a:t>
                      </a:r>
                      <a:r>
                        <a:rPr lang="fr-FR" b="0" baseline="0" dirty="0" smtClean="0">
                          <a:solidFill>
                            <a:schemeClr val="tx1"/>
                          </a:solidFill>
                          <a:latin typeface="Consolas" pitchFamily="49" charset="0"/>
                        </a:rPr>
                        <a:t>(x))</a:t>
                      </a:r>
                    </a:p>
                    <a:p>
                      <a:r>
                        <a:rPr lang="fr-FR" b="0" baseline="0" dirty="0" smtClean="0">
                          <a:solidFill>
                            <a:schemeClr val="tx1"/>
                          </a:solidFill>
                          <a:latin typeface="Consolas" pitchFamily="49" charset="0"/>
                        </a:rPr>
                        <a:t>ans = 90</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5" name="ZoneTexte 4"/>
          <p:cNvSpPr txBox="1"/>
          <p:nvPr/>
        </p:nvSpPr>
        <p:spPr>
          <a:xfrm>
            <a:off x="8501090" y="6286520"/>
            <a:ext cx="441146" cy="369332"/>
          </a:xfrm>
          <a:prstGeom prst="rect">
            <a:avLst/>
          </a:prstGeom>
          <a:noFill/>
        </p:spPr>
        <p:txBody>
          <a:bodyPr wrap="none" rtlCol="0">
            <a:spAutoFit/>
          </a:bodyPr>
          <a:lstStyle/>
          <a:p>
            <a:r>
              <a:rPr lang="fr-FR" dirty="0" smtClean="0"/>
              <a:t>36</a:t>
            </a:r>
            <a:endParaRPr lang="fr-FR"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2" name="ZoneTexte 11"/>
          <p:cNvSpPr txBox="1"/>
          <p:nvPr/>
        </p:nvSpPr>
        <p:spPr>
          <a:xfrm>
            <a:off x="214282" y="357166"/>
            <a:ext cx="8572560" cy="5355312"/>
          </a:xfrm>
          <a:prstGeom prst="rect">
            <a:avLst/>
          </a:prstGeom>
          <a:noFill/>
        </p:spPr>
        <p:txBody>
          <a:bodyPr wrap="square" rtlCol="0">
            <a:spAutoFit/>
          </a:bodyPr>
          <a:lstStyle/>
          <a:p>
            <a:pPr marL="342900" indent="-342900"/>
            <a:r>
              <a:rPr lang="fr-FR" b="1" dirty="0" smtClean="0"/>
              <a:t>7. La fonction </a:t>
            </a:r>
            <a:r>
              <a:rPr lang="fr-FR" b="1" dirty="0" err="1" smtClean="0"/>
              <a:t>exp</a:t>
            </a:r>
            <a:endParaRPr lang="fr-FR" b="1" u="sng" dirty="0" smtClean="0"/>
          </a:p>
          <a:p>
            <a:pPr marL="342900" indent="-342900"/>
            <a:r>
              <a:rPr lang="fr-FR" dirty="0" smtClean="0"/>
              <a:t>Fonction exponentielle.</a:t>
            </a:r>
          </a:p>
          <a:p>
            <a:pPr marL="342900" indent="-342900"/>
            <a:endParaRPr lang="fr-FR" dirty="0" smtClean="0"/>
          </a:p>
          <a:p>
            <a:pPr marL="342900" indent="-342900"/>
            <a:r>
              <a:rPr lang="fr-FR" b="1" dirty="0" smtClean="0"/>
              <a:t>8. La fonction log</a:t>
            </a:r>
          </a:p>
          <a:p>
            <a:pPr marL="342900" indent="-342900"/>
            <a:r>
              <a:rPr lang="fr-FR" dirty="0" smtClean="0"/>
              <a:t>Logarithme naturelle népérien (ln)</a:t>
            </a:r>
          </a:p>
          <a:p>
            <a:pPr marL="342900" indent="-342900"/>
            <a:endParaRPr lang="fr-FR" dirty="0" smtClean="0"/>
          </a:p>
          <a:p>
            <a:pPr marL="342900" indent="-342900"/>
            <a:r>
              <a:rPr lang="fr-FR" b="1" dirty="0" smtClean="0"/>
              <a:t>9. La fonction log10</a:t>
            </a:r>
          </a:p>
          <a:p>
            <a:pPr marL="342900" indent="-342900"/>
            <a:r>
              <a:rPr lang="fr-FR" dirty="0" smtClean="0"/>
              <a:t>Logarithme décimal</a:t>
            </a:r>
          </a:p>
          <a:p>
            <a:pPr marL="342900" indent="-342900"/>
            <a:endParaRPr lang="fr-FR" dirty="0" smtClean="0"/>
          </a:p>
          <a:p>
            <a:pPr marL="342900" indent="-342900"/>
            <a:r>
              <a:rPr lang="fr-FR" b="1" dirty="0" smtClean="0"/>
              <a:t>10. La fonction </a:t>
            </a:r>
            <a:r>
              <a:rPr lang="fr-FR" b="1" dirty="0" err="1" smtClean="0"/>
              <a:t>sqrt</a:t>
            </a:r>
            <a:endParaRPr lang="fr-FR" b="1" dirty="0" smtClean="0"/>
          </a:p>
          <a:p>
            <a:pPr marL="342900" indent="-342900"/>
            <a:r>
              <a:rPr lang="fr-FR" dirty="0" smtClean="0"/>
              <a:t>Racine carrée</a:t>
            </a:r>
          </a:p>
          <a:p>
            <a:pPr marL="342900" indent="-342900"/>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endParaRPr lang="fr-FR" b="1" dirty="0" smtClean="0"/>
          </a:p>
          <a:p>
            <a:pPr marL="342900" indent="-342900"/>
            <a:r>
              <a:rPr lang="fr-FR" b="1" dirty="0" smtClean="0"/>
              <a:t>11. La fonction abs</a:t>
            </a:r>
          </a:p>
          <a:p>
            <a:pPr marL="342900" indent="-342900"/>
            <a:r>
              <a:rPr lang="fr-FR" dirty="0" smtClean="0"/>
              <a:t>Calcule la valeur absolue d’un réel.</a:t>
            </a:r>
          </a:p>
          <a:p>
            <a:pPr marL="342900" indent="-342900"/>
            <a:endParaRPr lang="fr-FR" b="1" dirty="0" smtClean="0"/>
          </a:p>
        </p:txBody>
      </p:sp>
      <p:graphicFrame>
        <p:nvGraphicFramePr>
          <p:cNvPr id="6" name="Tableau 5"/>
          <p:cNvGraphicFramePr>
            <a:graphicFrameLocks noGrp="1"/>
          </p:cNvGraphicFramePr>
          <p:nvPr/>
        </p:nvGraphicFramePr>
        <p:xfrm>
          <a:off x="357158" y="3643314"/>
          <a:ext cx="8358246" cy="64008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err="1" smtClean="0">
                          <a:solidFill>
                            <a:schemeClr val="tx1"/>
                          </a:solidFill>
                          <a:latin typeface="Consolas" pitchFamily="49" charset="0"/>
                        </a:rPr>
                        <a:t>sqrt</a:t>
                      </a:r>
                      <a:r>
                        <a:rPr lang="fr-FR" b="0" baseline="0" dirty="0" smtClean="0">
                          <a:solidFill>
                            <a:schemeClr val="tx1"/>
                          </a:solidFill>
                          <a:latin typeface="Consolas" pitchFamily="49" charset="0"/>
                        </a:rPr>
                        <a:t>(25)</a:t>
                      </a:r>
                    </a:p>
                    <a:p>
                      <a:r>
                        <a:rPr lang="fr-FR" b="0" baseline="0" dirty="0" smtClean="0">
                          <a:solidFill>
                            <a:schemeClr val="tx1"/>
                          </a:solidFill>
                          <a:latin typeface="Consolas" pitchFamily="49" charset="0"/>
                        </a:rPr>
                        <a:t>ans = 5</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7" name="Tableau 6"/>
          <p:cNvGraphicFramePr>
            <a:graphicFrameLocks noGrp="1"/>
          </p:cNvGraphicFramePr>
          <p:nvPr/>
        </p:nvGraphicFramePr>
        <p:xfrm>
          <a:off x="357158" y="5572140"/>
          <a:ext cx="8358246" cy="64008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smtClean="0">
                          <a:solidFill>
                            <a:schemeClr val="tx1"/>
                          </a:solidFill>
                          <a:latin typeface="Consolas" pitchFamily="49" charset="0"/>
                        </a:rPr>
                        <a:t>abs(-3.5)</a:t>
                      </a:r>
                    </a:p>
                    <a:p>
                      <a:r>
                        <a:rPr lang="fr-FR" b="0" baseline="0" dirty="0" smtClean="0">
                          <a:solidFill>
                            <a:schemeClr val="tx1"/>
                          </a:solidFill>
                          <a:latin typeface="Consolas" pitchFamily="49" charset="0"/>
                        </a:rPr>
                        <a:t>ans = 3.5</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ZoneTexte 7"/>
          <p:cNvSpPr txBox="1"/>
          <p:nvPr/>
        </p:nvSpPr>
        <p:spPr>
          <a:xfrm>
            <a:off x="8560010" y="6345816"/>
            <a:ext cx="441146" cy="369332"/>
          </a:xfrm>
          <a:prstGeom prst="rect">
            <a:avLst/>
          </a:prstGeom>
          <a:noFill/>
        </p:spPr>
        <p:txBody>
          <a:bodyPr wrap="none" rtlCol="0">
            <a:spAutoFit/>
          </a:bodyPr>
          <a:lstStyle/>
          <a:p>
            <a:r>
              <a:rPr lang="fr-FR" dirty="0" smtClean="0"/>
              <a:t>37</a:t>
            </a:r>
            <a:endParaRPr lang="fr-FR"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2" name="ZoneTexte 11"/>
          <p:cNvSpPr txBox="1"/>
          <p:nvPr/>
        </p:nvSpPr>
        <p:spPr>
          <a:xfrm>
            <a:off x="214282" y="181815"/>
            <a:ext cx="8572560" cy="6186309"/>
          </a:xfrm>
          <a:prstGeom prst="rect">
            <a:avLst/>
          </a:prstGeom>
          <a:noFill/>
        </p:spPr>
        <p:txBody>
          <a:bodyPr wrap="square" rtlCol="0">
            <a:spAutoFit/>
          </a:bodyPr>
          <a:lstStyle/>
          <a:p>
            <a:pPr marL="342900" indent="-342900"/>
            <a:r>
              <a:rPr lang="fr-FR" b="1" dirty="0" smtClean="0"/>
              <a:t>12. La fonction </a:t>
            </a:r>
            <a:r>
              <a:rPr lang="fr-FR" b="1" dirty="0" err="1" smtClean="0"/>
              <a:t>conj</a:t>
            </a:r>
            <a:endParaRPr lang="fr-FR" b="1" u="sng" dirty="0" smtClean="0"/>
          </a:p>
          <a:p>
            <a:pPr marL="342900" indent="-342900"/>
            <a:r>
              <a:rPr lang="fr-FR" dirty="0" smtClean="0"/>
              <a:t>Calcule le conjugué d’un nombre complexe</a:t>
            </a:r>
          </a:p>
          <a:p>
            <a:pPr marL="342900" indent="-342900"/>
            <a:endParaRPr lang="fr-FR" dirty="0" smtClean="0"/>
          </a:p>
          <a:p>
            <a:pPr marL="342900" indent="-342900"/>
            <a:endParaRPr lang="fr-FR" dirty="0" smtClean="0"/>
          </a:p>
          <a:p>
            <a:pPr marL="342900" indent="-342900"/>
            <a:endParaRPr lang="fr-FR" dirty="0" smtClean="0"/>
          </a:p>
          <a:p>
            <a:pPr marL="342900" indent="-342900"/>
            <a:endParaRPr lang="fr-FR" b="1" dirty="0" smtClean="0"/>
          </a:p>
          <a:p>
            <a:pPr marL="342900" indent="-342900"/>
            <a:r>
              <a:rPr lang="fr-FR" b="1" dirty="0" smtClean="0"/>
              <a:t>13. La fonction </a:t>
            </a:r>
            <a:r>
              <a:rPr lang="fr-FR" b="1" dirty="0" err="1" smtClean="0"/>
              <a:t>imag</a:t>
            </a:r>
            <a:r>
              <a:rPr lang="fr-FR" b="1" dirty="0" smtClean="0"/>
              <a:t> </a:t>
            </a:r>
          </a:p>
          <a:p>
            <a:pPr marL="342900" indent="-342900"/>
            <a:r>
              <a:rPr lang="fr-FR" dirty="0" smtClean="0"/>
              <a:t>Calcule la partie imaginaire d’un nombre complexe.</a:t>
            </a:r>
          </a:p>
          <a:p>
            <a:pPr marL="342900" indent="-342900"/>
            <a:endParaRPr lang="fr-FR" dirty="0" smtClean="0"/>
          </a:p>
          <a:p>
            <a:pPr marL="342900" indent="-342900"/>
            <a:r>
              <a:rPr lang="fr-FR" b="1" dirty="0" smtClean="0"/>
              <a:t>14. La fonction real </a:t>
            </a:r>
          </a:p>
          <a:p>
            <a:pPr marL="342900" indent="-342900"/>
            <a:r>
              <a:rPr lang="fr-FR" dirty="0" smtClean="0"/>
              <a:t>Calcule la partie réelle d’un nombre complexe</a:t>
            </a:r>
          </a:p>
          <a:p>
            <a:pPr marL="342900" indent="-342900"/>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r>
              <a:rPr lang="fr-FR" b="1" dirty="0" smtClean="0"/>
              <a:t>15. La fonction </a:t>
            </a:r>
            <a:r>
              <a:rPr lang="fr-FR" b="1" dirty="0" err="1" smtClean="0"/>
              <a:t>complex</a:t>
            </a:r>
            <a:endParaRPr lang="fr-FR" b="1" u="sng" dirty="0" smtClean="0"/>
          </a:p>
          <a:p>
            <a:pPr marL="342900" indent="-342900"/>
            <a:r>
              <a:rPr lang="fr-FR" dirty="0" smtClean="0"/>
              <a:t>     Cette fonction calcule un nombre complexe à partir de ces parties réelle et </a:t>
            </a:r>
            <a:r>
              <a:rPr lang="fr-FR" dirty="0" err="1" smtClean="0"/>
              <a:t>imaginaire.C’</a:t>
            </a:r>
            <a:r>
              <a:rPr lang="fr-FR" dirty="0" smtClean="0"/>
              <a:t>est une fonction à deux variables : </a:t>
            </a:r>
            <a:r>
              <a:rPr lang="fr-FR" b="1" dirty="0" err="1" smtClean="0"/>
              <a:t>complex</a:t>
            </a:r>
            <a:r>
              <a:rPr lang="fr-FR" b="1" dirty="0" smtClean="0"/>
              <a:t>(</a:t>
            </a:r>
            <a:r>
              <a:rPr lang="fr-FR" b="1" dirty="0" err="1" smtClean="0"/>
              <a:t>re</a:t>
            </a:r>
            <a:r>
              <a:rPr lang="fr-FR" b="1" dirty="0" smtClean="0"/>
              <a:t> , </a:t>
            </a:r>
            <a:r>
              <a:rPr lang="fr-FR" b="1" dirty="0" err="1" smtClean="0"/>
              <a:t>im</a:t>
            </a:r>
            <a:r>
              <a:rPr lang="fr-FR" b="1" dirty="0" smtClean="0"/>
              <a:t>)</a:t>
            </a:r>
          </a:p>
          <a:p>
            <a:pPr marL="342900" indent="-342900"/>
            <a:endParaRPr lang="fr-FR" dirty="0" smtClean="0"/>
          </a:p>
          <a:p>
            <a:pPr marL="342900" indent="-342900"/>
            <a:endParaRPr lang="fr-FR" dirty="0" smtClean="0"/>
          </a:p>
        </p:txBody>
      </p:sp>
      <p:graphicFrame>
        <p:nvGraphicFramePr>
          <p:cNvPr id="6" name="Tableau 5"/>
          <p:cNvGraphicFramePr>
            <a:graphicFrameLocks noGrp="1"/>
          </p:cNvGraphicFramePr>
          <p:nvPr/>
        </p:nvGraphicFramePr>
        <p:xfrm>
          <a:off x="357158" y="928670"/>
          <a:ext cx="8358246" cy="91440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smtClean="0">
                          <a:solidFill>
                            <a:schemeClr val="tx1"/>
                          </a:solidFill>
                          <a:latin typeface="Consolas" pitchFamily="49" charset="0"/>
                        </a:rPr>
                        <a:t>c=3-5i;</a:t>
                      </a:r>
                    </a:p>
                    <a:p>
                      <a:r>
                        <a:rPr lang="fr-FR" b="1" baseline="0" dirty="0" smtClean="0">
                          <a:solidFill>
                            <a:schemeClr val="tx1"/>
                          </a:solidFill>
                          <a:latin typeface="Consolas" pitchFamily="49" charset="0"/>
                        </a:rPr>
                        <a:t>&gt;&gt; </a:t>
                      </a:r>
                      <a:r>
                        <a:rPr lang="fr-FR" b="0" baseline="0" dirty="0" err="1" smtClean="0">
                          <a:solidFill>
                            <a:schemeClr val="tx1"/>
                          </a:solidFill>
                          <a:latin typeface="Consolas" pitchFamily="49" charset="0"/>
                        </a:rPr>
                        <a:t>conj</a:t>
                      </a:r>
                      <a:r>
                        <a:rPr lang="fr-FR" b="0" baseline="0" dirty="0" smtClean="0">
                          <a:solidFill>
                            <a:schemeClr val="tx1"/>
                          </a:solidFill>
                          <a:latin typeface="Consolas" pitchFamily="49" charset="0"/>
                        </a:rPr>
                        <a:t>(c)</a:t>
                      </a:r>
                    </a:p>
                    <a:p>
                      <a:r>
                        <a:rPr lang="fr-FR" b="0" baseline="0" dirty="0" smtClean="0">
                          <a:solidFill>
                            <a:schemeClr val="tx1"/>
                          </a:solidFill>
                          <a:latin typeface="Consolas" pitchFamily="49" charset="0"/>
                        </a:rPr>
                        <a:t>ans= 3.0000 + 5.0000i</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8" name="Tableau 7"/>
          <p:cNvGraphicFramePr>
            <a:graphicFrameLocks noGrp="1"/>
          </p:cNvGraphicFramePr>
          <p:nvPr/>
        </p:nvGraphicFramePr>
        <p:xfrm>
          <a:off x="285720" y="3286124"/>
          <a:ext cx="8358246" cy="146304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smtClean="0">
                          <a:solidFill>
                            <a:schemeClr val="tx1"/>
                          </a:solidFill>
                          <a:latin typeface="Consolas" pitchFamily="49" charset="0"/>
                        </a:rPr>
                        <a:t>c=3-5i;</a:t>
                      </a:r>
                    </a:p>
                    <a:p>
                      <a:r>
                        <a:rPr lang="fr-FR" b="1" baseline="0" dirty="0" smtClean="0">
                          <a:solidFill>
                            <a:schemeClr val="tx1"/>
                          </a:solidFill>
                          <a:latin typeface="Consolas" pitchFamily="49" charset="0"/>
                        </a:rPr>
                        <a:t>&gt;&gt; </a:t>
                      </a:r>
                      <a:r>
                        <a:rPr lang="fr-FR" b="0" baseline="0" dirty="0" err="1" smtClean="0">
                          <a:solidFill>
                            <a:schemeClr val="tx1"/>
                          </a:solidFill>
                          <a:latin typeface="Consolas" pitchFamily="49" charset="0"/>
                        </a:rPr>
                        <a:t>imag</a:t>
                      </a:r>
                      <a:r>
                        <a:rPr lang="fr-FR" b="0" baseline="0" dirty="0" smtClean="0">
                          <a:solidFill>
                            <a:schemeClr val="tx1"/>
                          </a:solidFill>
                          <a:latin typeface="Consolas" pitchFamily="49" charset="0"/>
                        </a:rPr>
                        <a:t>(c)</a:t>
                      </a:r>
                    </a:p>
                    <a:p>
                      <a:r>
                        <a:rPr lang="fr-FR" b="0" baseline="0" dirty="0" smtClean="0">
                          <a:solidFill>
                            <a:schemeClr val="tx1"/>
                          </a:solidFill>
                          <a:latin typeface="Consolas" pitchFamily="49" charset="0"/>
                        </a:rPr>
                        <a:t>ans= -5</a:t>
                      </a:r>
                    </a:p>
                    <a:p>
                      <a:r>
                        <a:rPr lang="fr-FR" b="1" baseline="0" dirty="0" smtClean="0">
                          <a:solidFill>
                            <a:schemeClr val="tx1"/>
                          </a:solidFill>
                          <a:latin typeface="Consolas" pitchFamily="49" charset="0"/>
                        </a:rPr>
                        <a:t>&gt;&gt;</a:t>
                      </a:r>
                      <a:r>
                        <a:rPr lang="fr-FR" b="0" baseline="0" dirty="0" smtClean="0">
                          <a:solidFill>
                            <a:schemeClr val="tx1"/>
                          </a:solidFill>
                          <a:latin typeface="Consolas" pitchFamily="49" charset="0"/>
                        </a:rPr>
                        <a:t> real(c)</a:t>
                      </a:r>
                    </a:p>
                    <a:p>
                      <a:r>
                        <a:rPr lang="fr-FR" b="0" baseline="0" dirty="0" smtClean="0">
                          <a:solidFill>
                            <a:schemeClr val="tx1"/>
                          </a:solidFill>
                          <a:latin typeface="Consolas" pitchFamily="49" charset="0"/>
                        </a:rPr>
                        <a:t>ans = 3</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7" name="Tableau 6"/>
          <p:cNvGraphicFramePr>
            <a:graphicFrameLocks noGrp="1"/>
          </p:cNvGraphicFramePr>
          <p:nvPr/>
        </p:nvGraphicFramePr>
        <p:xfrm>
          <a:off x="357158" y="5786454"/>
          <a:ext cx="8358246" cy="640080"/>
        </p:xfrm>
        <a:graphic>
          <a:graphicData uri="http://schemas.openxmlformats.org/drawingml/2006/table">
            <a:tbl>
              <a:tblPr firstRow="1" bandRow="1">
                <a:tableStyleId>{5C22544A-7EE6-4342-B048-85BDC9FD1C3A}</a:tableStyleId>
              </a:tblPr>
              <a:tblGrid>
                <a:gridCol w="8358246"/>
              </a:tblGrid>
              <a:tr h="370840">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err="1" smtClean="0">
                          <a:solidFill>
                            <a:schemeClr val="tx1"/>
                          </a:solidFill>
                          <a:latin typeface="Consolas" pitchFamily="49" charset="0"/>
                        </a:rPr>
                        <a:t>complex</a:t>
                      </a:r>
                      <a:r>
                        <a:rPr lang="fr-FR" b="0" baseline="0" dirty="0" smtClean="0">
                          <a:solidFill>
                            <a:schemeClr val="tx1"/>
                          </a:solidFill>
                          <a:latin typeface="Consolas" pitchFamily="49" charset="0"/>
                        </a:rPr>
                        <a:t>(6,-4)</a:t>
                      </a:r>
                    </a:p>
                    <a:p>
                      <a:r>
                        <a:rPr lang="fr-FR" b="0" dirty="0" smtClean="0">
                          <a:solidFill>
                            <a:schemeClr val="tx1"/>
                          </a:solidFill>
                          <a:latin typeface="Consolas" pitchFamily="49" charset="0"/>
                        </a:rPr>
                        <a:t>ans =</a:t>
                      </a:r>
                      <a:r>
                        <a:rPr lang="fr-FR" b="0" baseline="0" dirty="0" smtClean="0">
                          <a:solidFill>
                            <a:schemeClr val="tx1"/>
                          </a:solidFill>
                          <a:latin typeface="Consolas" pitchFamily="49" charset="0"/>
                        </a:rPr>
                        <a:t> </a:t>
                      </a:r>
                      <a:r>
                        <a:rPr lang="fr-FR" b="0" dirty="0" smtClean="0">
                          <a:solidFill>
                            <a:schemeClr val="tx1"/>
                          </a:solidFill>
                          <a:latin typeface="Consolas" pitchFamily="49" charset="0"/>
                        </a:rPr>
                        <a:t>6.0000 - 4.0000i</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ZoneTexte 8"/>
          <p:cNvSpPr txBox="1"/>
          <p:nvPr/>
        </p:nvSpPr>
        <p:spPr>
          <a:xfrm>
            <a:off x="8501090" y="6417254"/>
            <a:ext cx="441146" cy="369332"/>
          </a:xfrm>
          <a:prstGeom prst="rect">
            <a:avLst/>
          </a:prstGeom>
          <a:noFill/>
        </p:spPr>
        <p:txBody>
          <a:bodyPr wrap="none" rtlCol="0">
            <a:spAutoFit/>
          </a:bodyPr>
          <a:lstStyle/>
          <a:p>
            <a:r>
              <a:rPr lang="fr-FR" dirty="0" smtClean="0"/>
              <a:t>38</a:t>
            </a:r>
            <a:endParaRPr lang="fr-FR"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2" name="ZoneTexte 11"/>
          <p:cNvSpPr txBox="1"/>
          <p:nvPr/>
        </p:nvSpPr>
        <p:spPr>
          <a:xfrm>
            <a:off x="285720" y="214290"/>
            <a:ext cx="8572560" cy="5078313"/>
          </a:xfrm>
          <a:prstGeom prst="rect">
            <a:avLst/>
          </a:prstGeom>
          <a:noFill/>
        </p:spPr>
        <p:txBody>
          <a:bodyPr wrap="square" rtlCol="0">
            <a:spAutoFit/>
          </a:bodyPr>
          <a:lstStyle/>
          <a:p>
            <a:pPr marL="342900" indent="-342900"/>
            <a:r>
              <a:rPr lang="fr-FR" b="1" dirty="0" smtClean="0"/>
              <a:t>16. La fonction round</a:t>
            </a:r>
          </a:p>
          <a:p>
            <a:pPr marL="342900" indent="-342900"/>
            <a:r>
              <a:rPr lang="fr-FR" dirty="0" smtClean="0"/>
              <a:t>Arrondi à l’entier le plus proche</a:t>
            </a:r>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b="1" dirty="0" smtClean="0"/>
          </a:p>
          <a:p>
            <a:pPr marL="342900" indent="-342900"/>
            <a:r>
              <a:rPr lang="fr-FR" b="1" dirty="0" smtClean="0"/>
              <a:t>17. La fonction </a:t>
            </a:r>
            <a:r>
              <a:rPr lang="fr-FR" b="1" dirty="0" err="1" smtClean="0"/>
              <a:t>floor</a:t>
            </a:r>
            <a:endParaRPr lang="fr-FR" b="1" dirty="0" smtClean="0"/>
          </a:p>
          <a:p>
            <a:pPr marL="342900" indent="-342900"/>
            <a:r>
              <a:rPr lang="fr-FR" dirty="0" smtClean="0"/>
              <a:t>Arrondi à l’entier le plus proche vers moins l’infini (-∞)</a:t>
            </a:r>
          </a:p>
          <a:p>
            <a:pPr marL="342900" indent="-342900"/>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r>
              <a:rPr lang="fr-FR" b="1" dirty="0" smtClean="0"/>
              <a:t>18. La fonction </a:t>
            </a:r>
            <a:r>
              <a:rPr lang="fr-FR" b="1" dirty="0" err="1" smtClean="0"/>
              <a:t>ceil</a:t>
            </a:r>
            <a:endParaRPr lang="fr-FR" b="1" dirty="0" smtClean="0"/>
          </a:p>
          <a:p>
            <a:pPr marL="342900" indent="-342900"/>
            <a:r>
              <a:rPr lang="fr-FR" dirty="0" smtClean="0"/>
              <a:t>Arrondi à l’entier le plus proche vers plus l’infini (+∞)</a:t>
            </a:r>
          </a:p>
        </p:txBody>
      </p:sp>
      <p:graphicFrame>
        <p:nvGraphicFramePr>
          <p:cNvPr id="6" name="Tableau 5"/>
          <p:cNvGraphicFramePr>
            <a:graphicFrameLocks noGrp="1"/>
          </p:cNvGraphicFramePr>
          <p:nvPr/>
        </p:nvGraphicFramePr>
        <p:xfrm>
          <a:off x="357158" y="928670"/>
          <a:ext cx="8358246" cy="1188720"/>
        </p:xfrm>
        <a:graphic>
          <a:graphicData uri="http://schemas.openxmlformats.org/drawingml/2006/table">
            <a:tbl>
              <a:tblPr firstRow="1" bandRow="1">
                <a:tableStyleId>{5C22544A-7EE6-4342-B048-85BDC9FD1C3A}</a:tableStyleId>
              </a:tblPr>
              <a:tblGrid>
                <a:gridCol w="8358246"/>
              </a:tblGrid>
              <a:tr h="142876">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smtClean="0">
                          <a:solidFill>
                            <a:schemeClr val="tx1"/>
                          </a:solidFill>
                          <a:latin typeface="Consolas" pitchFamily="49" charset="0"/>
                        </a:rPr>
                        <a:t>round(4.8)</a:t>
                      </a:r>
                    </a:p>
                    <a:p>
                      <a:r>
                        <a:rPr lang="fr-FR" b="0" baseline="0" dirty="0" smtClean="0">
                          <a:solidFill>
                            <a:schemeClr val="tx1"/>
                          </a:solidFill>
                          <a:latin typeface="Consolas" pitchFamily="49" charset="0"/>
                        </a:rPr>
                        <a:t>ans = 5</a:t>
                      </a:r>
                    </a:p>
                    <a:p>
                      <a:r>
                        <a:rPr lang="fr-FR" b="0" baseline="0" dirty="0" smtClean="0">
                          <a:solidFill>
                            <a:schemeClr val="tx1"/>
                          </a:solidFill>
                          <a:latin typeface="Consolas" pitchFamily="49" charset="0"/>
                        </a:rPr>
                        <a:t>&gt;&gt; round(-13.32)</a:t>
                      </a:r>
                    </a:p>
                    <a:p>
                      <a:r>
                        <a:rPr lang="fr-FR" b="0" baseline="0" dirty="0" smtClean="0">
                          <a:solidFill>
                            <a:schemeClr val="tx1"/>
                          </a:solidFill>
                          <a:latin typeface="Consolas" pitchFamily="49" charset="0"/>
                        </a:rPr>
                        <a:t>ans = -13</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9" name="Tableau 8"/>
          <p:cNvGraphicFramePr>
            <a:graphicFrameLocks noGrp="1"/>
          </p:cNvGraphicFramePr>
          <p:nvPr/>
        </p:nvGraphicFramePr>
        <p:xfrm>
          <a:off x="357158" y="3168974"/>
          <a:ext cx="8358246" cy="1188720"/>
        </p:xfrm>
        <a:graphic>
          <a:graphicData uri="http://schemas.openxmlformats.org/drawingml/2006/table">
            <a:tbl>
              <a:tblPr firstRow="1" bandRow="1">
                <a:tableStyleId>{5C22544A-7EE6-4342-B048-85BDC9FD1C3A}</a:tableStyleId>
              </a:tblPr>
              <a:tblGrid>
                <a:gridCol w="8358246"/>
              </a:tblGrid>
              <a:tr h="142876">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err="1" smtClean="0">
                          <a:solidFill>
                            <a:schemeClr val="tx1"/>
                          </a:solidFill>
                          <a:latin typeface="Consolas" pitchFamily="49" charset="0"/>
                        </a:rPr>
                        <a:t>floor</a:t>
                      </a:r>
                      <a:r>
                        <a:rPr lang="fr-FR" b="0" baseline="0" dirty="0" smtClean="0">
                          <a:solidFill>
                            <a:schemeClr val="tx1"/>
                          </a:solidFill>
                          <a:latin typeface="Consolas" pitchFamily="49" charset="0"/>
                        </a:rPr>
                        <a:t>(4.99)</a:t>
                      </a:r>
                    </a:p>
                    <a:p>
                      <a:r>
                        <a:rPr lang="fr-FR" b="0" baseline="0" dirty="0" smtClean="0">
                          <a:solidFill>
                            <a:schemeClr val="tx1"/>
                          </a:solidFill>
                          <a:latin typeface="Consolas" pitchFamily="49" charset="0"/>
                        </a:rPr>
                        <a:t>ans = 4</a:t>
                      </a:r>
                    </a:p>
                    <a:p>
                      <a:r>
                        <a:rPr lang="fr-FR" b="0" baseline="0" dirty="0" smtClean="0">
                          <a:solidFill>
                            <a:schemeClr val="tx1"/>
                          </a:solidFill>
                          <a:latin typeface="Consolas" pitchFamily="49" charset="0"/>
                        </a:rPr>
                        <a:t>&gt;&gt; </a:t>
                      </a:r>
                      <a:r>
                        <a:rPr lang="fr-FR" b="0" baseline="0" dirty="0" err="1" smtClean="0">
                          <a:solidFill>
                            <a:schemeClr val="tx1"/>
                          </a:solidFill>
                          <a:latin typeface="Consolas" pitchFamily="49" charset="0"/>
                        </a:rPr>
                        <a:t>floor</a:t>
                      </a:r>
                      <a:r>
                        <a:rPr lang="fr-FR" b="0" baseline="0" dirty="0" smtClean="0">
                          <a:solidFill>
                            <a:schemeClr val="tx1"/>
                          </a:solidFill>
                          <a:latin typeface="Consolas" pitchFamily="49" charset="0"/>
                        </a:rPr>
                        <a:t>(-13.32)</a:t>
                      </a:r>
                    </a:p>
                    <a:p>
                      <a:r>
                        <a:rPr lang="fr-FR" b="0" baseline="0" dirty="0" smtClean="0">
                          <a:solidFill>
                            <a:schemeClr val="tx1"/>
                          </a:solidFill>
                          <a:latin typeface="Consolas" pitchFamily="49" charset="0"/>
                        </a:rPr>
                        <a:t>ans = -14</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0" name="Tableau 9"/>
          <p:cNvGraphicFramePr>
            <a:graphicFrameLocks noGrp="1"/>
          </p:cNvGraphicFramePr>
          <p:nvPr/>
        </p:nvGraphicFramePr>
        <p:xfrm>
          <a:off x="357158" y="5357826"/>
          <a:ext cx="8358246" cy="1188720"/>
        </p:xfrm>
        <a:graphic>
          <a:graphicData uri="http://schemas.openxmlformats.org/drawingml/2006/table">
            <a:tbl>
              <a:tblPr firstRow="1" bandRow="1">
                <a:tableStyleId>{5C22544A-7EE6-4342-B048-85BDC9FD1C3A}</a:tableStyleId>
              </a:tblPr>
              <a:tblGrid>
                <a:gridCol w="8358246"/>
              </a:tblGrid>
              <a:tr h="142876">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err="1" smtClean="0">
                          <a:solidFill>
                            <a:schemeClr val="tx1"/>
                          </a:solidFill>
                          <a:latin typeface="Consolas" pitchFamily="49" charset="0"/>
                        </a:rPr>
                        <a:t>ceil</a:t>
                      </a:r>
                      <a:r>
                        <a:rPr lang="fr-FR" b="0" baseline="0" dirty="0" smtClean="0">
                          <a:solidFill>
                            <a:schemeClr val="tx1"/>
                          </a:solidFill>
                          <a:latin typeface="Consolas" pitchFamily="49" charset="0"/>
                        </a:rPr>
                        <a:t>(4.01)</a:t>
                      </a:r>
                    </a:p>
                    <a:p>
                      <a:r>
                        <a:rPr lang="fr-FR" b="0" baseline="0" dirty="0" smtClean="0">
                          <a:solidFill>
                            <a:schemeClr val="tx1"/>
                          </a:solidFill>
                          <a:latin typeface="Consolas" pitchFamily="49" charset="0"/>
                        </a:rPr>
                        <a:t>ans = 5</a:t>
                      </a:r>
                    </a:p>
                    <a:p>
                      <a:r>
                        <a:rPr lang="fr-FR" b="1" baseline="0" dirty="0" smtClean="0">
                          <a:solidFill>
                            <a:schemeClr val="tx1"/>
                          </a:solidFill>
                          <a:latin typeface="Consolas" pitchFamily="49" charset="0"/>
                        </a:rPr>
                        <a:t>&gt;&gt;</a:t>
                      </a:r>
                      <a:r>
                        <a:rPr lang="fr-FR" b="0" baseline="0" dirty="0" smtClean="0">
                          <a:solidFill>
                            <a:schemeClr val="tx1"/>
                          </a:solidFill>
                          <a:latin typeface="Consolas" pitchFamily="49" charset="0"/>
                        </a:rPr>
                        <a:t> </a:t>
                      </a:r>
                      <a:r>
                        <a:rPr lang="fr-FR" b="0" baseline="0" dirty="0" err="1" smtClean="0">
                          <a:solidFill>
                            <a:schemeClr val="tx1"/>
                          </a:solidFill>
                          <a:latin typeface="Consolas" pitchFamily="49" charset="0"/>
                        </a:rPr>
                        <a:t>floor</a:t>
                      </a:r>
                      <a:r>
                        <a:rPr lang="fr-FR" b="0" baseline="0" dirty="0" smtClean="0">
                          <a:solidFill>
                            <a:schemeClr val="tx1"/>
                          </a:solidFill>
                          <a:latin typeface="Consolas" pitchFamily="49" charset="0"/>
                        </a:rPr>
                        <a:t>(-13.32)</a:t>
                      </a:r>
                    </a:p>
                    <a:p>
                      <a:r>
                        <a:rPr lang="fr-FR" b="0" baseline="0" dirty="0" smtClean="0">
                          <a:solidFill>
                            <a:schemeClr val="tx1"/>
                          </a:solidFill>
                          <a:latin typeface="Consolas" pitchFamily="49" charset="0"/>
                        </a:rPr>
                        <a:t>ans = -13</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1" name="ZoneTexte 10"/>
          <p:cNvSpPr txBox="1"/>
          <p:nvPr/>
        </p:nvSpPr>
        <p:spPr>
          <a:xfrm>
            <a:off x="8631448" y="6417254"/>
            <a:ext cx="441146" cy="369332"/>
          </a:xfrm>
          <a:prstGeom prst="rect">
            <a:avLst/>
          </a:prstGeom>
          <a:noFill/>
        </p:spPr>
        <p:txBody>
          <a:bodyPr wrap="none" rtlCol="0">
            <a:spAutoFit/>
          </a:bodyPr>
          <a:lstStyle/>
          <a:p>
            <a:r>
              <a:rPr lang="fr-FR" dirty="0" smtClean="0"/>
              <a:t>39</a:t>
            </a:r>
            <a:endParaRPr lang="fr-FR"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2" name="ZoneTexte 11"/>
          <p:cNvSpPr txBox="1"/>
          <p:nvPr/>
        </p:nvSpPr>
        <p:spPr>
          <a:xfrm>
            <a:off x="285720" y="214290"/>
            <a:ext cx="8572560" cy="3693319"/>
          </a:xfrm>
          <a:prstGeom prst="rect">
            <a:avLst/>
          </a:prstGeom>
          <a:noFill/>
        </p:spPr>
        <p:txBody>
          <a:bodyPr wrap="square" rtlCol="0">
            <a:spAutoFit/>
          </a:bodyPr>
          <a:lstStyle/>
          <a:p>
            <a:pPr marL="342900" indent="-342900"/>
            <a:r>
              <a:rPr lang="fr-FR" b="1" dirty="0" smtClean="0"/>
              <a:t>19. La fonction </a:t>
            </a:r>
            <a:r>
              <a:rPr lang="fr-FR" b="1" dirty="0" err="1" smtClean="0"/>
              <a:t>strcat</a:t>
            </a:r>
            <a:endParaRPr lang="fr-FR" b="1" dirty="0" smtClean="0"/>
          </a:p>
          <a:p>
            <a:pPr marL="342900" indent="-342900"/>
            <a:r>
              <a:rPr lang="fr-FR" dirty="0" smtClean="0"/>
              <a:t>Calcule la concaténation de plusieurs chaines de caractères.</a:t>
            </a:r>
          </a:p>
          <a:p>
            <a:pPr marL="342900" indent="-342900"/>
            <a:r>
              <a:rPr lang="fr-FR" dirty="0" smtClean="0"/>
              <a:t>C’est une fonction à plusieurs variables : </a:t>
            </a:r>
            <a:r>
              <a:rPr lang="fr-FR" dirty="0" err="1" smtClean="0"/>
              <a:t>strcat</a:t>
            </a:r>
            <a:r>
              <a:rPr lang="fr-FR" dirty="0" smtClean="0"/>
              <a:t>(ch1,ch2,ch3,…,</a:t>
            </a:r>
            <a:r>
              <a:rPr lang="fr-FR" dirty="0" err="1" smtClean="0"/>
              <a:t>chN</a:t>
            </a:r>
            <a:r>
              <a:rPr lang="fr-FR" dirty="0" smtClean="0"/>
              <a:t>)</a:t>
            </a:r>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b="1" dirty="0" smtClean="0"/>
          </a:p>
          <a:p>
            <a:pPr marL="342900" indent="-342900"/>
            <a:r>
              <a:rPr lang="fr-FR" b="1" dirty="0" smtClean="0"/>
              <a:t>20. Les fonctions </a:t>
            </a:r>
            <a:r>
              <a:rPr lang="fr-FR" b="1" dirty="0" err="1" smtClean="0"/>
              <a:t>upper</a:t>
            </a:r>
            <a:r>
              <a:rPr lang="fr-FR" b="1" dirty="0" smtClean="0"/>
              <a:t> et </a:t>
            </a:r>
            <a:r>
              <a:rPr lang="fr-FR" b="1" dirty="0" err="1" smtClean="0"/>
              <a:t>lower</a:t>
            </a:r>
            <a:endParaRPr lang="fr-FR" b="1" dirty="0" smtClean="0"/>
          </a:p>
          <a:p>
            <a:pPr marL="342900" indent="-342900"/>
            <a:r>
              <a:rPr lang="fr-FR" dirty="0" smtClean="0"/>
              <a:t>Converti tous les caractères d’une chaine en Majuscule / Minuscule</a:t>
            </a:r>
          </a:p>
          <a:p>
            <a:pPr marL="342900" indent="-342900"/>
            <a:endParaRPr lang="fr-FR" dirty="0" smtClean="0"/>
          </a:p>
          <a:p>
            <a:pPr marL="342900" indent="-342900"/>
            <a:endParaRPr lang="fr-FR" dirty="0" smtClean="0"/>
          </a:p>
        </p:txBody>
      </p:sp>
      <p:graphicFrame>
        <p:nvGraphicFramePr>
          <p:cNvPr id="6" name="Tableau 5"/>
          <p:cNvGraphicFramePr>
            <a:graphicFrameLocks noGrp="1"/>
          </p:cNvGraphicFramePr>
          <p:nvPr/>
        </p:nvGraphicFramePr>
        <p:xfrm>
          <a:off x="357158" y="1311586"/>
          <a:ext cx="8358246" cy="1188720"/>
        </p:xfrm>
        <a:graphic>
          <a:graphicData uri="http://schemas.openxmlformats.org/drawingml/2006/table">
            <a:tbl>
              <a:tblPr firstRow="1" bandRow="1">
                <a:tableStyleId>{5C22544A-7EE6-4342-B048-85BDC9FD1C3A}</a:tableStyleId>
              </a:tblPr>
              <a:tblGrid>
                <a:gridCol w="8358246"/>
              </a:tblGrid>
              <a:tr h="142876">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err="1" smtClean="0">
                          <a:solidFill>
                            <a:schemeClr val="tx1"/>
                          </a:solidFill>
                          <a:latin typeface="Consolas" pitchFamily="49" charset="0"/>
                        </a:rPr>
                        <a:t>strcat</a:t>
                      </a:r>
                      <a:r>
                        <a:rPr lang="fr-FR" b="0" baseline="0" dirty="0" smtClean="0">
                          <a:solidFill>
                            <a:schemeClr val="tx1"/>
                          </a:solidFill>
                          <a:latin typeface="Consolas" pitchFamily="49" charset="0"/>
                        </a:rPr>
                        <a:t>(‘ab’,’cd’)</a:t>
                      </a:r>
                    </a:p>
                    <a:p>
                      <a:r>
                        <a:rPr lang="fr-FR" b="0" baseline="0" dirty="0" smtClean="0">
                          <a:solidFill>
                            <a:schemeClr val="tx1"/>
                          </a:solidFill>
                          <a:latin typeface="Consolas" pitchFamily="49" charset="0"/>
                        </a:rPr>
                        <a:t>ans = </a:t>
                      </a:r>
                      <a:r>
                        <a:rPr lang="fr-FR" b="0" baseline="0" dirty="0" err="1" smtClean="0">
                          <a:solidFill>
                            <a:schemeClr val="tx1"/>
                          </a:solidFill>
                          <a:latin typeface="Consolas" pitchFamily="49" charset="0"/>
                        </a:rPr>
                        <a:t>abcd</a:t>
                      </a:r>
                      <a:endParaRPr lang="fr-FR" b="0" baseline="0" dirty="0" smtClean="0">
                        <a:solidFill>
                          <a:schemeClr val="tx1"/>
                        </a:solidFill>
                        <a:latin typeface="Consolas" pitchFamily="49" charset="0"/>
                      </a:endParaRPr>
                    </a:p>
                    <a:p>
                      <a:r>
                        <a:rPr lang="fr-FR" b="0" baseline="0" dirty="0" smtClean="0">
                          <a:solidFill>
                            <a:schemeClr val="tx1"/>
                          </a:solidFill>
                          <a:latin typeface="Consolas" pitchFamily="49" charset="0"/>
                        </a:rPr>
                        <a:t>&gt;&gt; </a:t>
                      </a:r>
                      <a:r>
                        <a:rPr lang="fr-FR" b="0" baseline="0" dirty="0" err="1" smtClean="0">
                          <a:solidFill>
                            <a:schemeClr val="tx1"/>
                          </a:solidFill>
                          <a:latin typeface="Consolas" pitchFamily="49" charset="0"/>
                        </a:rPr>
                        <a:t>strcat</a:t>
                      </a:r>
                      <a:r>
                        <a:rPr lang="fr-FR" b="0" baseline="0" dirty="0" smtClean="0">
                          <a:solidFill>
                            <a:schemeClr val="tx1"/>
                          </a:solidFill>
                          <a:latin typeface="Consolas" pitchFamily="49" charset="0"/>
                        </a:rPr>
                        <a:t>(‘bon’,’jour’,’tout’,’le’,’monde’)</a:t>
                      </a:r>
                    </a:p>
                    <a:p>
                      <a:r>
                        <a:rPr lang="fr-FR" b="0" dirty="0" err="1" smtClean="0">
                          <a:solidFill>
                            <a:schemeClr val="tx1"/>
                          </a:solidFill>
                          <a:latin typeface="Consolas" pitchFamily="49" charset="0"/>
                        </a:rPr>
                        <a:t>bonjourtoutlemonde</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7" name="Tableau 6"/>
          <p:cNvGraphicFramePr>
            <a:graphicFrameLocks noGrp="1"/>
          </p:cNvGraphicFramePr>
          <p:nvPr/>
        </p:nvGraphicFramePr>
        <p:xfrm>
          <a:off x="357158" y="3429000"/>
          <a:ext cx="8358246" cy="3108960"/>
        </p:xfrm>
        <a:graphic>
          <a:graphicData uri="http://schemas.openxmlformats.org/drawingml/2006/table">
            <a:tbl>
              <a:tblPr firstRow="1" bandRow="1">
                <a:tableStyleId>{5C22544A-7EE6-4342-B048-85BDC9FD1C3A}</a:tableStyleId>
              </a:tblPr>
              <a:tblGrid>
                <a:gridCol w="8358246"/>
              </a:tblGrid>
              <a:tr h="142876">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err="1" smtClean="0">
                          <a:solidFill>
                            <a:schemeClr val="tx1"/>
                          </a:solidFill>
                          <a:latin typeface="Consolas" pitchFamily="49" charset="0"/>
                        </a:rPr>
                        <a:t>upper</a:t>
                      </a:r>
                      <a:r>
                        <a:rPr lang="fr-FR" b="0" baseline="0" dirty="0" smtClean="0">
                          <a:solidFill>
                            <a:schemeClr val="tx1"/>
                          </a:solidFill>
                          <a:latin typeface="Consolas" pitchFamily="49" charset="0"/>
                        </a:rPr>
                        <a:t>(‘grOUpe20’)</a:t>
                      </a:r>
                    </a:p>
                    <a:p>
                      <a:r>
                        <a:rPr lang="fr-FR" b="0" baseline="0" dirty="0" smtClean="0">
                          <a:solidFill>
                            <a:schemeClr val="tx1"/>
                          </a:solidFill>
                          <a:latin typeface="Consolas" pitchFamily="49" charset="0"/>
                        </a:rPr>
                        <a:t>ans = GROUPE20</a:t>
                      </a:r>
                    </a:p>
                    <a:p>
                      <a:endParaRPr lang="fr-FR" b="1" baseline="0" dirty="0" smtClean="0">
                        <a:solidFill>
                          <a:schemeClr val="tx1"/>
                        </a:solidFill>
                        <a:latin typeface="Consolas" pitchFamily="49" charset="0"/>
                      </a:endParaRPr>
                    </a:p>
                    <a:p>
                      <a:r>
                        <a:rPr lang="fr-FR" b="1" baseline="0" dirty="0" smtClean="0">
                          <a:solidFill>
                            <a:schemeClr val="tx1"/>
                          </a:solidFill>
                          <a:latin typeface="Consolas" pitchFamily="49" charset="0"/>
                        </a:rPr>
                        <a:t>&gt;&gt;</a:t>
                      </a:r>
                      <a:r>
                        <a:rPr lang="fr-FR" b="0" baseline="0" dirty="0" smtClean="0">
                          <a:solidFill>
                            <a:schemeClr val="tx1"/>
                          </a:solidFill>
                          <a:latin typeface="Consolas" pitchFamily="49" charset="0"/>
                        </a:rPr>
                        <a:t> </a:t>
                      </a:r>
                      <a:r>
                        <a:rPr lang="fr-FR" b="0" baseline="0" dirty="0" err="1" smtClean="0">
                          <a:solidFill>
                            <a:schemeClr val="tx1"/>
                          </a:solidFill>
                          <a:latin typeface="Consolas" pitchFamily="49" charset="0"/>
                        </a:rPr>
                        <a:t>lower</a:t>
                      </a:r>
                      <a:r>
                        <a:rPr lang="fr-FR" b="0" baseline="0" dirty="0" smtClean="0">
                          <a:solidFill>
                            <a:schemeClr val="tx1"/>
                          </a:solidFill>
                          <a:latin typeface="Consolas" pitchFamily="49" charset="0"/>
                        </a:rPr>
                        <a:t>(‘grOUpe20’)</a:t>
                      </a:r>
                    </a:p>
                    <a:p>
                      <a:r>
                        <a:rPr lang="fr-FR" b="0" baseline="0" dirty="0" smtClean="0">
                          <a:solidFill>
                            <a:schemeClr val="tx1"/>
                          </a:solidFill>
                          <a:latin typeface="Consolas" pitchFamily="49" charset="0"/>
                        </a:rPr>
                        <a:t>ans = groupe20</a:t>
                      </a:r>
                    </a:p>
                    <a:p>
                      <a:endParaRPr lang="fr-FR" b="0" baseline="0" dirty="0" smtClean="0">
                        <a:solidFill>
                          <a:schemeClr val="tx1"/>
                        </a:solidFill>
                        <a:latin typeface="Consolas" pitchFamily="49" charset="0"/>
                      </a:endParaRPr>
                    </a:p>
                    <a:p>
                      <a:r>
                        <a:rPr lang="fr-FR" b="1" baseline="0" dirty="0" smtClean="0">
                          <a:solidFill>
                            <a:schemeClr val="tx1"/>
                          </a:solidFill>
                          <a:latin typeface="Consolas" pitchFamily="49" charset="0"/>
                        </a:rPr>
                        <a:t>&gt;&gt; </a:t>
                      </a:r>
                      <a:r>
                        <a:rPr lang="fr-FR" b="0" baseline="0" dirty="0" err="1" smtClean="0">
                          <a:solidFill>
                            <a:schemeClr val="tx1"/>
                          </a:solidFill>
                          <a:latin typeface="Consolas" pitchFamily="49" charset="0"/>
                        </a:rPr>
                        <a:t>upper</a:t>
                      </a:r>
                      <a:r>
                        <a:rPr lang="fr-FR" b="0" baseline="0" dirty="0" smtClean="0">
                          <a:solidFill>
                            <a:schemeClr val="tx1"/>
                          </a:solidFill>
                          <a:latin typeface="Consolas" pitchFamily="49" charset="0"/>
                        </a:rPr>
                        <a:t>(</a:t>
                      </a:r>
                      <a:r>
                        <a:rPr lang="fr-FR" b="0" baseline="0" dirty="0" err="1" smtClean="0">
                          <a:solidFill>
                            <a:schemeClr val="tx1"/>
                          </a:solidFill>
                          <a:latin typeface="Consolas" pitchFamily="49" charset="0"/>
                        </a:rPr>
                        <a:t>lower</a:t>
                      </a:r>
                      <a:r>
                        <a:rPr lang="fr-FR" b="0" baseline="0" dirty="0" smtClean="0">
                          <a:solidFill>
                            <a:schemeClr val="tx1"/>
                          </a:solidFill>
                          <a:latin typeface="Consolas" pitchFamily="49" charset="0"/>
                        </a:rPr>
                        <a:t>(‘grOUpe20’))</a:t>
                      </a:r>
                    </a:p>
                    <a:p>
                      <a:pPr marL="0" marR="0" indent="0" algn="l" defTabSz="914400" rtl="0" eaLnBrk="1" fontAlgn="auto" latinLnBrk="0" hangingPunct="1">
                        <a:lnSpc>
                          <a:spcPct val="100000"/>
                        </a:lnSpc>
                        <a:spcBef>
                          <a:spcPts val="0"/>
                        </a:spcBef>
                        <a:spcAft>
                          <a:spcPts val="0"/>
                        </a:spcAft>
                        <a:buClrTx/>
                        <a:buSzTx/>
                        <a:buFontTx/>
                        <a:buNone/>
                        <a:tabLst/>
                        <a:defRPr/>
                      </a:pPr>
                      <a:r>
                        <a:rPr lang="fr-FR" b="0" baseline="0" dirty="0" smtClean="0">
                          <a:solidFill>
                            <a:schemeClr val="tx1"/>
                          </a:solidFill>
                          <a:latin typeface="Consolas" pitchFamily="49" charset="0"/>
                        </a:rPr>
                        <a:t>ans = GROUPE20</a:t>
                      </a:r>
                    </a:p>
                    <a:p>
                      <a:endParaRPr lang="fr-FR" b="0" dirty="0" smtClean="0">
                        <a:solidFill>
                          <a:schemeClr val="tx1"/>
                        </a:solidFill>
                        <a:latin typeface="Consolas" pitchFamily="49" charset="0"/>
                      </a:endParaRPr>
                    </a:p>
                    <a:p>
                      <a:r>
                        <a:rPr lang="fr-FR" b="0" dirty="0" err="1" smtClean="0">
                          <a:solidFill>
                            <a:schemeClr val="tx1"/>
                          </a:solidFill>
                          <a:latin typeface="Consolas" pitchFamily="49" charset="0"/>
                        </a:rPr>
                        <a:t>Lower</a:t>
                      </a:r>
                      <a:r>
                        <a:rPr lang="fr-FR" b="0" dirty="0" smtClean="0">
                          <a:solidFill>
                            <a:schemeClr val="tx1"/>
                          </a:solidFill>
                          <a:latin typeface="Consolas" pitchFamily="49" charset="0"/>
                        </a:rPr>
                        <a:t>(</a:t>
                      </a:r>
                      <a:r>
                        <a:rPr lang="fr-FR" b="0" dirty="0" err="1" smtClean="0">
                          <a:solidFill>
                            <a:schemeClr val="tx1"/>
                          </a:solidFill>
                          <a:latin typeface="Consolas" pitchFamily="49" charset="0"/>
                        </a:rPr>
                        <a:t>upper</a:t>
                      </a:r>
                      <a:r>
                        <a:rPr lang="fr-FR" b="0" dirty="0" smtClean="0">
                          <a:solidFill>
                            <a:schemeClr val="tx1"/>
                          </a:solidFill>
                          <a:latin typeface="Consolas" pitchFamily="49" charset="0"/>
                        </a:rPr>
                        <a:t>(‘</a:t>
                      </a:r>
                      <a:r>
                        <a:rPr lang="fr-FR" b="0" baseline="0" dirty="0" smtClean="0">
                          <a:solidFill>
                            <a:schemeClr val="tx1"/>
                          </a:solidFill>
                          <a:latin typeface="Consolas" pitchFamily="49" charset="0"/>
                        </a:rPr>
                        <a:t>grOUpe20’))</a:t>
                      </a:r>
                    </a:p>
                    <a:p>
                      <a:r>
                        <a:rPr lang="fr-FR" b="0" baseline="0" dirty="0" smtClean="0">
                          <a:solidFill>
                            <a:schemeClr val="tx1"/>
                          </a:solidFill>
                          <a:latin typeface="Consolas" pitchFamily="49" charset="0"/>
                        </a:rPr>
                        <a:t>ans = groupe20</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ZoneTexte 7"/>
          <p:cNvSpPr txBox="1"/>
          <p:nvPr/>
        </p:nvSpPr>
        <p:spPr>
          <a:xfrm>
            <a:off x="8560010" y="6488692"/>
            <a:ext cx="441146" cy="369332"/>
          </a:xfrm>
          <a:prstGeom prst="rect">
            <a:avLst/>
          </a:prstGeom>
          <a:noFill/>
        </p:spPr>
        <p:txBody>
          <a:bodyPr wrap="none" rtlCol="0">
            <a:spAutoFit/>
          </a:bodyPr>
          <a:lstStyle/>
          <a:p>
            <a:r>
              <a:rPr lang="fr-FR" dirty="0" smtClean="0"/>
              <a:t>40</a:t>
            </a:r>
            <a:endParaRPr lang="fr-FR"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2" name="ZoneTexte 11"/>
          <p:cNvSpPr txBox="1"/>
          <p:nvPr/>
        </p:nvSpPr>
        <p:spPr>
          <a:xfrm>
            <a:off x="285720" y="214290"/>
            <a:ext cx="8572560" cy="2862322"/>
          </a:xfrm>
          <a:prstGeom prst="rect">
            <a:avLst/>
          </a:prstGeom>
          <a:noFill/>
        </p:spPr>
        <p:txBody>
          <a:bodyPr wrap="square" rtlCol="0">
            <a:spAutoFit/>
          </a:bodyPr>
          <a:lstStyle/>
          <a:p>
            <a:pPr marL="342900" indent="-342900"/>
            <a:r>
              <a:rPr lang="fr-FR" b="1" dirty="0" smtClean="0"/>
              <a:t>21. La fonction </a:t>
            </a:r>
            <a:r>
              <a:rPr lang="fr-FR" b="1" dirty="0" err="1" smtClean="0"/>
              <a:t>length</a:t>
            </a:r>
            <a:endParaRPr lang="fr-FR" b="1" dirty="0" smtClean="0"/>
          </a:p>
          <a:p>
            <a:pPr marL="342900" indent="-342900"/>
            <a:r>
              <a:rPr lang="fr-FR" dirty="0" smtClean="0"/>
              <a:t>Calcule le nombre d’éléments d’un vecteur. Ou la longueur d’une chaine</a:t>
            </a:r>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dirty="0" smtClean="0"/>
          </a:p>
          <a:p>
            <a:pPr marL="342900" indent="-342900"/>
            <a:endParaRPr lang="fr-FR" dirty="0" smtClean="0"/>
          </a:p>
        </p:txBody>
      </p:sp>
      <p:graphicFrame>
        <p:nvGraphicFramePr>
          <p:cNvPr id="6" name="Tableau 5"/>
          <p:cNvGraphicFramePr>
            <a:graphicFrameLocks noGrp="1"/>
          </p:cNvGraphicFramePr>
          <p:nvPr/>
        </p:nvGraphicFramePr>
        <p:xfrm>
          <a:off x="357158" y="1311586"/>
          <a:ext cx="8358246" cy="914400"/>
        </p:xfrm>
        <a:graphic>
          <a:graphicData uri="http://schemas.openxmlformats.org/drawingml/2006/table">
            <a:tbl>
              <a:tblPr firstRow="1" bandRow="1">
                <a:tableStyleId>{5C22544A-7EE6-4342-B048-85BDC9FD1C3A}</a:tableStyleId>
              </a:tblPr>
              <a:tblGrid>
                <a:gridCol w="8358246"/>
              </a:tblGrid>
              <a:tr h="142876">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smtClean="0">
                          <a:solidFill>
                            <a:schemeClr val="tx1"/>
                          </a:solidFill>
                          <a:latin typeface="Consolas" pitchFamily="49" charset="0"/>
                        </a:rPr>
                        <a:t>x=‘</a:t>
                      </a:r>
                      <a:r>
                        <a:rPr lang="fr-FR" b="0" baseline="0" dirty="0" err="1" smtClean="0">
                          <a:solidFill>
                            <a:schemeClr val="tx1"/>
                          </a:solidFill>
                          <a:latin typeface="Consolas" pitchFamily="49" charset="0"/>
                        </a:rPr>
                        <a:t>abcde</a:t>
                      </a:r>
                      <a:r>
                        <a:rPr lang="fr-FR" b="0" baseline="0" dirty="0" smtClean="0">
                          <a:solidFill>
                            <a:schemeClr val="tx1"/>
                          </a:solidFill>
                          <a:latin typeface="Consolas" pitchFamily="49" charset="0"/>
                        </a:rPr>
                        <a:t>’;</a:t>
                      </a:r>
                    </a:p>
                    <a:p>
                      <a:r>
                        <a:rPr lang="fr-FR" b="1" baseline="0" dirty="0" smtClean="0">
                          <a:solidFill>
                            <a:schemeClr val="tx1"/>
                          </a:solidFill>
                          <a:latin typeface="Consolas" pitchFamily="49" charset="0"/>
                        </a:rPr>
                        <a:t>&gt;&gt;</a:t>
                      </a:r>
                      <a:r>
                        <a:rPr lang="fr-FR" b="0" baseline="0" dirty="0" smtClean="0">
                          <a:solidFill>
                            <a:schemeClr val="tx1"/>
                          </a:solidFill>
                          <a:latin typeface="Consolas" pitchFamily="49" charset="0"/>
                        </a:rPr>
                        <a:t> </a:t>
                      </a:r>
                      <a:r>
                        <a:rPr lang="fr-FR" b="0" baseline="0" dirty="0" err="1" smtClean="0">
                          <a:solidFill>
                            <a:schemeClr val="tx1"/>
                          </a:solidFill>
                          <a:latin typeface="Consolas" pitchFamily="49" charset="0"/>
                        </a:rPr>
                        <a:t>length</a:t>
                      </a:r>
                      <a:r>
                        <a:rPr lang="fr-FR" b="0" baseline="0" dirty="0" smtClean="0">
                          <a:solidFill>
                            <a:schemeClr val="tx1"/>
                          </a:solidFill>
                          <a:latin typeface="Consolas" pitchFamily="49" charset="0"/>
                        </a:rPr>
                        <a:t>(x)</a:t>
                      </a:r>
                    </a:p>
                    <a:p>
                      <a:r>
                        <a:rPr lang="fr-FR" b="0" baseline="0" dirty="0" smtClean="0">
                          <a:solidFill>
                            <a:schemeClr val="tx1"/>
                          </a:solidFill>
                          <a:latin typeface="Consolas" pitchFamily="49" charset="0"/>
                        </a:rPr>
                        <a:t>ans =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ZoneTexte 7"/>
          <p:cNvSpPr txBox="1"/>
          <p:nvPr/>
        </p:nvSpPr>
        <p:spPr>
          <a:xfrm>
            <a:off x="8501090" y="6286520"/>
            <a:ext cx="441146" cy="369332"/>
          </a:xfrm>
          <a:prstGeom prst="rect">
            <a:avLst/>
          </a:prstGeom>
          <a:noFill/>
        </p:spPr>
        <p:txBody>
          <a:bodyPr wrap="none" rtlCol="0">
            <a:spAutoFit/>
          </a:bodyPr>
          <a:lstStyle/>
          <a:p>
            <a:r>
              <a:rPr lang="fr-FR" dirty="0" smtClean="0"/>
              <a:t>41</a:t>
            </a:r>
            <a:endParaRPr lang="fr-FR"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2844" y="2285992"/>
            <a:ext cx="8786874" cy="1143000"/>
          </a:xfrm>
        </p:spPr>
        <p:txBody>
          <a:bodyPr>
            <a:normAutofit/>
          </a:bodyPr>
          <a:lstStyle/>
          <a:p>
            <a:pPr algn="ctr"/>
            <a:r>
              <a:rPr lang="fr-FR" sz="3200" b="1" dirty="0" smtClean="0"/>
              <a:t>Exercices</a:t>
            </a:r>
            <a:endParaRPr lang="fr-FR" sz="3200" b="1" dirty="0"/>
          </a:p>
        </p:txBody>
      </p:sp>
      <p:sp>
        <p:nvSpPr>
          <p:cNvPr id="7" name="ZoneTexte 6"/>
          <p:cNvSpPr txBox="1"/>
          <p:nvPr/>
        </p:nvSpPr>
        <p:spPr>
          <a:xfrm>
            <a:off x="642910" y="2571744"/>
            <a:ext cx="184731" cy="369332"/>
          </a:xfrm>
          <a:prstGeom prst="rect">
            <a:avLst/>
          </a:prstGeom>
          <a:noFill/>
        </p:spPr>
        <p:txBody>
          <a:bodyPr wrap="none" rtlCol="0">
            <a:spAutoFit/>
          </a:bodyPr>
          <a:lstStyle/>
          <a:p>
            <a:endParaRPr lang="fr-FR"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2" name="ZoneTexte 11"/>
          <p:cNvSpPr txBox="1"/>
          <p:nvPr/>
        </p:nvSpPr>
        <p:spPr>
          <a:xfrm>
            <a:off x="357158" y="428604"/>
            <a:ext cx="8572560" cy="6463308"/>
          </a:xfrm>
          <a:prstGeom prst="rect">
            <a:avLst/>
          </a:prstGeom>
          <a:noFill/>
        </p:spPr>
        <p:txBody>
          <a:bodyPr wrap="square" rtlCol="0">
            <a:spAutoFit/>
          </a:bodyPr>
          <a:lstStyle/>
          <a:p>
            <a:pPr marL="342900" indent="-342900"/>
            <a:r>
              <a:rPr lang="fr-FR" b="1" dirty="0" smtClean="0"/>
              <a:t>Exercices</a:t>
            </a:r>
          </a:p>
          <a:p>
            <a:pPr marL="342900" indent="-342900"/>
            <a:endParaRPr lang="fr-FR" dirty="0" smtClean="0"/>
          </a:p>
          <a:p>
            <a:pPr marL="342900" indent="-342900">
              <a:buAutoNum type="arabicPeriod"/>
            </a:pPr>
            <a:r>
              <a:rPr lang="fr-FR" dirty="0" smtClean="0"/>
              <a:t>Donnez la commande Matlab permettant de calculer les expressions suivantes</a:t>
            </a:r>
          </a:p>
          <a:p>
            <a:pPr marL="342900" indent="-342900">
              <a:buAutoNum type="arabicPeriod"/>
            </a:pPr>
            <a:endParaRPr lang="fr-FR" dirty="0" smtClean="0"/>
          </a:p>
          <a:p>
            <a:pPr marL="342900" indent="-342900">
              <a:buAutoNum type="arabicPeriod"/>
            </a:pPr>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lgn="ctr"/>
            <a:r>
              <a:rPr lang="fr-FR" u="sng" dirty="0" smtClean="0"/>
              <a:t>Les angles sont exprimés en degré</a:t>
            </a:r>
          </a:p>
          <a:p>
            <a:pPr marL="342900" indent="-342900" algn="ctr"/>
            <a:endParaRPr lang="fr-FR" u="sng" dirty="0" smtClean="0"/>
          </a:p>
          <a:p>
            <a:pPr marL="342900" indent="-342900"/>
            <a:r>
              <a:rPr lang="fr-FR" b="1" u="sng" dirty="0" err="1" smtClean="0"/>
              <a:t>Methode</a:t>
            </a:r>
            <a:r>
              <a:rPr lang="fr-FR" b="1" u="sng" dirty="0" smtClean="0"/>
              <a:t> 1 :</a:t>
            </a:r>
            <a:r>
              <a:rPr lang="fr-FR" dirty="0" smtClean="0"/>
              <a:t> Directe</a:t>
            </a:r>
            <a:endParaRPr lang="fr-FR" b="1" u="sng" dirty="0" smtClean="0"/>
          </a:p>
          <a:p>
            <a:pPr marL="342900" indent="-342900"/>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dirty="0" smtClean="0"/>
          </a:p>
          <a:p>
            <a:pPr marL="342900" indent="-342900"/>
            <a:endParaRPr lang="fr-FR" dirty="0" smtClean="0"/>
          </a:p>
        </p:txBody>
      </p:sp>
      <p:graphicFrame>
        <p:nvGraphicFramePr>
          <p:cNvPr id="5" name="Objet 4"/>
          <p:cNvGraphicFramePr>
            <a:graphicFrameLocks noChangeAspect="1"/>
          </p:cNvGraphicFramePr>
          <p:nvPr/>
        </p:nvGraphicFramePr>
        <p:xfrm>
          <a:off x="3151644" y="1643050"/>
          <a:ext cx="3277744" cy="857256"/>
        </p:xfrm>
        <a:graphic>
          <a:graphicData uri="http://schemas.openxmlformats.org/presentationml/2006/ole">
            <p:oleObj spid="_x0000_s4098" name="Équation" r:id="rId4" imgW="1651000" imgH="431800" progId="">
              <p:embed/>
            </p:oleObj>
          </a:graphicData>
        </a:graphic>
      </p:graphicFrame>
      <p:graphicFrame>
        <p:nvGraphicFramePr>
          <p:cNvPr id="7" name="Tableau 6"/>
          <p:cNvGraphicFramePr>
            <a:graphicFrameLocks noGrp="1"/>
          </p:cNvGraphicFramePr>
          <p:nvPr/>
        </p:nvGraphicFramePr>
        <p:xfrm>
          <a:off x="357158" y="3714752"/>
          <a:ext cx="8358246" cy="640080"/>
        </p:xfrm>
        <a:graphic>
          <a:graphicData uri="http://schemas.openxmlformats.org/drawingml/2006/table">
            <a:tbl>
              <a:tblPr firstRow="1" bandRow="1">
                <a:tableStyleId>{5C22544A-7EE6-4342-B048-85BDC9FD1C3A}</a:tableStyleId>
              </a:tblPr>
              <a:tblGrid>
                <a:gridCol w="8358246"/>
              </a:tblGrid>
              <a:tr h="142876">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t>
                      </a:r>
                      <a:r>
                        <a:rPr lang="fr-FR" b="0" baseline="0" dirty="0" smtClean="0">
                          <a:solidFill>
                            <a:schemeClr val="tx1"/>
                          </a:solidFill>
                          <a:latin typeface="Consolas" pitchFamily="49" charset="0"/>
                        </a:rPr>
                        <a:t>1/</a:t>
                      </a:r>
                      <a:r>
                        <a:rPr lang="fr-FR" b="0" baseline="0" dirty="0" err="1" smtClean="0">
                          <a:solidFill>
                            <a:schemeClr val="tx1"/>
                          </a:solidFill>
                          <a:latin typeface="Consolas" pitchFamily="49" charset="0"/>
                        </a:rPr>
                        <a:t>sqrt</a:t>
                      </a:r>
                      <a:r>
                        <a:rPr lang="fr-FR" b="0" baseline="0" dirty="0" smtClean="0">
                          <a:solidFill>
                            <a:schemeClr val="tx1"/>
                          </a:solidFill>
                          <a:latin typeface="Consolas" pitchFamily="49" charset="0"/>
                        </a:rPr>
                        <a:t>(8^3+2)-2*</a:t>
                      </a:r>
                      <a:r>
                        <a:rPr lang="fr-FR" b="0" baseline="0" dirty="0" err="1" smtClean="0">
                          <a:solidFill>
                            <a:schemeClr val="tx1"/>
                          </a:solidFill>
                          <a:latin typeface="Consolas" pitchFamily="49" charset="0"/>
                        </a:rPr>
                        <a:t>sind</a:t>
                      </a:r>
                      <a:r>
                        <a:rPr lang="fr-FR" b="0" baseline="0" dirty="0" smtClean="0">
                          <a:solidFill>
                            <a:schemeClr val="tx1"/>
                          </a:solidFill>
                          <a:latin typeface="Consolas" pitchFamily="49" charset="0"/>
                        </a:rPr>
                        <a:t>(45)/</a:t>
                      </a:r>
                      <a:r>
                        <a:rPr lang="fr-FR" b="0" baseline="0" dirty="0" err="1" smtClean="0">
                          <a:solidFill>
                            <a:schemeClr val="tx1"/>
                          </a:solidFill>
                          <a:latin typeface="Consolas" pitchFamily="49" charset="0"/>
                        </a:rPr>
                        <a:t>exp</a:t>
                      </a:r>
                      <a:r>
                        <a:rPr lang="fr-FR" b="0" baseline="0" dirty="0" smtClean="0">
                          <a:solidFill>
                            <a:schemeClr val="tx1"/>
                          </a:solidFill>
                          <a:latin typeface="Consolas" pitchFamily="49" charset="0"/>
                        </a:rPr>
                        <a:t>(2)+log(4)</a:t>
                      </a:r>
                    </a:p>
                    <a:p>
                      <a:r>
                        <a:rPr lang="fr-FR" b="0" baseline="0" dirty="0" smtClean="0">
                          <a:solidFill>
                            <a:schemeClr val="tx1"/>
                          </a:solidFill>
                          <a:latin typeface="Consolas" pitchFamily="49" charset="0"/>
                        </a:rPr>
                        <a:t>ans = 1.2390</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ZoneTexte 7"/>
          <p:cNvSpPr txBox="1"/>
          <p:nvPr/>
        </p:nvSpPr>
        <p:spPr>
          <a:xfrm>
            <a:off x="8501090" y="6286520"/>
            <a:ext cx="441146" cy="369332"/>
          </a:xfrm>
          <a:prstGeom prst="rect">
            <a:avLst/>
          </a:prstGeom>
          <a:noFill/>
        </p:spPr>
        <p:txBody>
          <a:bodyPr wrap="none" rtlCol="0">
            <a:spAutoFit/>
          </a:bodyPr>
          <a:lstStyle/>
          <a:p>
            <a:r>
              <a:rPr lang="fr-FR" dirty="0" smtClean="0"/>
              <a:t>42</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2" name="ZoneTexte 11"/>
          <p:cNvSpPr txBox="1"/>
          <p:nvPr/>
        </p:nvSpPr>
        <p:spPr>
          <a:xfrm>
            <a:off x="357158" y="428604"/>
            <a:ext cx="8572560" cy="6463308"/>
          </a:xfrm>
          <a:prstGeom prst="rect">
            <a:avLst/>
          </a:prstGeom>
          <a:noFill/>
        </p:spPr>
        <p:txBody>
          <a:bodyPr wrap="square" rtlCol="0">
            <a:spAutoFit/>
          </a:bodyPr>
          <a:lstStyle/>
          <a:p>
            <a:pPr marL="342900" indent="-342900"/>
            <a:r>
              <a:rPr lang="fr-FR" b="1" dirty="0" smtClean="0"/>
              <a:t>Exercices</a:t>
            </a:r>
          </a:p>
          <a:p>
            <a:pPr marL="342900" indent="-342900"/>
            <a:endParaRPr lang="fr-FR" dirty="0" smtClean="0"/>
          </a:p>
          <a:p>
            <a:pPr marL="342900" indent="-342900">
              <a:buAutoNum type="arabicPeriod"/>
            </a:pPr>
            <a:r>
              <a:rPr lang="fr-FR" dirty="0" smtClean="0"/>
              <a:t>Donnez la commande Matlab permettant de calculer les expressions suivantes</a:t>
            </a:r>
          </a:p>
          <a:p>
            <a:pPr marL="342900" indent="-342900">
              <a:buAutoNum type="arabicPeriod"/>
            </a:pPr>
            <a:endParaRPr lang="fr-FR" dirty="0" smtClean="0"/>
          </a:p>
          <a:p>
            <a:pPr marL="342900" indent="-342900">
              <a:buAutoNum type="arabicPeriod"/>
            </a:pPr>
            <a:endParaRPr lang="fr-FR" dirty="0" smtClean="0"/>
          </a:p>
          <a:p>
            <a:pPr marL="342900" indent="-342900"/>
            <a:endParaRPr lang="fr-FR" dirty="0" smtClean="0"/>
          </a:p>
          <a:p>
            <a:pPr marL="342900" indent="-342900"/>
            <a:endParaRPr lang="fr-FR" dirty="0" smtClean="0"/>
          </a:p>
          <a:p>
            <a:pPr marL="342900" indent="-342900"/>
            <a:endParaRPr lang="fr-FR" u="sng" dirty="0" smtClean="0"/>
          </a:p>
          <a:p>
            <a:pPr marL="342900" indent="-342900" algn="ctr"/>
            <a:endParaRPr lang="fr-FR" u="sng" dirty="0" smtClean="0"/>
          </a:p>
          <a:p>
            <a:pPr marL="342900" indent="-342900"/>
            <a:endParaRPr lang="fr-FR" b="1" u="sng" dirty="0" smtClean="0"/>
          </a:p>
          <a:p>
            <a:pPr marL="342900" indent="-342900"/>
            <a:r>
              <a:rPr lang="fr-FR" b="1" u="sng" dirty="0" err="1" smtClean="0"/>
              <a:t>Methode</a:t>
            </a:r>
            <a:r>
              <a:rPr lang="fr-FR" b="1" u="sng" dirty="0" smtClean="0"/>
              <a:t> 2 :</a:t>
            </a:r>
            <a:r>
              <a:rPr lang="fr-FR" dirty="0" smtClean="0"/>
              <a:t> Décomposition</a:t>
            </a:r>
            <a:endParaRPr lang="fr-FR" b="1" u="sng" dirty="0" smtClean="0"/>
          </a:p>
          <a:p>
            <a:pPr marL="342900" indent="-342900"/>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dirty="0" smtClean="0"/>
          </a:p>
          <a:p>
            <a:pPr marL="342900" indent="-342900"/>
            <a:endParaRPr lang="fr-FR" dirty="0" smtClean="0"/>
          </a:p>
        </p:txBody>
      </p:sp>
      <p:graphicFrame>
        <p:nvGraphicFramePr>
          <p:cNvPr id="5" name="Objet 4"/>
          <p:cNvGraphicFramePr>
            <a:graphicFrameLocks noChangeAspect="1"/>
          </p:cNvGraphicFramePr>
          <p:nvPr/>
        </p:nvGraphicFramePr>
        <p:xfrm>
          <a:off x="3151644" y="1643050"/>
          <a:ext cx="3277744" cy="857256"/>
        </p:xfrm>
        <a:graphic>
          <a:graphicData uri="http://schemas.openxmlformats.org/presentationml/2006/ole">
            <p:oleObj spid="_x0000_s5122" name="Équation" r:id="rId4" imgW="1651000" imgH="431800" progId="">
              <p:embed/>
            </p:oleObj>
          </a:graphicData>
        </a:graphic>
      </p:graphicFrame>
      <p:graphicFrame>
        <p:nvGraphicFramePr>
          <p:cNvPr id="7" name="Tableau 6"/>
          <p:cNvGraphicFramePr>
            <a:graphicFrameLocks noGrp="1"/>
          </p:cNvGraphicFramePr>
          <p:nvPr/>
        </p:nvGraphicFramePr>
        <p:xfrm>
          <a:off x="357158" y="4134810"/>
          <a:ext cx="8358246" cy="1463040"/>
        </p:xfrm>
        <a:graphic>
          <a:graphicData uri="http://schemas.openxmlformats.org/drawingml/2006/table">
            <a:tbl>
              <a:tblPr firstRow="1" bandRow="1">
                <a:tableStyleId>{5C22544A-7EE6-4342-B048-85BDC9FD1C3A}</a:tableStyleId>
              </a:tblPr>
              <a:tblGrid>
                <a:gridCol w="8358246"/>
              </a:tblGrid>
              <a:tr h="142876">
                <a:tc>
                  <a:txBody>
                    <a:bodyPr/>
                    <a:lstStyle/>
                    <a:p>
                      <a:r>
                        <a:rPr lang="fr-FR" b="1" dirty="0" smtClean="0">
                          <a:solidFill>
                            <a:schemeClr val="tx1"/>
                          </a:solidFill>
                          <a:latin typeface="Consolas" pitchFamily="49" charset="0"/>
                        </a:rPr>
                        <a:t>&gt;&gt;</a:t>
                      </a:r>
                      <a:r>
                        <a:rPr lang="fr-FR" b="1" baseline="0" dirty="0" smtClean="0">
                          <a:solidFill>
                            <a:schemeClr val="tx1"/>
                          </a:solidFill>
                          <a:latin typeface="Consolas" pitchFamily="49" charset="0"/>
                        </a:rPr>
                        <a:t> A= </a:t>
                      </a:r>
                      <a:r>
                        <a:rPr lang="fr-FR" b="0" baseline="0" dirty="0" smtClean="0">
                          <a:solidFill>
                            <a:schemeClr val="tx1"/>
                          </a:solidFill>
                          <a:latin typeface="Consolas" pitchFamily="49" charset="0"/>
                        </a:rPr>
                        <a:t>1/</a:t>
                      </a:r>
                      <a:r>
                        <a:rPr lang="fr-FR" b="0" baseline="0" dirty="0" err="1" smtClean="0">
                          <a:solidFill>
                            <a:schemeClr val="tx1"/>
                          </a:solidFill>
                          <a:latin typeface="Consolas" pitchFamily="49" charset="0"/>
                        </a:rPr>
                        <a:t>sqrt</a:t>
                      </a:r>
                      <a:r>
                        <a:rPr lang="fr-FR" b="0" baseline="0" dirty="0" smtClean="0">
                          <a:solidFill>
                            <a:schemeClr val="tx1"/>
                          </a:solidFill>
                          <a:latin typeface="Consolas" pitchFamily="49" charset="0"/>
                        </a:rPr>
                        <a:t>(8^3+2);</a:t>
                      </a:r>
                    </a:p>
                    <a:p>
                      <a:r>
                        <a:rPr lang="fr-FR" b="1" baseline="0" dirty="0" smtClean="0">
                          <a:solidFill>
                            <a:schemeClr val="tx1"/>
                          </a:solidFill>
                          <a:latin typeface="Consolas" pitchFamily="49" charset="0"/>
                        </a:rPr>
                        <a:t>&gt;&gt;</a:t>
                      </a:r>
                      <a:r>
                        <a:rPr lang="fr-FR" b="0" baseline="0" dirty="0" smtClean="0">
                          <a:solidFill>
                            <a:schemeClr val="tx1"/>
                          </a:solidFill>
                          <a:latin typeface="Consolas" pitchFamily="49" charset="0"/>
                        </a:rPr>
                        <a:t> B=2*</a:t>
                      </a:r>
                      <a:r>
                        <a:rPr lang="fr-FR" b="0" baseline="0" dirty="0" err="1" smtClean="0">
                          <a:solidFill>
                            <a:schemeClr val="tx1"/>
                          </a:solidFill>
                          <a:latin typeface="Consolas" pitchFamily="49" charset="0"/>
                        </a:rPr>
                        <a:t>sind</a:t>
                      </a:r>
                      <a:r>
                        <a:rPr lang="fr-FR" b="0" baseline="0" dirty="0" smtClean="0">
                          <a:solidFill>
                            <a:schemeClr val="tx1"/>
                          </a:solidFill>
                          <a:latin typeface="Consolas" pitchFamily="49" charset="0"/>
                        </a:rPr>
                        <a:t>(45)/</a:t>
                      </a:r>
                      <a:r>
                        <a:rPr lang="fr-FR" b="0" baseline="0" dirty="0" err="1" smtClean="0">
                          <a:solidFill>
                            <a:schemeClr val="tx1"/>
                          </a:solidFill>
                          <a:latin typeface="Consolas" pitchFamily="49" charset="0"/>
                        </a:rPr>
                        <a:t>exp</a:t>
                      </a:r>
                      <a:r>
                        <a:rPr lang="fr-FR" b="0" baseline="0" dirty="0" smtClean="0">
                          <a:solidFill>
                            <a:schemeClr val="tx1"/>
                          </a:solidFill>
                          <a:latin typeface="Consolas" pitchFamily="49" charset="0"/>
                        </a:rPr>
                        <a:t>(2);</a:t>
                      </a:r>
                    </a:p>
                    <a:p>
                      <a:r>
                        <a:rPr lang="fr-FR" b="1" baseline="0" dirty="0" smtClean="0">
                          <a:solidFill>
                            <a:schemeClr val="tx1"/>
                          </a:solidFill>
                          <a:latin typeface="Consolas" pitchFamily="49" charset="0"/>
                        </a:rPr>
                        <a:t>&gt;&gt;</a:t>
                      </a:r>
                      <a:r>
                        <a:rPr lang="fr-FR" b="0" baseline="0" dirty="0" smtClean="0">
                          <a:solidFill>
                            <a:schemeClr val="tx1"/>
                          </a:solidFill>
                          <a:latin typeface="Consolas" pitchFamily="49" charset="0"/>
                        </a:rPr>
                        <a:t> C=log(4);</a:t>
                      </a:r>
                    </a:p>
                    <a:p>
                      <a:r>
                        <a:rPr lang="fr-FR" b="1" baseline="0" dirty="0" smtClean="0">
                          <a:solidFill>
                            <a:schemeClr val="tx1"/>
                          </a:solidFill>
                          <a:latin typeface="Consolas" pitchFamily="49" charset="0"/>
                        </a:rPr>
                        <a:t>&gt;&gt;</a:t>
                      </a:r>
                      <a:r>
                        <a:rPr lang="fr-FR" b="0" baseline="0" dirty="0" smtClean="0">
                          <a:solidFill>
                            <a:schemeClr val="tx1"/>
                          </a:solidFill>
                          <a:latin typeface="Consolas" pitchFamily="49" charset="0"/>
                        </a:rPr>
                        <a:t> A-B+C</a:t>
                      </a:r>
                    </a:p>
                    <a:p>
                      <a:r>
                        <a:rPr lang="fr-FR" b="0" baseline="0" dirty="0" smtClean="0">
                          <a:solidFill>
                            <a:schemeClr val="tx1"/>
                          </a:solidFill>
                          <a:latin typeface="Consolas" pitchFamily="49" charset="0"/>
                        </a:rPr>
                        <a:t>ans = 1.2390</a:t>
                      </a:r>
                      <a:endParaRPr lang="fr-FR" b="0" dirty="0">
                        <a:solidFill>
                          <a:schemeClr val="tx1"/>
                        </a:solidFill>
                        <a:latin typeface="Consolas"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8" name="Ellipse 7"/>
          <p:cNvSpPr/>
          <p:nvPr/>
        </p:nvSpPr>
        <p:spPr>
          <a:xfrm>
            <a:off x="3143240" y="1571612"/>
            <a:ext cx="1000132" cy="114300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p:cNvSpPr/>
          <p:nvPr/>
        </p:nvSpPr>
        <p:spPr>
          <a:xfrm>
            <a:off x="4368975" y="1357298"/>
            <a:ext cx="1214446" cy="135732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p:cNvSpPr/>
          <p:nvPr/>
        </p:nvSpPr>
        <p:spPr>
          <a:xfrm>
            <a:off x="5715008" y="1643050"/>
            <a:ext cx="857256" cy="85725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3428992" y="2714620"/>
            <a:ext cx="407484" cy="461665"/>
          </a:xfrm>
          <a:prstGeom prst="rect">
            <a:avLst/>
          </a:prstGeom>
          <a:noFill/>
        </p:spPr>
        <p:txBody>
          <a:bodyPr wrap="none" rtlCol="0">
            <a:spAutoFit/>
          </a:bodyPr>
          <a:lstStyle/>
          <a:p>
            <a:r>
              <a:rPr lang="fr-FR" sz="2400" b="1" dirty="0" smtClean="0">
                <a:solidFill>
                  <a:srgbClr val="FF0000"/>
                </a:solidFill>
              </a:rPr>
              <a:t>A</a:t>
            </a:r>
            <a:endParaRPr lang="fr-FR" b="1" dirty="0">
              <a:solidFill>
                <a:srgbClr val="FF0000"/>
              </a:solidFill>
            </a:endParaRPr>
          </a:p>
        </p:txBody>
      </p:sp>
      <p:sp>
        <p:nvSpPr>
          <p:cNvPr id="13" name="ZoneTexte 12"/>
          <p:cNvSpPr txBox="1"/>
          <p:nvPr/>
        </p:nvSpPr>
        <p:spPr>
          <a:xfrm>
            <a:off x="4786314" y="2714620"/>
            <a:ext cx="407484" cy="461665"/>
          </a:xfrm>
          <a:prstGeom prst="rect">
            <a:avLst/>
          </a:prstGeom>
          <a:noFill/>
        </p:spPr>
        <p:txBody>
          <a:bodyPr wrap="none" rtlCol="0">
            <a:spAutoFit/>
          </a:bodyPr>
          <a:lstStyle/>
          <a:p>
            <a:r>
              <a:rPr lang="fr-FR" sz="2400" b="1" dirty="0" smtClean="0">
                <a:solidFill>
                  <a:srgbClr val="FF0000"/>
                </a:solidFill>
              </a:rPr>
              <a:t>B</a:t>
            </a:r>
            <a:endParaRPr lang="fr-FR" b="1" dirty="0">
              <a:solidFill>
                <a:srgbClr val="FF0000"/>
              </a:solidFill>
            </a:endParaRPr>
          </a:p>
        </p:txBody>
      </p:sp>
      <p:sp>
        <p:nvSpPr>
          <p:cNvPr id="14" name="ZoneTexte 13"/>
          <p:cNvSpPr txBox="1"/>
          <p:nvPr/>
        </p:nvSpPr>
        <p:spPr>
          <a:xfrm>
            <a:off x="5929322" y="2714620"/>
            <a:ext cx="407484" cy="461665"/>
          </a:xfrm>
          <a:prstGeom prst="rect">
            <a:avLst/>
          </a:prstGeom>
          <a:noFill/>
        </p:spPr>
        <p:txBody>
          <a:bodyPr wrap="none" rtlCol="0">
            <a:spAutoFit/>
          </a:bodyPr>
          <a:lstStyle/>
          <a:p>
            <a:r>
              <a:rPr lang="fr-FR" sz="2400" b="1" dirty="0" smtClean="0">
                <a:solidFill>
                  <a:srgbClr val="FF0000"/>
                </a:solidFill>
              </a:rPr>
              <a:t>C</a:t>
            </a:r>
            <a:endParaRPr lang="fr-FR" b="1" dirty="0">
              <a:solidFill>
                <a:srgbClr val="FF0000"/>
              </a:solidFill>
            </a:endParaRPr>
          </a:p>
        </p:txBody>
      </p:sp>
      <p:sp>
        <p:nvSpPr>
          <p:cNvPr id="15" name="ZoneTexte 14"/>
          <p:cNvSpPr txBox="1"/>
          <p:nvPr/>
        </p:nvSpPr>
        <p:spPr>
          <a:xfrm>
            <a:off x="8501090" y="6286520"/>
            <a:ext cx="441146" cy="369332"/>
          </a:xfrm>
          <a:prstGeom prst="rect">
            <a:avLst/>
          </a:prstGeom>
          <a:noFill/>
        </p:spPr>
        <p:txBody>
          <a:bodyPr wrap="none" rtlCol="0">
            <a:spAutoFit/>
          </a:bodyPr>
          <a:lstStyle/>
          <a:p>
            <a:r>
              <a:rPr lang="fr-FR" dirty="0" smtClean="0"/>
              <a:t>43</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AutoShape 4" descr="data:image/jpeg;base64,/9j/4AAQSkZJRgABAQAAAQABAAD/2wCEAAkGBxIQBhUUExMWFhUVGBcYGRgYGRwYGRodGRgZGRcXGhgcHCkgHBomHR4YIT0hJSkrLi4uGB8zODMsNygtLisBCgoKDg0OGxAQGywkICQsLCwwLCwsNS43LC4tNzYsKywtLCwsLDQtLCwsLC8sLyssLCwsLSwsLi0sMCwsLCwsLP/AABEIAKsBJwMBIgACEQEDEQH/xAAcAAEAAgMBAQEAAAAAAAAAAAAABgcEBQgDAgH/xABIEAABAwIDBQILBQUGBQUAAAABAAIDBBEFEiEGBzFBURNhFyI3UnFzgZGTs9MIFDLC0TZydKGxFRYjQrLBJ2Kj8PEzkqLS4f/EABkBAQEBAQEBAAAAAAAAAAAAAAABAgMEBf/EACwRAAICAQQBAQcEAwAAAAAAAAABAhEDBBIhMUFRBRMUIjJhcZGhwdEkgbH/2gAMAwEAAhEDEQA/ALxREQBERAEREAREQBERAEREAREQBERAEREAREQBERAEREAREQBERAEREAREQBERAEREAREQBERAEREAREQBERAEREAREQFH7cb2q+i2sqKeJlOWRODWlzHl2rWnUiQDn0Wj8OOJ+ZS/Df8AVUe3r+UWs9Y35bFE1aMNss3w44n5lL8N/wBVPDjifmUvw3/VVZIrRLZZvhxxPzKX4b/qp4ccT8yl+G/6qrJEoWyzfDjifmUvw3/VTw44n5lL8N/1VWSJQtlm+HHE/Mpfhv8Aqp4ccT8yl+G/6qrJfT4y3iCPSLJwXnssvw44n5lL8N/1U8OOJ+ZS/Df9VVkpBgdJG6iuWhxJIN9bdyxOSgrZ69FpZ6rJ7uLS4vklvhxxPzKX4b/qp4ccT8yl+G/6qrvEo2trXBvAH3dQsZaVNWefJGWObg/Dr9CzfDjifmUvw3/VTw44n5lL8N/1VWSK0c7ZZvhxxPzKX4b/AKqeHHE/Mpfhv+qqyRKFss3w44n5lL8N/wBVPDjifmUvw3/VVZIlC2Wb4ccT8yl+G/6qeHHE/Mpfhv8AqqskShbLn2K3t4hWbV09PKynDJX5XFrHh1spOhMhHLoryXJ+63yh0XrfyOXWCjNoIiKFCIiAIiIAiIgCIiAIiIAiIgOUt6/lFrPWN+WxRNSzev5Raz1jflsUTWkc32EREIEREARS3DI2igblAsQL9553UbxFrRXPDeAP/n+a5Qy7pNUfT1ns16bDDK5J7vH7/wCz7wl7RXtLuHfwvyW5x6Rn3AgkXJGX36n3XUba0lwA4nQLcSbPPEFw4F1vw2/kCpkUdyk2dtDmzvTZMOLHuT7fpf8A37GmWbQ0cz2Ex3A4XzZb93HVYSkGD4tGyjDXnKW35E358lrK5KPyqzyez8WHJmrLPaq7uufyaGVhbIQ4WI4grYYDTskrbPF7AkDqsfFKoS1rnAWGgHs5r9w6glmk/wAJpJbzva3TVV8w54M4tsNSti3pPheqNjtHSRsa0tAaSSLDmOtv++K0ayK+KRlSWy3zDqb6crHosvZ7DW1FflcSGhpcbcTqBb+akfkhy7N6j/J1TWOG1t1X9msRb/abBWU7GujJs42IJvra9wVoFqMlJWjzajBPBN459oIiLRxCIiAlO63yh0XrfyOXWC5P3W+UOi9b+Ry6wUZuPQREUNBERAEREAREQBERAEREAREQHKW9fyi1nrG/LYompZvX8otZ6xvy2KJrSOb7CzMNoDNIdbAcT/sFhrOwqv7GQ3F2njbjoszvb8vZ6NGsLzR999Pk+8TwswsDgbt4HqFrlt8SxHt48kbXW4nTXu0C1JFipjctvzdnX2hHAsz+H+n9r81Zl4dFLJJkY4gcTqQAvTEcJfCzNcObwuOXpCYNXiGoJcPFcLG3EdCszGsWZJTZGXNyCSRbhyHesNzU6S4PRix6WWjcpy+dXSv9KXo/JpY3lsgI4gg+5b6TaIdhow57ewHqo+p9hWDQDDmXja8uaCXEAk3F9Dy9iZtipyRfZXxMnOGGSjxzf8EBUowLZyOWgEkhd417AG1hwv6VosWp2xYk9jfwtNh+ns4LLwvHpoIMjQ1zRcgEE29x4LU90o/KefSPDhztahWla9eTGxih+717mXuBYg87HhfvW12WxeOCJzJDlucwda44WIK0dXUulqC95uXf92HcppsxsRFUYQ2WZ7wX3LQwgWF7Am7Tc80mlsqRrSyn8S56detJ+hHNpsSZUVoLPwtFrnS+t/csPDTM2fPC15LeOVpdp32HBfeOYcaXFpISc2QjXqC0OHtsQrB3fYlTtwAMzsY9pcXhxDSddHa8Rawv3I6jDgQjPPqW8ktsv5XoV5iOJSzvHaHhwAFgOunVZuBbM1FZG50YaGtNszyQCegsCSV8bV1EUu0Er4bZC7iOBNvGcO4m+vPitxsfteyjonRSsc5uYuaWWvc2uCCRppxVdqPyo5wUJ537+Vrnn1I1iNDJT1jo5BZzePTXUEHmFjLZ7R4t98xZ0uXKCAGjmABpc9eK1YK2uuTy5FFTah14P1ERDBKd1vlDovW/kcusFyfut8odF638jl1gozcegiIoaCIiAIiIAiIgCIiAIiIAiIgOVd6MRfvKq2jiZGj/AKbFrnYAOy0ec3o0Wx3nylm8yrcOIkaf+mxYT8eZ2NwDm6f/AKuWT3nG0+p7NjonGfxPf39PtXkjzm2dY8QvxbJmETPjz2GutibE314fqtc5pDiDoRoV2Uk+j5mXBkx05RaT6tEq2cDf7OFrXuc3W99L+yy1u04b97ba2a3jf7XWpimcw3a4j0GylEOyRdT3fKRIdeFwO463K4OKhPe2fZjqJ6zSLTY8fMat36fy/wCyKKwKXAadtGGmMOuBdx4k21N+SglXTmKpcx3FpsVtsLxSse0Qw3ebaWaC4Ad/TvK3ljKSW1nj9n5sWCclmhb66v8AKo1uJU4ir3sBuGuIC2OCPrpIiynD3BvGwHi37zw9C1+I0M0M9pmOY46+Nz6m/NT/AHc4rA3BzE57WSNc5xzENzA8CCePT2d6s/p9TnpY7tQ1bh39n+Cu6uB8dS5sjS14PjB3G/HVWpu9ji/u40xgFxJ7TrmvwPssodvCxGKfGW9kQ7IzK5w4E3JsDzsvHZvZSvq6Z0lM0hmrcxf2YcRxaNfG/p3o1uj6FwzWn1D2rd4PLbZkTdpJBFa2lw3gHW8b+a9MD2ynpKLsmhj2i+XNe7b620OovyWkr6OSCpfHI0skYbOaeIP+/pXQ+E4VRf3aYxkcbqd0YNyBZwIuXOPXne6rSqmZwuc8spwe1nPk80tViWY+PLK4DTmTZrQP5BTPFN1tTBgzpu1je5jS90YBvYC7sruZA7hdQszCLE88LtI5M0bjxs192E+4FWFi29czYI6NlPklkaWOdnBa3MLFzRa5NuR4d61z4OOP3b3PI+SBYFRtqMahic7K2SRjC7oHOANu9WztpsJQxbKyvijET4WF7Xgm5y/5XXOt+HpKqjBcDqauUtpoZJSwAnIPw9LngD7b6LJxvGq97DT1UstozYxv0II4ZtLn236o0Mc4xi1JXZi4AyF2OQic2hMjc/S1+fd17rq5d5VDRt2NeXMjaWgdiWgA5tMobbkR7LKBbKbsazEcH+8MdHGx1+zzk3flJBOg8VtwRc9OCiGI0ckFc+GUFr4nFjmk3sRxA7vQjQhk2Qaa7MdFYuz+6Kqq9n21HbRxmRueONwJLmkXYS4aNv6DxVfVMDo6lzHizmOc1w6FpII94KpwcWiS7rfKHRet/I5dYLk/db5Q6L1v5HLrBRmo9BERQ0EREARa3HMepqGk7SpmZE3lmOrj0a3i49wUIm324U2aw+8OHnNi0/8Ak4H+SAslFFMC3jYZWSBsdS0PNgGSXjcSeQzWufRdStAEREARF41tQIqN8h4Ma5xtxs0En+iFSt0j2RUXPvHxB1bnbI1jb3EYY0tt0JIzH03CuLZzE/veBxT2ymRgJHQ8CB3XuucMik6R7tX7OzaWKlOqfocyb1/KLWesb8tiijTZwUr3r+UWs9Y35bFE12PmPsm0VdG6HMHtt3kC3pUSxKYSV73N4E6ezS6xkXLHhUHZ9PXe1J6uEYSSVc/lhTCn2uj+7eOx2cDlaxPW99FD0Wp41Ps8um1mXTtvG+z3raky1bnni439HQKY7sq+GOaVjyGvflLSTa4F7tB687KDoq4pqjGHUSx5fe9v+ywd51fC6lija5rpA/MbG+VuUggkcLkjTuUb2R2XlxKvMbHBjWDM97tQ0HQADmSf6FaIBSfYLaz+zMRe5zC+OVoDw38Qy3LS2+h4nQ9UUdqpG8mZZ82+fCP3bPYqXDQxxeJI3mwcBls7jlIvzHPuKmW77bujg2cZBO/snxZh+FxDxckEFoPja2t3KN7wduW4jAyKKNzI2uzkvtmc61hoCQALnmthsJurfiOC/eJJ+xY/MIwG5ibG2Z1yLNvfh0V7XI3qGR+66IxttjLa/aZ8sbSGnKxgt4zg0WBt1PT0L0xLZjFKTBM80M0dObXGbxRfhnYHaXNuI4pPQvwbbhjZ2iT7tLHIbcHsBDgQD1HI8/erd213k4dJshM2KUSyTxuY2MNNwXC13gjxQOPsQ5fU22+Su90Gy1PiOPSCp8ZkLA7s7kZyTbUg3yjoOoW13z7G0lBDBLTN7PtHOY6MEkGzbh4zEkdD6Qq9wWsqaes7amdI2SMaujBNgeObQjKeh00WVV4jWYrjMTZZXTSyObFHmIDQXuAAAaAGi5FyAqZtbaosfcptfRUmDy09RK2F5lMgc/RrmljG2zcLgtOnfpzUP3q49BX7Xulp9WNYyPPa2ctzXeOdtQ2/RqkG1u5yah2cdUsqGymJuaVmQt8UfiLDc3t0NtPctduY2bpsQ2me2pAe2OPO2MmwecwGvMgXvbvChW3VG02G3ssoNnG001O+QxXEbmFouC4uAcDwte1xfRV3j+LOrMalqHgNdK8uIHAdAOthYXVj789kqOhdTyUzGxGUva6NvAhoaQ8Dla9j1zN9u5+zzQ0j8PqHubG6pElvGALmxFrcuUHgC7PcjoOiEbb4I/s5vilpNnGU7qZsj4mBkb8+UZWizM7cpvYW4HW3Liq1rKp0tY+R5u+RznuPVziXOPvJUy3yUtLFt1I2lDA3IwyNZbK2Q5swAGgNspI6kqzNzOy+HTbEtlfBDPLI54lMjWvLSHECOzgcoy5Tbne/MIHb4Kl3W+UOi9b+Ry6wXNeC0UEG/FkVOQYWVJDLHMB/hnM0HoHXHsXSiMqCIihQvx7rMJPAar9XlVxZ6V7fOa4e8WQHJG2e0UuJ7RyTPJcC4tibr4rM3iNaOp0PeSVYmF7h5n0AdNVtjkcAcjY84aTyLi4Zj6APaqklikp64tPiyQvLT/yuY6x9xC6L2I3uUdZCyOpcKeo0BDv/AE3nq1/AX811jy1VMorit3LYhHi0cYLJIXvDXSsNsjb6ucx2oNr8L6810VSwCOmaxt8rGhoubmwFhc816A3Gi/VCpBFXO9beT/ZYEEAa+pe3N42rY2m4DiP8ziQbN9p5Xpf+82NV07nMqKyQjUiAvAbz/DFYBWhZ1cvmSMOjLXC4IIIPAg6ELnndrt3ix2rhpHSOna9+V7Jh47ALl7s5GYFoBNje9rKe768frqKkpjRvewvdIHlrA/g1uUG7TbiVAn5Pmo3SNNddlSWxX/CWXeB0Dr29pHvViYbQsp6BkUYsyNoa30Dqeq5hfvOxlr7GreCOIMbAfcWLofYCvkqdjKWaZ2eSSMOc6wFzrrYCyzHHGPR6s+tzahKOSV0c5b1/KLWesb8tiialm9fyi1nrG/LYp9uS2LoKzZ99RUwCWQTOYM5cWhoa3TJfKeJ1IJXQ8dWylUVjb9cNhptrImQRMiZ93YcrGhovnkF7Dnbmq5QjCIiECIiAIr73QbDYfUbHRVM9M2WV5luXkuHiyva0BhOUaAclXG+Kjjh3gzsiY2NgbDZrAGtH+E29gNEs1XBC1Ymw29OTDcG+7vg7ZjSTGc2Utublp0Nxe/vVdohE2uiSyGrx/bI5WtM050GoZGxo5nUhrQOPM+myy9tt3NZhNKySUxyRuOXPGXeK61wHBwFr2Oq1mxO0r8L2iZUtYH5Q5rmE2zNdxANjY8DfuUt3l70RiuFNp4oXRR5g95eQXOLfwtAGgF9b310QvHksHclidE3YRrRJEyVpkM4cWtdcvcWudfi3JlAPCwtyKpXabEYo9u5p6KzWMqO0hIHi3aQczR5pcCQOhUdIX6lCyydqd8NVXbPOpuwji7RuWR7XFxcP8wa0jxQe8nTTvVe0NbLBVCSGR8cjeD2OLXDrqF4IhLMzFMVnqqjPUTSSvtYOe4uIHQX4DuCxopXMfdrnNPVpIPvC+EQAnVZNJiE0LXCKWSMO/EGPcwO9OUi/tWMiEJTus8oVF638jl1guT91vlDovW/kcusFGbj0ERFDQREQFfbwN1lPicxmjd2FSeLwLsfbhnbca8sw19KorarYeuw1xNRCezvYSs8aM9NR+H0OAXWoIK+ZoWvhLXtDmuBBaRcEHiCDxCtkaOZN2+8afDKxscrnPpCbOYdTGCfxx8xbjl4H0rpyN4dGHA3BAIPUHgVx9tdRRQbUVMUJvFHNI1vOwB/Dfu1HsXUe78uOwtFn4mnh/wBAtfvtZGRHL+2uJOqdrKqZxvmmkA7mtcWsHsaAF03u4whlJsVSsa0AuiZI/qXyNDnE+029gXK+PQlmNVDDxbNK0+kPcF1tshVCbZSlkabh0ER9uQXHsNwjC7MwYbD/AGl2/ZM7bLk7TKM+W4OXNxtcD3LLRFDRyxvh8pNZ+9F8iNX9ut8ntF6lv9SqA3weUms/ei+RGr/3W+T2i9S3+pVZF2c971/KLWesb8tit37PX7Ev/iH/AOliqLev5Raz1jflsVu/Z6/Yl/8AEP8A9LE8EXZBvtDftpF/Dt+ZIqvVofaG/bSL+Hb8yRVeqjL7Nxguy1bWsvT00sjfODbN/wDe6zT71uzuqxkR3+5n0drDf3dpdWDshvdoqTYiCObtHTxN7MxxsPBpIY7MbN1bbnxutvsxvlp63Ho6c08kXauyseXNcL20DgOFzppfkpZqkc/4phc9LVmOeJ8TxrleLG3UciO8LEXTO+7BWVGw0khA7SntIx3MC4Dx6C0n2gdFzMqjLVHT25HybU/70/z5FWW9DZmsr95lSKWnfLlbBciwaP8ACboXOIaD3XVm7kfJtT/vT/PkX5t5vOp8JxAQmJ8srmh5DbNDQdAS48SbHQdFDfgofGtgcTo6UyT0j2sbqXNLJAB1ORxsO8qNLrzZDaeDFcE7aEHKSWPY62Zrhxa4C44EHvBC503s7OMw7bOSOIZYpGiaNvJocSHNHcHNdboLBWzLRDkREMhERAEREAREQBERASndb5Q6L1v5HLrBcn7rfKHRet/I5dYKM3HoIiKGgvOdzhA4tGZwBIHC5toL969EQHJk+LYrh2MySOdUUsskj3vBDmsc5ziXHK67Hi/PW+i2dRvcxZ9EWfeGtuLZ2xtD/Y7gD3gLpuop2SR5Xsa9p5OAcPcVqBsdh3a5vuNLfr2Ef/1VJRzdsHsPUYtiYs1zYL3lmINrX8YNcfxPOo524ldUwQtZA1jRZrQGgDkALAL6jjDWANAAHAAWA9i+lAlRQG+rYKaPGH11PGXwy+NKGAksf/meWgfgdob9b34hRPZPeVX4bQdjC+N8VyQyVpcG345SHAgX1twuuq1p6vZWglnzyUVM9x1LnQsJPpJbqrYopzdhtviVdvCa6Vz5YpGOY9rAeyiFi5r7DxW+MALnU5uegV9rwpKSOGHLFGyNo4NY0NHuAsvdQpyvvhP/ABJrP3ovkRq/91vk9ovUt/qVtazZuimqTJLSU8j3Wu98LHONhYXcW3Omiz6WmZFTtZGxrGNFmtaA1rR0DRoAhEjlfev5Raz1jflsVu/Z6/Yl/wDEP/0sVRb1/KLWesb8titv7PEl9jZR5tQ8e9jD/ur4IuyEfaG/bSL+Hb8yRVeTorl36bN1lTtVFJBTySsFOAXMbcAte8kE8jYg+1VdspG1+09K1/4XTwg34WMjVUR9llbFblH1FC2atlfCHgFsUdu0AIuC9zgQ0/8ALY259BPcJ3W4TSV8b2h5ljc1zS+Y3zA3HiggH3KT7XSTt2XqTTX7cRPMdtTmym2Uc3dO+y5l3fwT1O31M60kr2zMfI43cQGm7nPceFu9Q10dE7z/ACfVvqXrk5dZbzh/w/rfUPXJqIkjp7cj5Nqf96f58iqff55QD6iL+r1bG5HybU/70/z5FV2/qilO3YcI3lr4Yw0hpIcQXXAIGp7kK+iRfZtlPZVreV4T7SJAf6D3LX/aPYP7bpHczFID6A8W/qVM9x2y8tDs2+SdhZJUuDsjtHNY0WYHDkTdxt3hVtv8xQTbbiNpuKeJrD+84l7v5FieSeCtkRFTAREQBERAEREAREQEp3W+UOi9b+Ry6wXJ+63yh0XrfyOXWCjNx6CIihoIiIAiIgCIiAIiIAiIgCIiAg+ObqsOrMWkqJRL2kpu7LIQL2A0FugC3GyOyFNhcEjKbtMshDiHuzagWuNNLi3uCkCID8IuLKvRuawsT5wJmkHMMspFje4tppYqw0QH40Wb1XyyJocSAATxsLX9PVfaIDwrqRk1E+KQXZI1zHDqHAgj3FV/4FcK82f4p/RWOiA12z2Cw0GEMp4ARHHe1zc+M4uJJ5m5K2NkRADwVfVe57DZap0knbue9xc5xlNySbknTqrBRAVz4FcK82f4p/RPArhXmz/FP6KxkQUVz4FcK82f4p/RPArhXmz/ABT+isZEFFc+BXCvNn+Kf0TwK4V5s/xT+isZEFFc+BXCvNn+Kf0TwK4V5s/xT+isZEFFc+BXCvNn+Kf0TwK4V5s/xT+isZEFEGwTdTh1HisdREJe0iOZuaQkXsRqLd6nKIgCIiAIiIAiIgCIiAIiIAiIgCIiAIiIAiIgCIiAIiIAiIgCIiAIiIAiIgCIiAIiIAiIgCIiAIiID//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dirty="0"/>
          </a:p>
        </p:txBody>
      </p:sp>
      <p:sp>
        <p:nvSpPr>
          <p:cNvPr id="12" name="ZoneTexte 11"/>
          <p:cNvSpPr txBox="1"/>
          <p:nvPr/>
        </p:nvSpPr>
        <p:spPr>
          <a:xfrm>
            <a:off x="214282" y="285728"/>
            <a:ext cx="8572560" cy="4524315"/>
          </a:xfrm>
          <a:prstGeom prst="rect">
            <a:avLst/>
          </a:prstGeom>
          <a:noFill/>
        </p:spPr>
        <p:txBody>
          <a:bodyPr wrap="square" rtlCol="0">
            <a:spAutoFit/>
          </a:bodyPr>
          <a:lstStyle/>
          <a:p>
            <a:pPr marL="342900" indent="-342900"/>
            <a:r>
              <a:rPr lang="fr-FR" b="1" dirty="0" smtClean="0"/>
              <a:t>Exercices</a:t>
            </a:r>
          </a:p>
          <a:p>
            <a:pPr marL="342900" indent="-342900"/>
            <a:endParaRPr lang="fr-FR" dirty="0" smtClean="0"/>
          </a:p>
          <a:p>
            <a:pPr marL="342900" indent="-342900"/>
            <a:r>
              <a:rPr lang="fr-FR" dirty="0" smtClean="0"/>
              <a:t>2. Soit la fonction à deux variables suivantes</a:t>
            </a:r>
          </a:p>
          <a:p>
            <a:pPr marL="342900" indent="-342900"/>
            <a:endParaRPr lang="fr-FR" dirty="0" smtClean="0"/>
          </a:p>
          <a:p>
            <a:pPr marL="342900" indent="-342900"/>
            <a:endParaRPr lang="fr-FR" dirty="0" smtClean="0"/>
          </a:p>
          <a:p>
            <a:pPr marL="342900" indent="-342900"/>
            <a:endParaRPr lang="fr-FR" dirty="0" smtClean="0"/>
          </a:p>
          <a:p>
            <a:pPr marL="342900" indent="-342900"/>
            <a:endParaRPr lang="fr-FR" dirty="0" smtClean="0"/>
          </a:p>
          <a:p>
            <a:pPr marL="342900" indent="-342900"/>
            <a:r>
              <a:rPr lang="fr-FR" dirty="0" smtClean="0"/>
              <a:t>Calculer f(-2,-3) , f(-5,2.25) , f(0.25 , 3.05)</a:t>
            </a:r>
          </a:p>
          <a:p>
            <a:pPr marL="342900" indent="-342900"/>
            <a:endParaRPr lang="fr-FR" dirty="0" smtClean="0"/>
          </a:p>
          <a:p>
            <a:pPr marL="342900" indent="-342900"/>
            <a:r>
              <a:rPr lang="fr-FR" b="1" dirty="0" smtClean="0"/>
              <a:t>Solution :</a:t>
            </a:r>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b="1" dirty="0" smtClean="0"/>
          </a:p>
          <a:p>
            <a:pPr marL="342900" indent="-342900"/>
            <a:endParaRPr lang="fr-FR" dirty="0" smtClean="0"/>
          </a:p>
          <a:p>
            <a:pPr marL="342900" indent="-342900"/>
            <a:endParaRPr lang="fr-FR" dirty="0" smtClean="0"/>
          </a:p>
        </p:txBody>
      </p:sp>
      <p:graphicFrame>
        <p:nvGraphicFramePr>
          <p:cNvPr id="100355" name="Object 3"/>
          <p:cNvGraphicFramePr>
            <a:graphicFrameLocks noChangeAspect="1"/>
          </p:cNvGraphicFramePr>
          <p:nvPr/>
        </p:nvGraphicFramePr>
        <p:xfrm>
          <a:off x="3143240" y="1214422"/>
          <a:ext cx="2547937" cy="1033462"/>
        </p:xfrm>
        <a:graphic>
          <a:graphicData uri="http://schemas.openxmlformats.org/presentationml/2006/ole">
            <p:oleObj spid="_x0000_s6146" name="Équation" r:id="rId4" imgW="1282700" imgH="520700" progId="">
              <p:embed/>
            </p:oleObj>
          </a:graphicData>
        </a:graphic>
      </p:graphicFrame>
      <p:sp>
        <p:nvSpPr>
          <p:cNvPr id="7" name="ZoneTexte 6"/>
          <p:cNvSpPr txBox="1"/>
          <p:nvPr/>
        </p:nvSpPr>
        <p:spPr>
          <a:xfrm>
            <a:off x="357158" y="6072206"/>
            <a:ext cx="8358246" cy="646331"/>
          </a:xfrm>
          <a:prstGeom prst="rect">
            <a:avLst/>
          </a:prstGeom>
          <a:noFill/>
        </p:spPr>
        <p:txBody>
          <a:bodyPr wrap="square" rtlCol="0">
            <a:spAutoFit/>
          </a:bodyPr>
          <a:lstStyle/>
          <a:p>
            <a:pPr algn="ctr"/>
            <a:r>
              <a:rPr lang="fr-FR" b="1" dirty="0" err="1" smtClean="0"/>
              <a:t>Rq:Utiliser</a:t>
            </a:r>
            <a:r>
              <a:rPr lang="fr-FR" b="1" dirty="0" smtClean="0"/>
              <a:t> l’historique (flèches Haut et Bas) pour ne pas répéter l’écriture de la fonction</a:t>
            </a:r>
            <a:endParaRPr lang="fr-FR" b="1" dirty="0"/>
          </a:p>
        </p:txBody>
      </p:sp>
      <p:sp>
        <p:nvSpPr>
          <p:cNvPr id="8" name="ZoneTexte 7"/>
          <p:cNvSpPr txBox="1"/>
          <p:nvPr/>
        </p:nvSpPr>
        <p:spPr>
          <a:xfrm>
            <a:off x="8501090" y="6345816"/>
            <a:ext cx="441146" cy="369332"/>
          </a:xfrm>
          <a:prstGeom prst="rect">
            <a:avLst/>
          </a:prstGeom>
          <a:noFill/>
        </p:spPr>
        <p:txBody>
          <a:bodyPr wrap="none" rtlCol="0">
            <a:spAutoFit/>
          </a:bodyPr>
          <a:lstStyle/>
          <a:p>
            <a:r>
              <a:rPr lang="fr-FR" dirty="0" smtClean="0"/>
              <a:t>44</a:t>
            </a:r>
            <a:endParaRPr lang="fr-FR" dirty="0"/>
          </a:p>
        </p:txBody>
      </p:sp>
      <p:pic>
        <p:nvPicPr>
          <p:cNvPr id="9" name="Picture 2"/>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88938" y="3068960"/>
            <a:ext cx="8364537" cy="28717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space réservé du numéro de diapositive 3"/>
          <p:cNvSpPr>
            <a:spLocks noGrp="1"/>
          </p:cNvSpPr>
          <p:nvPr>
            <p:ph type="sldNum" sz="quarter" idx="12"/>
          </p:nvPr>
        </p:nvSpPr>
        <p:spPr/>
        <p:txBody>
          <a:bodyPr/>
          <a:lstStyle/>
          <a:p>
            <a:fld id="{62D7D1BB-719C-4A27-B094-8818E8042741}" type="slidenum">
              <a:rPr lang="fr-CA"/>
              <a:pPr/>
              <a:t>62</a:t>
            </a:fld>
            <a:endParaRPr lang="fr-CA"/>
          </a:p>
        </p:txBody>
      </p:sp>
      <p:sp>
        <p:nvSpPr>
          <p:cNvPr id="13314" name="Text Box 2"/>
          <p:cNvSpPr txBox="1">
            <a:spLocks noChangeArrowheads="1"/>
          </p:cNvSpPr>
          <p:nvPr/>
        </p:nvSpPr>
        <p:spPr bwMode="auto">
          <a:xfrm>
            <a:off x="500034" y="142852"/>
            <a:ext cx="7324441" cy="584775"/>
          </a:xfrm>
          <a:prstGeom prst="rect">
            <a:avLst/>
          </a:prstGeom>
          <a:noFill/>
          <a:ln w="9525">
            <a:noFill/>
            <a:miter lim="800000"/>
            <a:headEnd/>
            <a:tailEnd/>
          </a:ln>
          <a:effectLst/>
        </p:spPr>
        <p:txBody>
          <a:bodyPr wrap="none">
            <a:spAutoFit/>
          </a:bodyPr>
          <a:lstStyle/>
          <a:p>
            <a:r>
              <a:rPr lang="fr-CA" sz="3200" dirty="0">
                <a:latin typeface="+mn-lt"/>
                <a:cs typeface="Arial" pitchFamily="34" charset="0"/>
              </a:rPr>
              <a:t>Commandes pour la gestion d’une session :</a:t>
            </a:r>
          </a:p>
        </p:txBody>
      </p:sp>
      <p:sp>
        <p:nvSpPr>
          <p:cNvPr id="13315" name="Text Box 3"/>
          <p:cNvSpPr txBox="1">
            <a:spLocks noChangeArrowheads="1"/>
          </p:cNvSpPr>
          <p:nvPr/>
        </p:nvSpPr>
        <p:spPr bwMode="auto">
          <a:xfrm>
            <a:off x="533400" y="1066800"/>
            <a:ext cx="7267575" cy="457200"/>
          </a:xfrm>
          <a:prstGeom prst="rect">
            <a:avLst/>
          </a:prstGeom>
          <a:noFill/>
          <a:ln w="9525">
            <a:noFill/>
            <a:miter lim="800000"/>
            <a:headEnd/>
            <a:tailEnd/>
          </a:ln>
          <a:effectLst/>
        </p:spPr>
        <p:txBody>
          <a:bodyPr wrap="none">
            <a:spAutoFit/>
          </a:bodyPr>
          <a:lstStyle/>
          <a:p>
            <a:r>
              <a:rPr lang="fr-CA" dirty="0" err="1">
                <a:solidFill>
                  <a:srgbClr val="FF3300"/>
                </a:solidFill>
                <a:latin typeface="Arial" pitchFamily="34" charset="0"/>
                <a:cs typeface="Arial" pitchFamily="34" charset="0"/>
              </a:rPr>
              <a:t>clc</a:t>
            </a:r>
            <a:r>
              <a:rPr lang="fr-CA" dirty="0">
                <a:latin typeface="Arial" pitchFamily="34" charset="0"/>
                <a:cs typeface="Arial" pitchFamily="34" charset="0"/>
              </a:rPr>
              <a:t>			nettoie la fenêtre dite Command</a:t>
            </a:r>
          </a:p>
        </p:txBody>
      </p:sp>
      <p:sp>
        <p:nvSpPr>
          <p:cNvPr id="13316" name="Text Box 4"/>
          <p:cNvSpPr txBox="1">
            <a:spLocks noChangeArrowheads="1"/>
          </p:cNvSpPr>
          <p:nvPr/>
        </p:nvSpPr>
        <p:spPr bwMode="auto">
          <a:xfrm>
            <a:off x="533400" y="1685916"/>
            <a:ext cx="7626350" cy="457200"/>
          </a:xfrm>
          <a:prstGeom prst="rect">
            <a:avLst/>
          </a:prstGeom>
          <a:noFill/>
          <a:ln w="9525">
            <a:noFill/>
            <a:miter lim="800000"/>
            <a:headEnd/>
            <a:tailEnd/>
          </a:ln>
          <a:effectLst/>
        </p:spPr>
        <p:txBody>
          <a:bodyPr wrap="none">
            <a:spAutoFit/>
          </a:bodyPr>
          <a:lstStyle/>
          <a:p>
            <a:r>
              <a:rPr lang="fr-CA" dirty="0" err="1">
                <a:solidFill>
                  <a:srgbClr val="FF3300"/>
                </a:solidFill>
                <a:latin typeface="Arial" pitchFamily="34" charset="0"/>
                <a:cs typeface="Arial" pitchFamily="34" charset="0"/>
              </a:rPr>
              <a:t>clear</a:t>
            </a:r>
            <a:r>
              <a:rPr lang="fr-CA" dirty="0">
                <a:latin typeface="Arial" pitchFamily="34" charset="0"/>
                <a:cs typeface="Arial" pitchFamily="34" charset="0"/>
              </a:rPr>
              <a:t>			enlève les variables de la mémoire</a:t>
            </a:r>
          </a:p>
        </p:txBody>
      </p:sp>
      <p:sp>
        <p:nvSpPr>
          <p:cNvPr id="13318" name="Text Box 6"/>
          <p:cNvSpPr txBox="1">
            <a:spLocks noChangeArrowheads="1"/>
          </p:cNvSpPr>
          <p:nvPr/>
        </p:nvSpPr>
        <p:spPr bwMode="auto">
          <a:xfrm>
            <a:off x="571472" y="2357430"/>
            <a:ext cx="7862888" cy="457200"/>
          </a:xfrm>
          <a:prstGeom prst="rect">
            <a:avLst/>
          </a:prstGeom>
          <a:noFill/>
          <a:ln w="9525">
            <a:noFill/>
            <a:miter lim="800000"/>
            <a:headEnd/>
            <a:tailEnd/>
          </a:ln>
          <a:effectLst/>
        </p:spPr>
        <p:txBody>
          <a:bodyPr wrap="none">
            <a:spAutoFit/>
          </a:bodyPr>
          <a:lstStyle/>
          <a:p>
            <a:r>
              <a:rPr lang="fr-CA" dirty="0">
                <a:solidFill>
                  <a:srgbClr val="FF3300"/>
                </a:solidFill>
                <a:latin typeface="Arial" pitchFamily="34" charset="0"/>
                <a:cs typeface="Arial" pitchFamily="34" charset="0"/>
              </a:rPr>
              <a:t>help </a:t>
            </a:r>
            <a:r>
              <a:rPr lang="fr-CA" i="1" dirty="0">
                <a:solidFill>
                  <a:srgbClr val="008000"/>
                </a:solidFill>
                <a:latin typeface="Arial" pitchFamily="34" charset="0"/>
                <a:cs typeface="Arial" pitchFamily="34" charset="0"/>
              </a:rPr>
              <a:t>nom		</a:t>
            </a:r>
            <a:r>
              <a:rPr lang="fr-CA" dirty="0">
                <a:latin typeface="Arial" pitchFamily="34" charset="0"/>
                <a:cs typeface="Arial" pitchFamily="34" charset="0"/>
              </a:rPr>
              <a:t>recherche en ligne pour le sujet </a:t>
            </a:r>
            <a:r>
              <a:rPr lang="fr-CA" i="1" dirty="0">
                <a:solidFill>
                  <a:srgbClr val="008000"/>
                </a:solidFill>
                <a:latin typeface="Arial" pitchFamily="34" charset="0"/>
                <a:cs typeface="Arial" pitchFamily="34" charset="0"/>
              </a:rPr>
              <a:t>nom</a:t>
            </a:r>
          </a:p>
        </p:txBody>
      </p:sp>
      <p:sp>
        <p:nvSpPr>
          <p:cNvPr id="13319" name="Text Box 7"/>
          <p:cNvSpPr txBox="1">
            <a:spLocks noChangeArrowheads="1"/>
          </p:cNvSpPr>
          <p:nvPr/>
        </p:nvSpPr>
        <p:spPr bwMode="auto">
          <a:xfrm>
            <a:off x="533400" y="3000372"/>
            <a:ext cx="7938392" cy="461665"/>
          </a:xfrm>
          <a:prstGeom prst="rect">
            <a:avLst/>
          </a:prstGeom>
          <a:noFill/>
          <a:ln w="9525">
            <a:noFill/>
            <a:miter lim="800000"/>
            <a:headEnd/>
            <a:tailEnd/>
          </a:ln>
          <a:effectLst/>
        </p:spPr>
        <p:txBody>
          <a:bodyPr wrap="none">
            <a:spAutoFit/>
          </a:bodyPr>
          <a:lstStyle/>
          <a:p>
            <a:r>
              <a:rPr lang="fr-CA" dirty="0" err="1">
                <a:solidFill>
                  <a:srgbClr val="FF3300"/>
                </a:solidFill>
                <a:latin typeface="Arial" pitchFamily="34" charset="0"/>
                <a:cs typeface="Arial" pitchFamily="34" charset="0"/>
              </a:rPr>
              <a:t>lookfor</a:t>
            </a:r>
            <a:r>
              <a:rPr lang="fr-CA" dirty="0">
                <a:latin typeface="Arial" pitchFamily="34" charset="0"/>
                <a:cs typeface="Arial" pitchFamily="34" charset="0"/>
              </a:rPr>
              <a:t> </a:t>
            </a:r>
            <a:r>
              <a:rPr lang="fr-CA" i="1" dirty="0" smtClean="0">
                <a:solidFill>
                  <a:srgbClr val="008000"/>
                </a:solidFill>
                <a:latin typeface="Arial" pitchFamily="34" charset="0"/>
                <a:cs typeface="Arial" pitchFamily="34" charset="0"/>
              </a:rPr>
              <a:t>nom**</a:t>
            </a:r>
            <a:r>
              <a:rPr lang="fr-CA" i="1" dirty="0">
                <a:solidFill>
                  <a:srgbClr val="008000"/>
                </a:solidFill>
                <a:latin typeface="Arial" pitchFamily="34" charset="0"/>
                <a:cs typeface="Arial" pitchFamily="34" charset="0"/>
              </a:rPr>
              <a:t>	</a:t>
            </a:r>
            <a:r>
              <a:rPr lang="fr-CA" dirty="0">
                <a:latin typeface="Arial" pitchFamily="34" charset="0"/>
                <a:cs typeface="Arial" pitchFamily="34" charset="0"/>
              </a:rPr>
              <a:t>recherche l’aide pour le mot-clé </a:t>
            </a:r>
            <a:r>
              <a:rPr lang="fr-CA" i="1" dirty="0">
                <a:solidFill>
                  <a:srgbClr val="008000"/>
                </a:solidFill>
                <a:latin typeface="Arial" pitchFamily="34" charset="0"/>
                <a:cs typeface="Arial" pitchFamily="34" charset="0"/>
              </a:rPr>
              <a:t>nom</a:t>
            </a:r>
          </a:p>
        </p:txBody>
      </p:sp>
      <p:sp>
        <p:nvSpPr>
          <p:cNvPr id="13320" name="Text Box 8"/>
          <p:cNvSpPr txBox="1">
            <a:spLocks noChangeArrowheads="1"/>
          </p:cNvSpPr>
          <p:nvPr/>
        </p:nvSpPr>
        <p:spPr bwMode="auto">
          <a:xfrm>
            <a:off x="533400" y="3571876"/>
            <a:ext cx="4724400" cy="457200"/>
          </a:xfrm>
          <a:prstGeom prst="rect">
            <a:avLst/>
          </a:prstGeom>
          <a:noFill/>
          <a:ln w="9525">
            <a:noFill/>
            <a:miter lim="800000"/>
            <a:headEnd/>
            <a:tailEnd/>
          </a:ln>
          <a:effectLst/>
        </p:spPr>
        <p:txBody>
          <a:bodyPr wrap="none">
            <a:spAutoFit/>
          </a:bodyPr>
          <a:lstStyle/>
          <a:p>
            <a:r>
              <a:rPr lang="fr-CA" dirty="0" err="1">
                <a:solidFill>
                  <a:srgbClr val="FF3300"/>
                </a:solidFill>
                <a:latin typeface="Arial" pitchFamily="34" charset="0"/>
                <a:cs typeface="Arial" pitchFamily="34" charset="0"/>
              </a:rPr>
              <a:t>quit</a:t>
            </a:r>
            <a:r>
              <a:rPr lang="fr-CA" dirty="0">
                <a:latin typeface="Arial" pitchFamily="34" charset="0"/>
                <a:cs typeface="Arial" pitchFamily="34" charset="0"/>
              </a:rPr>
              <a:t>			arrête Matlab</a:t>
            </a:r>
          </a:p>
        </p:txBody>
      </p:sp>
      <p:sp>
        <p:nvSpPr>
          <p:cNvPr id="13321" name="Text Box 9"/>
          <p:cNvSpPr txBox="1">
            <a:spLocks noChangeArrowheads="1"/>
          </p:cNvSpPr>
          <p:nvPr/>
        </p:nvSpPr>
        <p:spPr bwMode="auto">
          <a:xfrm>
            <a:off x="533400" y="4214818"/>
            <a:ext cx="7835799" cy="830997"/>
          </a:xfrm>
          <a:prstGeom prst="rect">
            <a:avLst/>
          </a:prstGeom>
          <a:noFill/>
          <a:ln w="9525">
            <a:noFill/>
            <a:miter lim="800000"/>
            <a:headEnd/>
            <a:tailEnd/>
          </a:ln>
          <a:effectLst/>
        </p:spPr>
        <p:txBody>
          <a:bodyPr wrap="none">
            <a:spAutoFit/>
          </a:bodyPr>
          <a:lstStyle/>
          <a:p>
            <a:r>
              <a:rPr lang="fr-CA" dirty="0" err="1">
                <a:solidFill>
                  <a:srgbClr val="FF3300"/>
                </a:solidFill>
                <a:latin typeface="Arial" pitchFamily="34" charset="0"/>
                <a:cs typeface="Arial" pitchFamily="34" charset="0"/>
              </a:rPr>
              <a:t>who</a:t>
            </a:r>
            <a:r>
              <a:rPr lang="fr-CA" dirty="0">
                <a:latin typeface="Arial" pitchFamily="34" charset="0"/>
                <a:cs typeface="Arial" pitchFamily="34" charset="0"/>
              </a:rPr>
              <a:t>			énumère les variables courantes en</a:t>
            </a:r>
          </a:p>
          <a:p>
            <a:r>
              <a:rPr lang="fr-CA" dirty="0">
                <a:latin typeface="Arial" pitchFamily="34" charset="0"/>
                <a:cs typeface="Arial" pitchFamily="34" charset="0"/>
              </a:rPr>
              <a:t>			mémoire </a:t>
            </a:r>
          </a:p>
        </p:txBody>
      </p:sp>
      <p:sp>
        <p:nvSpPr>
          <p:cNvPr id="13322" name="Text Box 10"/>
          <p:cNvSpPr txBox="1">
            <a:spLocks noChangeArrowheads="1"/>
          </p:cNvSpPr>
          <p:nvPr/>
        </p:nvSpPr>
        <p:spPr bwMode="auto">
          <a:xfrm>
            <a:off x="533400" y="5169771"/>
            <a:ext cx="7697941" cy="830997"/>
          </a:xfrm>
          <a:prstGeom prst="rect">
            <a:avLst/>
          </a:prstGeom>
          <a:noFill/>
          <a:ln w="9525">
            <a:noFill/>
            <a:miter lim="800000"/>
            <a:headEnd/>
            <a:tailEnd/>
          </a:ln>
          <a:effectLst/>
        </p:spPr>
        <p:txBody>
          <a:bodyPr wrap="none">
            <a:spAutoFit/>
          </a:bodyPr>
          <a:lstStyle/>
          <a:p>
            <a:r>
              <a:rPr lang="fr-CA" dirty="0" err="1">
                <a:solidFill>
                  <a:srgbClr val="FF3300"/>
                </a:solidFill>
                <a:latin typeface="Arial" pitchFamily="34" charset="0"/>
                <a:cs typeface="Arial" pitchFamily="34" charset="0"/>
              </a:rPr>
              <a:t>whos</a:t>
            </a:r>
            <a:r>
              <a:rPr lang="fr-CA" dirty="0">
                <a:latin typeface="Arial" pitchFamily="34" charset="0"/>
                <a:cs typeface="Arial" pitchFamily="34" charset="0"/>
              </a:rPr>
              <a:t>			énumère les variables actuelles et </a:t>
            </a:r>
          </a:p>
          <a:p>
            <a:r>
              <a:rPr lang="fr-CA" dirty="0">
                <a:latin typeface="Arial" pitchFamily="34" charset="0"/>
                <a:cs typeface="Arial" pitchFamily="34" charset="0"/>
              </a:rPr>
              <a:t>			leur dimension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additive="base">
                                        <p:cTn id="7" dur="500" fill="hold"/>
                                        <p:tgtEl>
                                          <p:spTgt spid="13315"/>
                                        </p:tgtEl>
                                        <p:attrNameLst>
                                          <p:attrName>ppt_x</p:attrName>
                                        </p:attrNameLst>
                                      </p:cBhvr>
                                      <p:tavLst>
                                        <p:tav tm="0">
                                          <p:val>
                                            <p:strVal val="0-#ppt_w/2"/>
                                          </p:val>
                                        </p:tav>
                                        <p:tav tm="100000">
                                          <p:val>
                                            <p:strVal val="#ppt_x"/>
                                          </p:val>
                                        </p:tav>
                                      </p:tavLst>
                                    </p:anim>
                                    <p:anim calcmode="lin" valueType="num">
                                      <p:cBhvr additive="base">
                                        <p:cTn id="8" dur="500" fill="hold"/>
                                        <p:tgtEl>
                                          <p:spTgt spid="133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3316"/>
                                        </p:tgtEl>
                                        <p:attrNameLst>
                                          <p:attrName>style.visibility</p:attrName>
                                        </p:attrNameLst>
                                      </p:cBhvr>
                                      <p:to>
                                        <p:strVal val="visible"/>
                                      </p:to>
                                    </p:set>
                                    <p:anim calcmode="lin" valueType="num">
                                      <p:cBhvr additive="base">
                                        <p:cTn id="13" dur="500" fill="hold"/>
                                        <p:tgtEl>
                                          <p:spTgt spid="13316"/>
                                        </p:tgtEl>
                                        <p:attrNameLst>
                                          <p:attrName>ppt_x</p:attrName>
                                        </p:attrNameLst>
                                      </p:cBhvr>
                                      <p:tavLst>
                                        <p:tav tm="0">
                                          <p:val>
                                            <p:strVal val="1+#ppt_w/2"/>
                                          </p:val>
                                        </p:tav>
                                        <p:tav tm="100000">
                                          <p:val>
                                            <p:strVal val="#ppt_x"/>
                                          </p:val>
                                        </p:tav>
                                      </p:tavLst>
                                    </p:anim>
                                    <p:anim calcmode="lin" valueType="num">
                                      <p:cBhvr additive="base">
                                        <p:cTn id="14" dur="500" fill="hold"/>
                                        <p:tgtEl>
                                          <p:spTgt spid="133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13318"/>
                                        </p:tgtEl>
                                        <p:attrNameLst>
                                          <p:attrName>style.visibility</p:attrName>
                                        </p:attrNameLst>
                                      </p:cBhvr>
                                      <p:to>
                                        <p:strVal val="visible"/>
                                      </p:to>
                                    </p:set>
                                    <p:anim calcmode="lin" valueType="num">
                                      <p:cBhvr additive="base">
                                        <p:cTn id="19" dur="500" fill="hold"/>
                                        <p:tgtEl>
                                          <p:spTgt spid="13318"/>
                                        </p:tgtEl>
                                        <p:attrNameLst>
                                          <p:attrName>ppt_x</p:attrName>
                                        </p:attrNameLst>
                                      </p:cBhvr>
                                      <p:tavLst>
                                        <p:tav tm="0">
                                          <p:val>
                                            <p:strVal val="#ppt_x"/>
                                          </p:val>
                                        </p:tav>
                                        <p:tav tm="100000">
                                          <p:val>
                                            <p:strVal val="#ppt_x"/>
                                          </p:val>
                                        </p:tav>
                                      </p:tavLst>
                                    </p:anim>
                                    <p:anim calcmode="lin" valueType="num">
                                      <p:cBhvr additive="base">
                                        <p:cTn id="20" dur="500" fill="hold"/>
                                        <p:tgtEl>
                                          <p:spTgt spid="13318"/>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2" fill="hold" grpId="0" nodeType="clickEffect">
                                  <p:stCondLst>
                                    <p:cond delay="0"/>
                                  </p:stCondLst>
                                  <p:childTnLst>
                                    <p:set>
                                      <p:cBhvr>
                                        <p:cTn id="24" dur="1" fill="hold">
                                          <p:stCondLst>
                                            <p:cond delay="0"/>
                                          </p:stCondLst>
                                        </p:cTn>
                                        <p:tgtEl>
                                          <p:spTgt spid="13319"/>
                                        </p:tgtEl>
                                        <p:attrNameLst>
                                          <p:attrName>style.visibility</p:attrName>
                                        </p:attrNameLst>
                                      </p:cBhvr>
                                      <p:to>
                                        <p:strVal val="visible"/>
                                      </p:to>
                                    </p:set>
                                    <p:anim calcmode="lin" valueType="num">
                                      <p:cBhvr additive="base">
                                        <p:cTn id="25" dur="500" fill="hold"/>
                                        <p:tgtEl>
                                          <p:spTgt spid="13319"/>
                                        </p:tgtEl>
                                        <p:attrNameLst>
                                          <p:attrName>ppt_x</p:attrName>
                                        </p:attrNameLst>
                                      </p:cBhvr>
                                      <p:tavLst>
                                        <p:tav tm="0">
                                          <p:val>
                                            <p:strVal val="0-#ppt_w/2"/>
                                          </p:val>
                                        </p:tav>
                                        <p:tav tm="100000">
                                          <p:val>
                                            <p:strVal val="#ppt_x"/>
                                          </p:val>
                                        </p:tav>
                                      </p:tavLst>
                                    </p:anim>
                                    <p:anim calcmode="lin" valueType="num">
                                      <p:cBhvr additive="base">
                                        <p:cTn id="26" dur="500" fill="hold"/>
                                        <p:tgtEl>
                                          <p:spTgt spid="1331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13320"/>
                                        </p:tgtEl>
                                        <p:attrNameLst>
                                          <p:attrName>style.visibility</p:attrName>
                                        </p:attrNameLst>
                                      </p:cBhvr>
                                      <p:to>
                                        <p:strVal val="visible"/>
                                      </p:to>
                                    </p:set>
                                    <p:anim calcmode="lin" valueType="num">
                                      <p:cBhvr additive="base">
                                        <p:cTn id="31" dur="500" fill="hold"/>
                                        <p:tgtEl>
                                          <p:spTgt spid="13320"/>
                                        </p:tgtEl>
                                        <p:attrNameLst>
                                          <p:attrName>ppt_x</p:attrName>
                                        </p:attrNameLst>
                                      </p:cBhvr>
                                      <p:tavLst>
                                        <p:tav tm="0">
                                          <p:val>
                                            <p:strVal val="1+#ppt_w/2"/>
                                          </p:val>
                                        </p:tav>
                                        <p:tav tm="100000">
                                          <p:val>
                                            <p:strVal val="#ppt_x"/>
                                          </p:val>
                                        </p:tav>
                                      </p:tavLst>
                                    </p:anim>
                                    <p:anim calcmode="lin" valueType="num">
                                      <p:cBhvr additive="base">
                                        <p:cTn id="32" dur="500" fill="hold"/>
                                        <p:tgtEl>
                                          <p:spTgt spid="1332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3" fill="hold" grpId="0" nodeType="clickEffect">
                                  <p:stCondLst>
                                    <p:cond delay="0"/>
                                  </p:stCondLst>
                                  <p:childTnLst>
                                    <p:set>
                                      <p:cBhvr>
                                        <p:cTn id="36" dur="1" fill="hold">
                                          <p:stCondLst>
                                            <p:cond delay="0"/>
                                          </p:stCondLst>
                                        </p:cTn>
                                        <p:tgtEl>
                                          <p:spTgt spid="13321"/>
                                        </p:tgtEl>
                                        <p:attrNameLst>
                                          <p:attrName>style.visibility</p:attrName>
                                        </p:attrNameLst>
                                      </p:cBhvr>
                                      <p:to>
                                        <p:strVal val="visible"/>
                                      </p:to>
                                    </p:set>
                                    <p:anim calcmode="lin" valueType="num">
                                      <p:cBhvr additive="base">
                                        <p:cTn id="37" dur="500" fill="hold"/>
                                        <p:tgtEl>
                                          <p:spTgt spid="13321"/>
                                        </p:tgtEl>
                                        <p:attrNameLst>
                                          <p:attrName>ppt_x</p:attrName>
                                        </p:attrNameLst>
                                      </p:cBhvr>
                                      <p:tavLst>
                                        <p:tav tm="0">
                                          <p:val>
                                            <p:strVal val="1+#ppt_w/2"/>
                                          </p:val>
                                        </p:tav>
                                        <p:tav tm="100000">
                                          <p:val>
                                            <p:strVal val="#ppt_x"/>
                                          </p:val>
                                        </p:tav>
                                      </p:tavLst>
                                    </p:anim>
                                    <p:anim calcmode="lin" valueType="num">
                                      <p:cBhvr additive="base">
                                        <p:cTn id="38" dur="500" fill="hold"/>
                                        <p:tgtEl>
                                          <p:spTgt spid="13321"/>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9" fill="hold" grpId="0" nodeType="clickEffect">
                                  <p:stCondLst>
                                    <p:cond delay="0"/>
                                  </p:stCondLst>
                                  <p:childTnLst>
                                    <p:set>
                                      <p:cBhvr>
                                        <p:cTn id="42" dur="1" fill="hold">
                                          <p:stCondLst>
                                            <p:cond delay="0"/>
                                          </p:stCondLst>
                                        </p:cTn>
                                        <p:tgtEl>
                                          <p:spTgt spid="13322"/>
                                        </p:tgtEl>
                                        <p:attrNameLst>
                                          <p:attrName>style.visibility</p:attrName>
                                        </p:attrNameLst>
                                      </p:cBhvr>
                                      <p:to>
                                        <p:strVal val="visible"/>
                                      </p:to>
                                    </p:set>
                                    <p:anim calcmode="lin" valueType="num">
                                      <p:cBhvr additive="base">
                                        <p:cTn id="43" dur="500" fill="hold"/>
                                        <p:tgtEl>
                                          <p:spTgt spid="13322"/>
                                        </p:tgtEl>
                                        <p:attrNameLst>
                                          <p:attrName>ppt_x</p:attrName>
                                        </p:attrNameLst>
                                      </p:cBhvr>
                                      <p:tavLst>
                                        <p:tav tm="0">
                                          <p:val>
                                            <p:strVal val="0-#ppt_w/2"/>
                                          </p:val>
                                        </p:tav>
                                        <p:tav tm="100000">
                                          <p:val>
                                            <p:strVal val="#ppt_x"/>
                                          </p:val>
                                        </p:tav>
                                      </p:tavLst>
                                    </p:anim>
                                    <p:anim calcmode="lin" valueType="num">
                                      <p:cBhvr additive="base">
                                        <p:cTn id="44" dur="500" fill="hold"/>
                                        <p:tgtEl>
                                          <p:spTgt spid="133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utoUpdateAnimBg="0"/>
      <p:bldP spid="13316" grpId="0" autoUpdateAnimBg="0"/>
      <p:bldP spid="13318" grpId="0" autoUpdateAnimBg="0"/>
      <p:bldP spid="13319" grpId="0" autoUpdateAnimBg="0"/>
      <p:bldP spid="13320" grpId="0" autoUpdateAnimBg="0"/>
      <p:bldP spid="13321" grpId="0" autoUpdateAnimBg="0"/>
      <p:bldP spid="13322"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55576" y="2502024"/>
            <a:ext cx="7772400" cy="1143000"/>
          </a:xfrm>
        </p:spPr>
        <p:txBody>
          <a:bodyPr>
            <a:normAutofit fontScale="90000"/>
          </a:bodyPr>
          <a:lstStyle/>
          <a:p>
            <a:r>
              <a:rPr lang="fr-FR" b="1" u="sng" dirty="0" smtClean="0"/>
              <a:t/>
            </a:r>
            <a:br>
              <a:rPr lang="fr-FR" b="1" u="sng" dirty="0" smtClean="0"/>
            </a:br>
            <a:r>
              <a:rPr lang="fr-FR" b="1" u="sng" dirty="0" smtClean="0"/>
              <a:t/>
            </a:r>
            <a:br>
              <a:rPr lang="fr-FR" b="1" u="sng" dirty="0" smtClean="0"/>
            </a:br>
            <a:r>
              <a:rPr lang="fr-FR" b="1" u="sng" dirty="0" smtClean="0"/>
              <a:t>Manipulation des Vecteurs et Matrices</a:t>
            </a:r>
            <a:endParaRPr lang="fr-FR" b="1" u="sng"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ce réservé du numéro de diapositive 3"/>
          <p:cNvSpPr>
            <a:spLocks noGrp="1"/>
          </p:cNvSpPr>
          <p:nvPr>
            <p:ph type="sldNum" sz="quarter" idx="12"/>
          </p:nvPr>
        </p:nvSpPr>
        <p:spPr/>
        <p:txBody>
          <a:bodyPr/>
          <a:lstStyle/>
          <a:p>
            <a:fld id="{2F4A61EB-B28F-4FD3-AD9F-0EED4AE56415}" type="slidenum">
              <a:rPr lang="fr-CA">
                <a:latin typeface="+mj-lt"/>
              </a:rPr>
              <a:pPr/>
              <a:t>64</a:t>
            </a:fld>
            <a:endParaRPr lang="fr-CA">
              <a:latin typeface="+mj-lt"/>
            </a:endParaRPr>
          </a:p>
        </p:txBody>
      </p:sp>
      <p:sp>
        <p:nvSpPr>
          <p:cNvPr id="14338" name="Text Box 2"/>
          <p:cNvSpPr txBox="1">
            <a:spLocks noChangeArrowheads="1"/>
          </p:cNvSpPr>
          <p:nvPr/>
        </p:nvSpPr>
        <p:spPr bwMode="auto">
          <a:xfrm>
            <a:off x="2500298" y="214290"/>
            <a:ext cx="3560590" cy="584775"/>
          </a:xfrm>
          <a:prstGeom prst="rect">
            <a:avLst/>
          </a:prstGeom>
          <a:noFill/>
          <a:ln w="9525">
            <a:noFill/>
            <a:miter lim="800000"/>
            <a:headEnd/>
            <a:tailEnd/>
          </a:ln>
          <a:effectLst/>
        </p:spPr>
        <p:txBody>
          <a:bodyPr wrap="none">
            <a:spAutoFit/>
          </a:bodyPr>
          <a:lstStyle/>
          <a:p>
            <a:pPr algn="ctr"/>
            <a:r>
              <a:rPr lang="fr-CA" sz="3200">
                <a:latin typeface="+mj-lt"/>
                <a:cs typeface="Arial" pitchFamily="34" charset="0"/>
              </a:rPr>
              <a:t>Création de vecteurs</a:t>
            </a:r>
          </a:p>
        </p:txBody>
      </p:sp>
      <p:sp>
        <p:nvSpPr>
          <p:cNvPr id="14339" name="Text Box 3"/>
          <p:cNvSpPr txBox="1">
            <a:spLocks noChangeArrowheads="1"/>
          </p:cNvSpPr>
          <p:nvPr/>
        </p:nvSpPr>
        <p:spPr bwMode="auto">
          <a:xfrm>
            <a:off x="533400" y="1771650"/>
            <a:ext cx="3618298" cy="830997"/>
          </a:xfrm>
          <a:prstGeom prst="rect">
            <a:avLst/>
          </a:prstGeom>
          <a:noFill/>
          <a:ln w="9525">
            <a:noFill/>
            <a:miter lim="800000"/>
            <a:headEnd/>
            <a:tailEnd/>
          </a:ln>
          <a:effectLst/>
        </p:spPr>
        <p:txBody>
          <a:bodyPr wrap="none">
            <a:spAutoFit/>
          </a:bodyPr>
          <a:lstStyle/>
          <a:p>
            <a:r>
              <a:rPr lang="fr-CA">
                <a:solidFill>
                  <a:srgbClr val="FF3300"/>
                </a:solidFill>
                <a:latin typeface="+mj-lt"/>
                <a:cs typeface="Arial" pitchFamily="34" charset="0"/>
              </a:rPr>
              <a:t>&gt;&gt;r</a:t>
            </a:r>
            <a:r>
              <a:rPr lang="fr-CA">
                <a:latin typeface="+mj-lt"/>
                <a:cs typeface="Arial" pitchFamily="34" charset="0"/>
              </a:rPr>
              <a:t> </a:t>
            </a:r>
            <a:r>
              <a:rPr lang="fr-CA">
                <a:solidFill>
                  <a:srgbClr val="FF3300"/>
                </a:solidFill>
                <a:latin typeface="+mj-lt"/>
                <a:cs typeface="Arial" pitchFamily="34" charset="0"/>
              </a:rPr>
              <a:t>=</a:t>
            </a:r>
            <a:r>
              <a:rPr lang="fr-CA">
                <a:latin typeface="+mj-lt"/>
                <a:cs typeface="Arial" pitchFamily="34" charset="0"/>
              </a:rPr>
              <a:t> </a:t>
            </a:r>
            <a:r>
              <a:rPr lang="fr-CA">
                <a:solidFill>
                  <a:srgbClr val="FF3300"/>
                </a:solidFill>
                <a:latin typeface="+mj-lt"/>
                <a:cs typeface="Arial" pitchFamily="34" charset="0"/>
              </a:rPr>
              <a:t>[</a:t>
            </a:r>
            <a:r>
              <a:rPr lang="fr-CA">
                <a:latin typeface="+mj-lt"/>
                <a:cs typeface="Arial" pitchFamily="34" charset="0"/>
              </a:rPr>
              <a:t>2</a:t>
            </a:r>
            <a:r>
              <a:rPr lang="fr-CA">
                <a:solidFill>
                  <a:srgbClr val="FF3300"/>
                </a:solidFill>
                <a:latin typeface="+mj-lt"/>
                <a:cs typeface="Arial" pitchFamily="34" charset="0"/>
              </a:rPr>
              <a:t>,</a:t>
            </a:r>
            <a:r>
              <a:rPr lang="fr-CA">
                <a:latin typeface="+mj-lt"/>
                <a:cs typeface="Arial" pitchFamily="34" charset="0"/>
              </a:rPr>
              <a:t>4</a:t>
            </a:r>
            <a:r>
              <a:rPr lang="fr-CA">
                <a:solidFill>
                  <a:srgbClr val="FF3300"/>
                </a:solidFill>
                <a:latin typeface="+mj-lt"/>
                <a:cs typeface="Arial" pitchFamily="34" charset="0"/>
              </a:rPr>
              <a:t>,</a:t>
            </a:r>
            <a:r>
              <a:rPr lang="fr-CA">
                <a:latin typeface="+mj-lt"/>
                <a:cs typeface="Arial" pitchFamily="34" charset="0"/>
              </a:rPr>
              <a:t>10</a:t>
            </a:r>
            <a:r>
              <a:rPr lang="fr-CA">
                <a:solidFill>
                  <a:srgbClr val="FF3300"/>
                </a:solidFill>
                <a:latin typeface="+mj-lt"/>
                <a:cs typeface="Arial" pitchFamily="34" charset="0"/>
              </a:rPr>
              <a:t>]</a:t>
            </a:r>
            <a:r>
              <a:rPr lang="fr-CA">
                <a:latin typeface="+mj-lt"/>
                <a:cs typeface="Arial" pitchFamily="34" charset="0"/>
              </a:rPr>
              <a:t>		</a:t>
            </a:r>
            <a:r>
              <a:rPr lang="fr-CA">
                <a:latin typeface="+mj-lt"/>
              </a:rPr>
              <a:t>« </a:t>
            </a:r>
            <a:r>
              <a:rPr lang="fr-CA">
                <a:latin typeface="+mj-lt"/>
                <a:sym typeface="Symbol" pitchFamily="18" charset="2"/>
              </a:rPr>
              <a:t> </a:t>
            </a:r>
            <a:r>
              <a:rPr lang="fr-CA">
                <a:latin typeface="+mj-lt"/>
              </a:rPr>
              <a:t>»</a:t>
            </a:r>
          </a:p>
          <a:p>
            <a:endParaRPr lang="fr-CA">
              <a:latin typeface="+mj-lt"/>
              <a:cs typeface="Arial" pitchFamily="34" charset="0"/>
              <a:sym typeface="Symbol" pitchFamily="18" charset="2"/>
            </a:endParaRPr>
          </a:p>
        </p:txBody>
      </p:sp>
      <p:sp>
        <p:nvSpPr>
          <p:cNvPr id="14340" name="Text Box 4"/>
          <p:cNvSpPr txBox="1">
            <a:spLocks noChangeArrowheads="1"/>
          </p:cNvSpPr>
          <p:nvPr/>
        </p:nvSpPr>
        <p:spPr bwMode="auto">
          <a:xfrm>
            <a:off x="533400" y="2462213"/>
            <a:ext cx="4416594" cy="830997"/>
          </a:xfrm>
          <a:prstGeom prst="rect">
            <a:avLst/>
          </a:prstGeom>
          <a:noFill/>
          <a:ln w="9525">
            <a:noFill/>
            <a:miter lim="800000"/>
            <a:headEnd/>
            <a:tailEnd/>
          </a:ln>
          <a:effectLst/>
        </p:spPr>
        <p:txBody>
          <a:bodyPr wrap="none">
            <a:spAutoFit/>
          </a:bodyPr>
          <a:lstStyle/>
          <a:p>
            <a:r>
              <a:rPr lang="fr-CA">
                <a:latin typeface="+mj-lt"/>
                <a:cs typeface="Arial" pitchFamily="34" charset="0"/>
              </a:rPr>
              <a:t>r =</a:t>
            </a:r>
          </a:p>
          <a:p>
            <a:r>
              <a:rPr lang="fr-CA">
                <a:latin typeface="+mj-lt"/>
                <a:cs typeface="Arial" pitchFamily="34" charset="0"/>
              </a:rPr>
              <a:t>	2.0000    4.0000    10.0000</a:t>
            </a:r>
          </a:p>
        </p:txBody>
      </p:sp>
      <p:sp>
        <p:nvSpPr>
          <p:cNvPr id="14341" name="Text Box 5"/>
          <p:cNvSpPr txBox="1">
            <a:spLocks noChangeArrowheads="1"/>
          </p:cNvSpPr>
          <p:nvPr/>
        </p:nvSpPr>
        <p:spPr bwMode="auto">
          <a:xfrm>
            <a:off x="533400" y="3676650"/>
            <a:ext cx="3618298" cy="461665"/>
          </a:xfrm>
          <a:prstGeom prst="rect">
            <a:avLst/>
          </a:prstGeom>
          <a:noFill/>
          <a:ln w="9525">
            <a:noFill/>
            <a:miter lim="800000"/>
            <a:headEnd/>
            <a:tailEnd/>
          </a:ln>
          <a:effectLst/>
        </p:spPr>
        <p:txBody>
          <a:bodyPr wrap="none">
            <a:spAutoFit/>
          </a:bodyPr>
          <a:lstStyle/>
          <a:p>
            <a:r>
              <a:rPr lang="fr-CA">
                <a:solidFill>
                  <a:srgbClr val="FF3300"/>
                </a:solidFill>
                <a:latin typeface="+mj-lt"/>
                <a:cs typeface="Arial" pitchFamily="34" charset="0"/>
              </a:rPr>
              <a:t>&gt;&gt;s = [</a:t>
            </a:r>
            <a:r>
              <a:rPr lang="fr-CA">
                <a:latin typeface="+mj-lt"/>
                <a:cs typeface="Arial" pitchFamily="34" charset="0"/>
              </a:rPr>
              <a:t>2 4 10</a:t>
            </a:r>
            <a:r>
              <a:rPr lang="fr-CA">
                <a:solidFill>
                  <a:srgbClr val="FF3300"/>
                </a:solidFill>
                <a:latin typeface="+mj-lt"/>
                <a:cs typeface="Arial" pitchFamily="34" charset="0"/>
              </a:rPr>
              <a:t>]</a:t>
            </a:r>
            <a:r>
              <a:rPr lang="fr-CA">
                <a:latin typeface="+mj-lt"/>
                <a:cs typeface="Arial" pitchFamily="34" charset="0"/>
              </a:rPr>
              <a:t>		« </a:t>
            </a:r>
            <a:r>
              <a:rPr lang="fr-CA">
                <a:latin typeface="+mj-lt"/>
                <a:sym typeface="Symbol" pitchFamily="18" charset="2"/>
              </a:rPr>
              <a:t> </a:t>
            </a:r>
            <a:r>
              <a:rPr lang="fr-CA">
                <a:latin typeface="+mj-lt"/>
                <a:cs typeface="Arial" pitchFamily="34" charset="0"/>
              </a:rPr>
              <a:t>»</a:t>
            </a:r>
          </a:p>
        </p:txBody>
      </p:sp>
      <p:sp>
        <p:nvSpPr>
          <p:cNvPr id="14342" name="Text Box 6"/>
          <p:cNvSpPr txBox="1">
            <a:spLocks noChangeArrowheads="1"/>
          </p:cNvSpPr>
          <p:nvPr/>
        </p:nvSpPr>
        <p:spPr bwMode="auto">
          <a:xfrm>
            <a:off x="533400" y="4443413"/>
            <a:ext cx="4493538" cy="830997"/>
          </a:xfrm>
          <a:prstGeom prst="rect">
            <a:avLst/>
          </a:prstGeom>
          <a:noFill/>
          <a:ln w="9525">
            <a:noFill/>
            <a:miter lim="800000"/>
            <a:headEnd/>
            <a:tailEnd/>
          </a:ln>
          <a:effectLst/>
        </p:spPr>
        <p:txBody>
          <a:bodyPr wrap="none">
            <a:spAutoFit/>
          </a:bodyPr>
          <a:lstStyle/>
          <a:p>
            <a:r>
              <a:rPr lang="fr-CA">
                <a:latin typeface="+mj-lt"/>
                <a:cs typeface="Arial" pitchFamily="34" charset="0"/>
              </a:rPr>
              <a:t>s = </a:t>
            </a:r>
          </a:p>
          <a:p>
            <a:r>
              <a:rPr lang="fr-CA">
                <a:latin typeface="+mj-lt"/>
                <a:cs typeface="Arial" pitchFamily="34" charset="0"/>
              </a:rPr>
              <a:t>	2.0000    4.0000    10.0000 </a:t>
            </a:r>
          </a:p>
        </p:txBody>
      </p:sp>
      <p:grpSp>
        <p:nvGrpSpPr>
          <p:cNvPr id="2" name="Group 24"/>
          <p:cNvGrpSpPr>
            <a:grpSpLocks/>
          </p:cNvGrpSpPr>
          <p:nvPr/>
        </p:nvGrpSpPr>
        <p:grpSpPr bwMode="auto">
          <a:xfrm>
            <a:off x="1928812" y="2143125"/>
            <a:ext cx="6572255" cy="1785938"/>
            <a:chOff x="1245" y="1372"/>
            <a:chExt cx="4140" cy="1125"/>
          </a:xfrm>
        </p:grpSpPr>
        <p:sp>
          <p:nvSpPr>
            <p:cNvPr id="14346" name="Line 10"/>
            <p:cNvSpPr>
              <a:spLocks noChangeShapeType="1"/>
            </p:cNvSpPr>
            <p:nvPr/>
          </p:nvSpPr>
          <p:spPr bwMode="auto">
            <a:xfrm flipH="1" flipV="1">
              <a:off x="1245" y="1372"/>
              <a:ext cx="2385" cy="900"/>
            </a:xfrm>
            <a:prstGeom prst="line">
              <a:avLst/>
            </a:prstGeom>
            <a:noFill/>
            <a:ln w="9525">
              <a:solidFill>
                <a:schemeClr val="accent2"/>
              </a:solidFill>
              <a:round/>
              <a:headEnd/>
              <a:tailEnd type="triangle" w="med" len="med"/>
            </a:ln>
            <a:effectLst/>
          </p:spPr>
          <p:txBody>
            <a:bodyPr/>
            <a:lstStyle/>
            <a:p>
              <a:endParaRPr lang="fr-FR">
                <a:latin typeface="+mj-lt"/>
              </a:endParaRPr>
            </a:p>
          </p:txBody>
        </p:sp>
        <p:sp>
          <p:nvSpPr>
            <p:cNvPr id="14347" name="Line 11"/>
            <p:cNvSpPr>
              <a:spLocks noChangeShapeType="1"/>
            </p:cNvSpPr>
            <p:nvPr/>
          </p:nvSpPr>
          <p:spPr bwMode="auto">
            <a:xfrm flipH="1">
              <a:off x="1275" y="2269"/>
              <a:ext cx="2355" cy="228"/>
            </a:xfrm>
            <a:prstGeom prst="line">
              <a:avLst/>
            </a:prstGeom>
            <a:noFill/>
            <a:ln w="9525">
              <a:solidFill>
                <a:schemeClr val="accent2"/>
              </a:solidFill>
              <a:round/>
              <a:headEnd/>
              <a:tailEnd type="triangle" w="med" len="med"/>
            </a:ln>
            <a:effectLst/>
          </p:spPr>
          <p:txBody>
            <a:bodyPr/>
            <a:lstStyle/>
            <a:p>
              <a:endParaRPr lang="fr-FR">
                <a:latin typeface="+mj-lt"/>
              </a:endParaRPr>
            </a:p>
          </p:txBody>
        </p:sp>
        <p:sp>
          <p:nvSpPr>
            <p:cNvPr id="14349" name="Text Box 13"/>
            <p:cNvSpPr txBox="1">
              <a:spLocks noChangeArrowheads="1"/>
            </p:cNvSpPr>
            <p:nvPr/>
          </p:nvSpPr>
          <p:spPr bwMode="auto">
            <a:xfrm>
              <a:off x="3644" y="2092"/>
              <a:ext cx="1741" cy="291"/>
            </a:xfrm>
            <a:prstGeom prst="rect">
              <a:avLst/>
            </a:prstGeom>
            <a:noFill/>
            <a:ln w="9525">
              <a:noFill/>
              <a:miter lim="800000"/>
              <a:headEnd/>
              <a:tailEnd/>
            </a:ln>
            <a:effectLst/>
          </p:spPr>
          <p:txBody>
            <a:bodyPr wrap="none">
              <a:spAutoFit/>
            </a:bodyPr>
            <a:lstStyle/>
            <a:p>
              <a:r>
                <a:rPr lang="fr-CA" dirty="0" smtClean="0">
                  <a:solidFill>
                    <a:schemeClr val="accent2"/>
                  </a:solidFill>
                  <a:effectLst>
                    <a:outerShdw blurRad="38100" dist="38100" dir="2700000" algn="tl">
                      <a:srgbClr val="C0C0C0"/>
                    </a:outerShdw>
                  </a:effectLst>
                  <a:latin typeface="+mj-lt"/>
                  <a:cs typeface="Arial" pitchFamily="34" charset="0"/>
                </a:rPr>
                <a:t>Séparateurs , ou vide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additive="base">
                                        <p:cTn id="7" dur="500" fill="hold"/>
                                        <p:tgtEl>
                                          <p:spTgt spid="14339"/>
                                        </p:tgtEl>
                                        <p:attrNameLst>
                                          <p:attrName>ppt_x</p:attrName>
                                        </p:attrNameLst>
                                      </p:cBhvr>
                                      <p:tavLst>
                                        <p:tav tm="0">
                                          <p:val>
                                            <p:strVal val="0-#ppt_w/2"/>
                                          </p:val>
                                        </p:tav>
                                        <p:tav tm="100000">
                                          <p:val>
                                            <p:strVal val="#ppt_x"/>
                                          </p:val>
                                        </p:tav>
                                      </p:tavLst>
                                    </p:anim>
                                    <p:anim calcmode="lin" valueType="num">
                                      <p:cBhvr additive="base">
                                        <p:cTn id="8" dur="500" fill="hold"/>
                                        <p:tgtEl>
                                          <p:spTgt spid="1433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4340"/>
                                        </p:tgtEl>
                                        <p:attrNameLst>
                                          <p:attrName>style.visibility</p:attrName>
                                        </p:attrNameLst>
                                      </p:cBhvr>
                                      <p:to>
                                        <p:strVal val="visible"/>
                                      </p:to>
                                    </p:set>
                                    <p:anim calcmode="lin" valueType="num">
                                      <p:cBhvr additive="base">
                                        <p:cTn id="12" dur="500" fill="hold"/>
                                        <p:tgtEl>
                                          <p:spTgt spid="14340"/>
                                        </p:tgtEl>
                                        <p:attrNameLst>
                                          <p:attrName>ppt_x</p:attrName>
                                        </p:attrNameLst>
                                      </p:cBhvr>
                                      <p:tavLst>
                                        <p:tav tm="0">
                                          <p:val>
                                            <p:strVal val="0-#ppt_w/2"/>
                                          </p:val>
                                        </p:tav>
                                        <p:tav tm="100000">
                                          <p:val>
                                            <p:strVal val="#ppt_x"/>
                                          </p:val>
                                        </p:tav>
                                      </p:tavLst>
                                    </p:anim>
                                    <p:anim calcmode="lin" valueType="num">
                                      <p:cBhvr additive="base">
                                        <p:cTn id="13" dur="500" fill="hold"/>
                                        <p:tgtEl>
                                          <p:spTgt spid="1434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4341"/>
                                        </p:tgtEl>
                                        <p:attrNameLst>
                                          <p:attrName>style.visibility</p:attrName>
                                        </p:attrNameLst>
                                      </p:cBhvr>
                                      <p:to>
                                        <p:strVal val="visible"/>
                                      </p:to>
                                    </p:set>
                                    <p:anim calcmode="lin" valueType="num">
                                      <p:cBhvr additive="base">
                                        <p:cTn id="18" dur="500" fill="hold"/>
                                        <p:tgtEl>
                                          <p:spTgt spid="14341"/>
                                        </p:tgtEl>
                                        <p:attrNameLst>
                                          <p:attrName>ppt_x</p:attrName>
                                        </p:attrNameLst>
                                      </p:cBhvr>
                                      <p:tavLst>
                                        <p:tav tm="0">
                                          <p:val>
                                            <p:strVal val="1+#ppt_w/2"/>
                                          </p:val>
                                        </p:tav>
                                        <p:tav tm="100000">
                                          <p:val>
                                            <p:strVal val="#ppt_x"/>
                                          </p:val>
                                        </p:tav>
                                      </p:tavLst>
                                    </p:anim>
                                    <p:anim calcmode="lin" valueType="num">
                                      <p:cBhvr additive="base">
                                        <p:cTn id="19" dur="500" fill="hold"/>
                                        <p:tgtEl>
                                          <p:spTgt spid="14341"/>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 presetClass="entr" presetSubtype="2" fill="hold" grpId="0" nodeType="afterEffect">
                                  <p:stCondLst>
                                    <p:cond delay="0"/>
                                  </p:stCondLst>
                                  <p:childTnLst>
                                    <p:set>
                                      <p:cBhvr>
                                        <p:cTn id="22" dur="1" fill="hold">
                                          <p:stCondLst>
                                            <p:cond delay="0"/>
                                          </p:stCondLst>
                                        </p:cTn>
                                        <p:tgtEl>
                                          <p:spTgt spid="14342"/>
                                        </p:tgtEl>
                                        <p:attrNameLst>
                                          <p:attrName>style.visibility</p:attrName>
                                        </p:attrNameLst>
                                      </p:cBhvr>
                                      <p:to>
                                        <p:strVal val="visible"/>
                                      </p:to>
                                    </p:set>
                                    <p:anim calcmode="lin" valueType="num">
                                      <p:cBhvr additive="base">
                                        <p:cTn id="23" dur="500" fill="hold"/>
                                        <p:tgtEl>
                                          <p:spTgt spid="14342"/>
                                        </p:tgtEl>
                                        <p:attrNameLst>
                                          <p:attrName>ppt_x</p:attrName>
                                        </p:attrNameLst>
                                      </p:cBhvr>
                                      <p:tavLst>
                                        <p:tav tm="0">
                                          <p:val>
                                            <p:strVal val="1+#ppt_w/2"/>
                                          </p:val>
                                        </p:tav>
                                        <p:tav tm="100000">
                                          <p:val>
                                            <p:strVal val="#ppt_x"/>
                                          </p:val>
                                        </p:tav>
                                      </p:tavLst>
                                    </p:anim>
                                    <p:anim calcmode="lin" valueType="num">
                                      <p:cBhvr additive="base">
                                        <p:cTn id="24" dur="500" fill="hold"/>
                                        <p:tgtEl>
                                          <p:spTgt spid="1434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0-#ppt_w/2"/>
                                          </p:val>
                                        </p:tav>
                                        <p:tav tm="100000">
                                          <p:val>
                                            <p:strVal val="#ppt_x"/>
                                          </p:val>
                                        </p:tav>
                                      </p:tavLst>
                                    </p:anim>
                                    <p:anim calcmode="lin" valueType="num">
                                      <p:cBhvr additive="base">
                                        <p:cTn id="30"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utoUpdateAnimBg="0"/>
      <p:bldP spid="14340" grpId="0" autoUpdateAnimBg="0"/>
      <p:bldP spid="14341" grpId="0" autoUpdateAnimBg="0"/>
      <p:bldP spid="14342"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Espace réservé du numéro de diapositive 3"/>
          <p:cNvSpPr>
            <a:spLocks noGrp="1"/>
          </p:cNvSpPr>
          <p:nvPr>
            <p:ph type="sldNum" sz="quarter" idx="12"/>
          </p:nvPr>
        </p:nvSpPr>
        <p:spPr/>
        <p:txBody>
          <a:bodyPr/>
          <a:lstStyle/>
          <a:p>
            <a:fld id="{02772B98-A13E-4B6A-B51B-D047925AC1F5}" type="slidenum">
              <a:rPr lang="fr-CA">
                <a:latin typeface="+mj-lt"/>
              </a:rPr>
              <a:pPr/>
              <a:t>65</a:t>
            </a:fld>
            <a:endParaRPr lang="fr-CA">
              <a:latin typeface="+mj-lt"/>
            </a:endParaRPr>
          </a:p>
        </p:txBody>
      </p:sp>
      <p:sp>
        <p:nvSpPr>
          <p:cNvPr id="15363" name="Text Box 3"/>
          <p:cNvSpPr txBox="1">
            <a:spLocks noChangeArrowheads="1"/>
          </p:cNvSpPr>
          <p:nvPr/>
        </p:nvSpPr>
        <p:spPr bwMode="auto">
          <a:xfrm>
            <a:off x="755650" y="908050"/>
            <a:ext cx="7272338" cy="5755422"/>
          </a:xfrm>
          <a:prstGeom prst="rect">
            <a:avLst/>
          </a:prstGeom>
          <a:noFill/>
          <a:ln w="9525">
            <a:noFill/>
            <a:miter lim="800000"/>
            <a:headEnd/>
            <a:tailEnd/>
          </a:ln>
          <a:effectLst/>
        </p:spPr>
        <p:txBody>
          <a:bodyPr>
            <a:spAutoFit/>
          </a:bodyPr>
          <a:lstStyle/>
          <a:p>
            <a:r>
              <a:rPr lang="fr-CA">
                <a:solidFill>
                  <a:srgbClr val="FF3300"/>
                </a:solidFill>
                <a:latin typeface="+mj-lt"/>
                <a:cs typeface="Arial" pitchFamily="34" charset="0"/>
              </a:rPr>
              <a:t>&gt;&gt;g =</a:t>
            </a:r>
            <a:r>
              <a:rPr lang="fr-CA">
                <a:latin typeface="+mj-lt"/>
                <a:cs typeface="Arial" pitchFamily="34" charset="0"/>
              </a:rPr>
              <a:t> </a:t>
            </a:r>
            <a:r>
              <a:rPr lang="fr-CA">
                <a:solidFill>
                  <a:srgbClr val="FF3300"/>
                </a:solidFill>
                <a:latin typeface="+mj-lt"/>
                <a:cs typeface="Arial" pitchFamily="34" charset="0"/>
              </a:rPr>
              <a:t>[</a:t>
            </a:r>
            <a:r>
              <a:rPr lang="fr-CA">
                <a:latin typeface="+mj-lt"/>
                <a:cs typeface="Arial" pitchFamily="34" charset="0"/>
              </a:rPr>
              <a:t>3</a:t>
            </a:r>
            <a:r>
              <a:rPr lang="fr-CA">
                <a:solidFill>
                  <a:srgbClr val="FF3300"/>
                </a:solidFill>
                <a:latin typeface="+mj-lt"/>
                <a:cs typeface="Arial" pitchFamily="34" charset="0"/>
              </a:rPr>
              <a:t>;</a:t>
            </a:r>
            <a:r>
              <a:rPr lang="fr-CA">
                <a:latin typeface="+mj-lt"/>
                <a:cs typeface="Arial" pitchFamily="34" charset="0"/>
              </a:rPr>
              <a:t>7</a:t>
            </a:r>
            <a:r>
              <a:rPr lang="fr-CA">
                <a:solidFill>
                  <a:srgbClr val="FF3300"/>
                </a:solidFill>
                <a:latin typeface="+mj-lt"/>
                <a:cs typeface="Arial" pitchFamily="34" charset="0"/>
              </a:rPr>
              <a:t>;</a:t>
            </a:r>
            <a:r>
              <a:rPr lang="fr-CA">
                <a:latin typeface="+mj-lt"/>
                <a:cs typeface="Arial" pitchFamily="34" charset="0"/>
              </a:rPr>
              <a:t>9</a:t>
            </a:r>
            <a:r>
              <a:rPr lang="fr-CA">
                <a:solidFill>
                  <a:srgbClr val="FF3300"/>
                </a:solidFill>
                <a:latin typeface="+mj-lt"/>
                <a:cs typeface="Arial" pitchFamily="34" charset="0"/>
              </a:rPr>
              <a:t>]</a:t>
            </a:r>
            <a:r>
              <a:rPr lang="fr-CA">
                <a:latin typeface="+mj-lt"/>
                <a:cs typeface="Arial" pitchFamily="34" charset="0"/>
              </a:rPr>
              <a:t>			</a:t>
            </a:r>
            <a:r>
              <a:rPr lang="fr-CA">
                <a:latin typeface="+mj-lt"/>
              </a:rPr>
              <a:t>« </a:t>
            </a:r>
            <a:r>
              <a:rPr lang="fr-CA">
                <a:latin typeface="+mj-lt"/>
                <a:sym typeface="Symbol" pitchFamily="18" charset="2"/>
              </a:rPr>
              <a:t> </a:t>
            </a:r>
            <a:r>
              <a:rPr lang="fr-CA">
                <a:latin typeface="+mj-lt"/>
              </a:rPr>
              <a:t>»</a:t>
            </a:r>
          </a:p>
          <a:p>
            <a:endParaRPr lang="fr-CA">
              <a:latin typeface="+mj-lt"/>
              <a:cs typeface="Arial" pitchFamily="34" charset="0"/>
            </a:endParaRPr>
          </a:p>
          <a:p>
            <a:r>
              <a:rPr lang="fr-CA">
                <a:latin typeface="+mj-lt"/>
                <a:cs typeface="Arial" pitchFamily="34" charset="0"/>
              </a:rPr>
              <a:t>g = </a:t>
            </a:r>
          </a:p>
          <a:p>
            <a:r>
              <a:rPr lang="fr-CA">
                <a:latin typeface="+mj-lt"/>
                <a:cs typeface="Arial" pitchFamily="34" charset="0"/>
              </a:rPr>
              <a:t>	3</a:t>
            </a:r>
          </a:p>
          <a:p>
            <a:r>
              <a:rPr lang="fr-CA">
                <a:latin typeface="+mj-lt"/>
                <a:cs typeface="Arial" pitchFamily="34" charset="0"/>
              </a:rPr>
              <a:t>	7</a:t>
            </a:r>
          </a:p>
          <a:p>
            <a:r>
              <a:rPr lang="fr-CA">
                <a:latin typeface="+mj-lt"/>
                <a:cs typeface="Arial" pitchFamily="34" charset="0"/>
              </a:rPr>
              <a:t>	9</a:t>
            </a:r>
          </a:p>
          <a:p>
            <a:endParaRPr lang="fr-CA">
              <a:latin typeface="+mj-lt"/>
              <a:cs typeface="Arial" pitchFamily="34" charset="0"/>
            </a:endParaRPr>
          </a:p>
          <a:p>
            <a:r>
              <a:rPr lang="fr-CA">
                <a:latin typeface="+mj-lt"/>
                <a:cs typeface="Arial" pitchFamily="34" charset="0"/>
              </a:rPr>
              <a:t>ou</a:t>
            </a:r>
          </a:p>
          <a:p>
            <a:endParaRPr lang="fr-CA">
              <a:latin typeface="+mj-lt"/>
              <a:cs typeface="Arial" pitchFamily="34" charset="0"/>
            </a:endParaRPr>
          </a:p>
          <a:p>
            <a:r>
              <a:rPr lang="fr-CA">
                <a:solidFill>
                  <a:srgbClr val="FF3300"/>
                </a:solidFill>
                <a:latin typeface="+mj-lt"/>
                <a:cs typeface="Arial" pitchFamily="34" charset="0"/>
              </a:rPr>
              <a:t>&gt;&gt;g = [</a:t>
            </a:r>
            <a:r>
              <a:rPr lang="fr-CA">
                <a:latin typeface="+mj-lt"/>
                <a:cs typeface="Arial" pitchFamily="34" charset="0"/>
              </a:rPr>
              <a:t>3</a:t>
            </a:r>
            <a:r>
              <a:rPr lang="fr-CA">
                <a:solidFill>
                  <a:srgbClr val="FF3300"/>
                </a:solidFill>
                <a:latin typeface="+mj-lt"/>
                <a:cs typeface="Arial" pitchFamily="34" charset="0"/>
              </a:rPr>
              <a:t>,</a:t>
            </a:r>
            <a:r>
              <a:rPr lang="fr-CA">
                <a:latin typeface="+mj-lt"/>
                <a:cs typeface="Arial" pitchFamily="34" charset="0"/>
              </a:rPr>
              <a:t>7</a:t>
            </a:r>
            <a:r>
              <a:rPr lang="fr-CA">
                <a:solidFill>
                  <a:srgbClr val="FF3300"/>
                </a:solidFill>
                <a:latin typeface="+mj-lt"/>
                <a:cs typeface="Arial" pitchFamily="34" charset="0"/>
              </a:rPr>
              <a:t>,</a:t>
            </a:r>
            <a:r>
              <a:rPr lang="fr-CA">
                <a:latin typeface="+mj-lt"/>
                <a:cs typeface="Arial" pitchFamily="34" charset="0"/>
              </a:rPr>
              <a:t>9</a:t>
            </a:r>
            <a:r>
              <a:rPr lang="fr-CA">
                <a:solidFill>
                  <a:srgbClr val="FF3300"/>
                </a:solidFill>
                <a:latin typeface="+mj-lt"/>
                <a:cs typeface="Arial" pitchFamily="34" charset="0"/>
              </a:rPr>
              <a:t>]</a:t>
            </a:r>
            <a:r>
              <a:rPr lang="fr-CA" sz="3200">
                <a:solidFill>
                  <a:srgbClr val="FF3300"/>
                </a:solidFill>
                <a:latin typeface="+mj-lt"/>
                <a:cs typeface="Arial" pitchFamily="34" charset="0"/>
              </a:rPr>
              <a:t>´</a:t>
            </a:r>
            <a:r>
              <a:rPr lang="fr-CA">
                <a:latin typeface="+mj-lt"/>
                <a:cs typeface="Arial" pitchFamily="34" charset="0"/>
              </a:rPr>
              <a:t>		</a:t>
            </a:r>
            <a:r>
              <a:rPr lang="fr-CA">
                <a:latin typeface="+mj-lt"/>
              </a:rPr>
              <a:t>« </a:t>
            </a:r>
            <a:r>
              <a:rPr lang="fr-CA">
                <a:latin typeface="+mj-lt"/>
                <a:sym typeface="Symbol" pitchFamily="18" charset="2"/>
              </a:rPr>
              <a:t> </a:t>
            </a:r>
            <a:r>
              <a:rPr lang="fr-CA">
                <a:latin typeface="+mj-lt"/>
              </a:rPr>
              <a:t>»</a:t>
            </a:r>
          </a:p>
          <a:p>
            <a:endParaRPr lang="fr-CA">
              <a:latin typeface="+mj-lt"/>
              <a:cs typeface="Arial" pitchFamily="34" charset="0"/>
            </a:endParaRPr>
          </a:p>
          <a:p>
            <a:r>
              <a:rPr lang="fr-CA">
                <a:latin typeface="+mj-lt"/>
                <a:cs typeface="Arial" pitchFamily="34" charset="0"/>
              </a:rPr>
              <a:t>g = </a:t>
            </a:r>
          </a:p>
          <a:p>
            <a:r>
              <a:rPr lang="fr-CA">
                <a:latin typeface="+mj-lt"/>
                <a:cs typeface="Arial" pitchFamily="34" charset="0"/>
              </a:rPr>
              <a:t>	3</a:t>
            </a:r>
          </a:p>
          <a:p>
            <a:r>
              <a:rPr lang="fr-CA">
                <a:latin typeface="+mj-lt"/>
                <a:cs typeface="Arial" pitchFamily="34" charset="0"/>
              </a:rPr>
              <a:t>	7</a:t>
            </a:r>
          </a:p>
          <a:p>
            <a:r>
              <a:rPr lang="fr-CA">
                <a:latin typeface="+mj-lt"/>
                <a:cs typeface="Arial" pitchFamily="34" charset="0"/>
              </a:rPr>
              <a:t>	9</a:t>
            </a:r>
          </a:p>
        </p:txBody>
      </p:sp>
      <p:grpSp>
        <p:nvGrpSpPr>
          <p:cNvPr id="2" name="Group 12"/>
          <p:cNvGrpSpPr>
            <a:grpSpLocks/>
          </p:cNvGrpSpPr>
          <p:nvPr/>
        </p:nvGrpSpPr>
        <p:grpSpPr bwMode="auto">
          <a:xfrm>
            <a:off x="2124075" y="1341437"/>
            <a:ext cx="6448426" cy="1187449"/>
            <a:chOff x="1344" y="1056"/>
            <a:chExt cx="4062" cy="748"/>
          </a:xfrm>
        </p:grpSpPr>
        <p:sp>
          <p:nvSpPr>
            <p:cNvPr id="15366" name="Line 6"/>
            <p:cNvSpPr>
              <a:spLocks noChangeShapeType="1"/>
            </p:cNvSpPr>
            <p:nvPr/>
          </p:nvSpPr>
          <p:spPr bwMode="auto">
            <a:xfrm flipH="1" flipV="1">
              <a:off x="1344" y="1056"/>
              <a:ext cx="1776" cy="624"/>
            </a:xfrm>
            <a:prstGeom prst="line">
              <a:avLst/>
            </a:prstGeom>
            <a:noFill/>
            <a:ln w="19050">
              <a:solidFill>
                <a:schemeClr val="accent2"/>
              </a:solidFill>
              <a:round/>
              <a:headEnd/>
              <a:tailEnd type="triangle" w="med" len="med"/>
            </a:ln>
            <a:effectLst/>
          </p:spPr>
          <p:txBody>
            <a:bodyPr/>
            <a:lstStyle/>
            <a:p>
              <a:endParaRPr lang="fr-FR">
                <a:latin typeface="+mj-lt"/>
              </a:endParaRPr>
            </a:p>
          </p:txBody>
        </p:sp>
        <p:sp>
          <p:nvSpPr>
            <p:cNvPr id="15367" name="Text Box 7"/>
            <p:cNvSpPr txBox="1">
              <a:spLocks noChangeArrowheads="1"/>
            </p:cNvSpPr>
            <p:nvPr/>
          </p:nvSpPr>
          <p:spPr bwMode="auto">
            <a:xfrm>
              <a:off x="3062" y="1513"/>
              <a:ext cx="2344" cy="291"/>
            </a:xfrm>
            <a:prstGeom prst="rect">
              <a:avLst/>
            </a:prstGeom>
            <a:noFill/>
            <a:ln w="9525">
              <a:noFill/>
              <a:miter lim="800000"/>
              <a:headEnd/>
              <a:tailEnd/>
            </a:ln>
            <a:effectLst/>
          </p:spPr>
          <p:txBody>
            <a:bodyPr wrap="square">
              <a:spAutoFit/>
            </a:bodyPr>
            <a:lstStyle/>
            <a:p>
              <a:r>
                <a:rPr lang="fr-CA" dirty="0">
                  <a:solidFill>
                    <a:srgbClr val="CC3300"/>
                  </a:solidFill>
                  <a:latin typeface="+mj-lt"/>
                  <a:cs typeface="Arial" pitchFamily="34" charset="0"/>
                </a:rPr>
                <a:t> </a:t>
              </a:r>
              <a:r>
                <a:rPr lang="fr-CA" b="1" dirty="0" smtClean="0">
                  <a:solidFill>
                    <a:srgbClr val="FF0000"/>
                  </a:solidFill>
                  <a:latin typeface="+mj-lt"/>
                  <a:cs typeface="Arial" pitchFamily="34" charset="0"/>
                </a:rPr>
                <a:t>;</a:t>
              </a:r>
              <a:r>
                <a:rPr lang="fr-CA" dirty="0" smtClean="0">
                  <a:solidFill>
                    <a:srgbClr val="CC3300"/>
                  </a:solidFill>
                  <a:latin typeface="+mj-lt"/>
                  <a:cs typeface="Arial" pitchFamily="34" charset="0"/>
                </a:rPr>
                <a:t> </a:t>
              </a:r>
              <a:r>
                <a:rPr lang="fr-CA" dirty="0" smtClean="0">
                  <a:solidFill>
                    <a:schemeClr val="accent2"/>
                  </a:solidFill>
                  <a:effectLst>
                    <a:outerShdw blurRad="38100" dist="38100" dir="2700000" algn="tl">
                      <a:srgbClr val="C0C0C0"/>
                    </a:outerShdw>
                  </a:effectLst>
                  <a:latin typeface="+mj-lt"/>
                  <a:cs typeface="Arial" pitchFamily="34" charset="0"/>
                </a:rPr>
                <a:t>Séparateur </a:t>
              </a:r>
              <a:r>
                <a:rPr lang="fr-CA" dirty="0">
                  <a:solidFill>
                    <a:schemeClr val="accent2"/>
                  </a:solidFill>
                  <a:effectLst>
                    <a:outerShdw blurRad="38100" dist="38100" dir="2700000" algn="tl">
                      <a:srgbClr val="C0C0C0"/>
                    </a:outerShdw>
                  </a:effectLst>
                  <a:latin typeface="+mj-lt"/>
                  <a:cs typeface="Arial" pitchFamily="34" charset="0"/>
                </a:rPr>
                <a:t>pour </a:t>
              </a:r>
              <a:r>
                <a:rPr lang="fr-CA" dirty="0" smtClean="0">
                  <a:solidFill>
                    <a:schemeClr val="accent2"/>
                  </a:solidFill>
                  <a:effectLst>
                    <a:outerShdw blurRad="38100" dist="38100" dir="2700000" algn="tl">
                      <a:srgbClr val="C0C0C0"/>
                    </a:outerShdw>
                  </a:effectLst>
                  <a:latin typeface="+mj-lt"/>
                  <a:cs typeface="Arial" pitchFamily="34" charset="0"/>
                </a:rPr>
                <a:t>les lignes</a:t>
              </a:r>
              <a:endParaRPr lang="fr-CA" dirty="0">
                <a:solidFill>
                  <a:schemeClr val="accent2"/>
                </a:solidFill>
                <a:effectLst>
                  <a:outerShdw blurRad="38100" dist="38100" dir="2700000" algn="tl">
                    <a:srgbClr val="C0C0C0"/>
                  </a:outerShdw>
                </a:effectLst>
                <a:latin typeface="+mj-lt"/>
                <a:cs typeface="Arial" pitchFamily="34" charset="0"/>
              </a:endParaRPr>
            </a:p>
          </p:txBody>
        </p:sp>
      </p:grpSp>
      <p:grpSp>
        <p:nvGrpSpPr>
          <p:cNvPr id="3" name="Group 18"/>
          <p:cNvGrpSpPr>
            <a:grpSpLocks/>
          </p:cNvGrpSpPr>
          <p:nvPr/>
        </p:nvGrpSpPr>
        <p:grpSpPr bwMode="auto">
          <a:xfrm>
            <a:off x="2771775" y="4437065"/>
            <a:ext cx="4089401" cy="1147763"/>
            <a:chOff x="1584" y="2784"/>
            <a:chExt cx="2576" cy="723"/>
          </a:xfrm>
        </p:grpSpPr>
        <p:sp>
          <p:nvSpPr>
            <p:cNvPr id="15369" name="Line 9"/>
            <p:cNvSpPr>
              <a:spLocks noChangeShapeType="1"/>
            </p:cNvSpPr>
            <p:nvPr/>
          </p:nvSpPr>
          <p:spPr bwMode="auto">
            <a:xfrm flipH="1" flipV="1">
              <a:off x="1584" y="2784"/>
              <a:ext cx="1584" cy="624"/>
            </a:xfrm>
            <a:prstGeom prst="line">
              <a:avLst/>
            </a:prstGeom>
            <a:noFill/>
            <a:ln w="19050">
              <a:solidFill>
                <a:schemeClr val="accent2"/>
              </a:solidFill>
              <a:round/>
              <a:headEnd/>
              <a:tailEnd type="triangle" w="med" len="med"/>
            </a:ln>
            <a:effectLst/>
          </p:spPr>
          <p:txBody>
            <a:bodyPr/>
            <a:lstStyle/>
            <a:p>
              <a:endParaRPr lang="fr-FR">
                <a:latin typeface="+mj-lt"/>
              </a:endParaRPr>
            </a:p>
          </p:txBody>
        </p:sp>
        <p:sp>
          <p:nvSpPr>
            <p:cNvPr id="15370" name="Text Box 10"/>
            <p:cNvSpPr txBox="1">
              <a:spLocks noChangeArrowheads="1"/>
            </p:cNvSpPr>
            <p:nvPr/>
          </p:nvSpPr>
          <p:spPr bwMode="auto">
            <a:xfrm>
              <a:off x="3168" y="3216"/>
              <a:ext cx="992" cy="291"/>
            </a:xfrm>
            <a:prstGeom prst="rect">
              <a:avLst/>
            </a:prstGeom>
            <a:noFill/>
            <a:ln w="9525">
              <a:noFill/>
              <a:miter lim="800000"/>
              <a:headEnd/>
              <a:tailEnd/>
            </a:ln>
            <a:effectLst/>
          </p:spPr>
          <p:txBody>
            <a:bodyPr wrap="none">
              <a:spAutoFit/>
            </a:bodyPr>
            <a:lstStyle/>
            <a:p>
              <a:r>
                <a:rPr lang="fr-CA">
                  <a:solidFill>
                    <a:schemeClr val="accent2"/>
                  </a:solidFill>
                  <a:effectLst>
                    <a:outerShdw blurRad="38100" dist="38100" dir="2700000" algn="tl">
                      <a:srgbClr val="C0C0C0"/>
                    </a:outerShdw>
                  </a:effectLst>
                  <a:latin typeface="+mj-lt"/>
                  <a:cs typeface="Arial" pitchFamily="34" charset="0"/>
                </a:rPr>
                <a:t>Transposée</a:t>
              </a:r>
            </a:p>
          </p:txBody>
        </p:sp>
      </p:grpSp>
      <p:sp>
        <p:nvSpPr>
          <p:cNvPr id="15376" name="Text Box 16"/>
          <p:cNvSpPr txBox="1">
            <a:spLocks noChangeArrowheads="1"/>
          </p:cNvSpPr>
          <p:nvPr/>
        </p:nvSpPr>
        <p:spPr bwMode="auto">
          <a:xfrm>
            <a:off x="2643174" y="0"/>
            <a:ext cx="3843338" cy="584775"/>
          </a:xfrm>
          <a:prstGeom prst="rect">
            <a:avLst/>
          </a:prstGeom>
          <a:noFill/>
          <a:ln w="9525">
            <a:noFill/>
            <a:miter lim="800000"/>
            <a:headEnd/>
            <a:tailEnd/>
          </a:ln>
          <a:effectLst/>
        </p:spPr>
        <p:txBody>
          <a:bodyPr wrap="square">
            <a:spAutoFit/>
          </a:bodyPr>
          <a:lstStyle/>
          <a:p>
            <a:r>
              <a:rPr lang="fr-CA" sz="3200" dirty="0">
                <a:effectLst>
                  <a:outerShdw blurRad="38100" dist="38100" dir="2700000" algn="tl">
                    <a:srgbClr val="C0C0C0"/>
                  </a:outerShdw>
                </a:effectLst>
                <a:latin typeface="+mj-lt"/>
                <a:cs typeface="Arial" pitchFamily="34" charset="0"/>
              </a:rPr>
              <a:t>Vecteurs</a:t>
            </a:r>
            <a:r>
              <a:rPr lang="fr-CA" sz="3200" dirty="0">
                <a:latin typeface="+mj-lt"/>
                <a:cs typeface="Arial" pitchFamily="34" charset="0"/>
              </a:rPr>
              <a:t> (suite)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additive="base">
                                        <p:cTn id="7" dur="500" fill="hold"/>
                                        <p:tgtEl>
                                          <p:spTgt spid="15363"/>
                                        </p:tgtEl>
                                        <p:attrNameLst>
                                          <p:attrName>ppt_x</p:attrName>
                                        </p:attrNameLst>
                                      </p:cBhvr>
                                      <p:tavLst>
                                        <p:tav tm="0">
                                          <p:val>
                                            <p:strVal val="0-#ppt_w/2"/>
                                          </p:val>
                                        </p:tav>
                                        <p:tav tm="100000">
                                          <p:val>
                                            <p:strVal val="#ppt_x"/>
                                          </p:val>
                                        </p:tav>
                                      </p:tavLst>
                                    </p:anim>
                                    <p:anim calcmode="lin" valueType="num">
                                      <p:cBhvr additive="base">
                                        <p:cTn id="8" dur="500" fill="hold"/>
                                        <p:tgtEl>
                                          <p:spTgt spid="1536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3"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Espace réservé du numéro de diapositive 3"/>
          <p:cNvSpPr>
            <a:spLocks noGrp="1"/>
          </p:cNvSpPr>
          <p:nvPr>
            <p:ph type="sldNum" sz="quarter" idx="12"/>
          </p:nvPr>
        </p:nvSpPr>
        <p:spPr/>
        <p:txBody>
          <a:bodyPr/>
          <a:lstStyle/>
          <a:p>
            <a:fld id="{316688AB-2605-426C-AC9A-56E61EBBBCAB}" type="slidenum">
              <a:rPr lang="fr-CA">
                <a:latin typeface="+mj-lt"/>
              </a:rPr>
              <a:pPr/>
              <a:t>66</a:t>
            </a:fld>
            <a:endParaRPr lang="fr-CA">
              <a:latin typeface="+mj-lt"/>
            </a:endParaRPr>
          </a:p>
        </p:txBody>
      </p:sp>
      <p:sp>
        <p:nvSpPr>
          <p:cNvPr id="16386" name="Text Box 2"/>
          <p:cNvSpPr txBox="1">
            <a:spLocks noChangeArrowheads="1"/>
          </p:cNvSpPr>
          <p:nvPr/>
        </p:nvSpPr>
        <p:spPr bwMode="auto">
          <a:xfrm>
            <a:off x="2214546" y="142852"/>
            <a:ext cx="4383710" cy="584775"/>
          </a:xfrm>
          <a:prstGeom prst="rect">
            <a:avLst/>
          </a:prstGeom>
          <a:noFill/>
          <a:ln w="9525">
            <a:noFill/>
            <a:miter lim="800000"/>
            <a:headEnd/>
            <a:tailEnd/>
          </a:ln>
          <a:effectLst/>
        </p:spPr>
        <p:txBody>
          <a:bodyPr wrap="square">
            <a:spAutoFit/>
          </a:bodyPr>
          <a:lstStyle/>
          <a:p>
            <a:r>
              <a:rPr lang="fr-CA" sz="3200" dirty="0">
                <a:latin typeface="+mj-lt"/>
                <a:cs typeface="Arial" pitchFamily="34" charset="0"/>
              </a:rPr>
              <a:t>Création d’une matrice</a:t>
            </a:r>
          </a:p>
        </p:txBody>
      </p:sp>
      <p:sp>
        <p:nvSpPr>
          <p:cNvPr id="16387" name="Text Box 3"/>
          <p:cNvSpPr txBox="1">
            <a:spLocks noChangeArrowheads="1"/>
          </p:cNvSpPr>
          <p:nvPr/>
        </p:nvSpPr>
        <p:spPr bwMode="auto">
          <a:xfrm>
            <a:off x="517525" y="1025525"/>
            <a:ext cx="4541628" cy="1569660"/>
          </a:xfrm>
          <a:prstGeom prst="rect">
            <a:avLst/>
          </a:prstGeom>
          <a:noFill/>
          <a:ln w="9525">
            <a:noFill/>
            <a:miter lim="800000"/>
            <a:headEnd/>
            <a:tailEnd/>
          </a:ln>
          <a:effectLst/>
        </p:spPr>
        <p:txBody>
          <a:bodyPr wrap="none">
            <a:spAutoFit/>
          </a:bodyPr>
          <a:lstStyle/>
          <a:p>
            <a:r>
              <a:rPr lang="fr-CA">
                <a:solidFill>
                  <a:srgbClr val="FF3300"/>
                </a:solidFill>
                <a:latin typeface="+mj-lt"/>
                <a:cs typeface="Arial" pitchFamily="34" charset="0"/>
              </a:rPr>
              <a:t>&gt;&gt;A = [</a:t>
            </a:r>
            <a:r>
              <a:rPr lang="fr-CA">
                <a:latin typeface="+mj-lt"/>
                <a:cs typeface="Arial" pitchFamily="34" charset="0"/>
              </a:rPr>
              <a:t>2</a:t>
            </a:r>
            <a:r>
              <a:rPr lang="fr-CA">
                <a:solidFill>
                  <a:srgbClr val="FF3300"/>
                </a:solidFill>
                <a:latin typeface="+mj-lt"/>
                <a:cs typeface="Arial" pitchFamily="34" charset="0"/>
              </a:rPr>
              <a:t>,</a:t>
            </a:r>
            <a:r>
              <a:rPr lang="fr-CA">
                <a:latin typeface="+mj-lt"/>
                <a:cs typeface="Arial" pitchFamily="34" charset="0"/>
              </a:rPr>
              <a:t>4</a:t>
            </a:r>
            <a:r>
              <a:rPr lang="fr-CA">
                <a:solidFill>
                  <a:srgbClr val="FF3300"/>
                </a:solidFill>
                <a:latin typeface="+mj-lt"/>
                <a:cs typeface="Arial" pitchFamily="34" charset="0"/>
              </a:rPr>
              <a:t>,</a:t>
            </a:r>
            <a:r>
              <a:rPr lang="fr-CA">
                <a:latin typeface="+mj-lt"/>
                <a:cs typeface="Arial" pitchFamily="34" charset="0"/>
              </a:rPr>
              <a:t>10</a:t>
            </a:r>
            <a:r>
              <a:rPr lang="fr-CA">
                <a:solidFill>
                  <a:srgbClr val="FF3300"/>
                </a:solidFill>
                <a:latin typeface="+mj-lt"/>
                <a:cs typeface="Arial" pitchFamily="34" charset="0"/>
              </a:rPr>
              <a:t>;</a:t>
            </a:r>
            <a:r>
              <a:rPr lang="fr-CA">
                <a:latin typeface="+mj-lt"/>
                <a:cs typeface="Arial" pitchFamily="34" charset="0"/>
              </a:rPr>
              <a:t>16</a:t>
            </a:r>
            <a:r>
              <a:rPr lang="fr-CA">
                <a:solidFill>
                  <a:srgbClr val="FF3300"/>
                </a:solidFill>
                <a:latin typeface="+mj-lt"/>
                <a:cs typeface="Arial" pitchFamily="34" charset="0"/>
              </a:rPr>
              <a:t>,</a:t>
            </a:r>
            <a:r>
              <a:rPr lang="fr-CA">
                <a:latin typeface="+mj-lt"/>
                <a:cs typeface="Arial" pitchFamily="34" charset="0"/>
              </a:rPr>
              <a:t>3</a:t>
            </a:r>
            <a:r>
              <a:rPr lang="fr-CA">
                <a:solidFill>
                  <a:srgbClr val="FF3300"/>
                </a:solidFill>
                <a:latin typeface="+mj-lt"/>
                <a:cs typeface="Arial" pitchFamily="34" charset="0"/>
              </a:rPr>
              <a:t>,</a:t>
            </a:r>
            <a:r>
              <a:rPr lang="fr-CA">
                <a:latin typeface="+mj-lt"/>
                <a:cs typeface="Arial" pitchFamily="34" charset="0"/>
              </a:rPr>
              <a:t>7</a:t>
            </a:r>
            <a:r>
              <a:rPr lang="fr-CA">
                <a:solidFill>
                  <a:srgbClr val="FF3300"/>
                </a:solidFill>
                <a:latin typeface="+mj-lt"/>
                <a:cs typeface="Arial" pitchFamily="34" charset="0"/>
              </a:rPr>
              <a:t>]</a:t>
            </a:r>
            <a:r>
              <a:rPr lang="fr-CA">
                <a:latin typeface="+mj-lt"/>
                <a:cs typeface="Arial" pitchFamily="34" charset="0"/>
              </a:rPr>
              <a:t>		</a:t>
            </a:r>
            <a:r>
              <a:rPr lang="fr-CA">
                <a:latin typeface="+mj-lt"/>
              </a:rPr>
              <a:t>« </a:t>
            </a:r>
            <a:r>
              <a:rPr lang="fr-CA">
                <a:latin typeface="+mj-lt"/>
                <a:sym typeface="Symbol" pitchFamily="18" charset="2"/>
              </a:rPr>
              <a:t> </a:t>
            </a:r>
            <a:r>
              <a:rPr lang="fr-CA">
                <a:latin typeface="+mj-lt"/>
              </a:rPr>
              <a:t>»</a:t>
            </a:r>
          </a:p>
          <a:p>
            <a:r>
              <a:rPr lang="fr-CA">
                <a:latin typeface="+mj-lt"/>
                <a:cs typeface="Arial" pitchFamily="34" charset="0"/>
              </a:rPr>
              <a:t>A =</a:t>
            </a:r>
          </a:p>
          <a:p>
            <a:r>
              <a:rPr lang="fr-CA">
                <a:latin typeface="+mj-lt"/>
                <a:cs typeface="Arial" pitchFamily="34" charset="0"/>
              </a:rPr>
              <a:t>	  2    4    10</a:t>
            </a:r>
          </a:p>
          <a:p>
            <a:r>
              <a:rPr lang="fr-CA">
                <a:latin typeface="+mj-lt"/>
                <a:cs typeface="Arial" pitchFamily="34" charset="0"/>
              </a:rPr>
              <a:t>	16    3      7</a:t>
            </a:r>
          </a:p>
        </p:txBody>
      </p:sp>
      <p:sp>
        <p:nvSpPr>
          <p:cNvPr id="16388" name="Text Box 4"/>
          <p:cNvSpPr txBox="1">
            <a:spLocks noChangeArrowheads="1"/>
          </p:cNvSpPr>
          <p:nvPr/>
        </p:nvSpPr>
        <p:spPr bwMode="auto">
          <a:xfrm>
            <a:off x="517525" y="2701925"/>
            <a:ext cx="5549917" cy="830997"/>
          </a:xfrm>
          <a:prstGeom prst="rect">
            <a:avLst/>
          </a:prstGeom>
          <a:noFill/>
          <a:ln w="9525">
            <a:noFill/>
            <a:miter lim="800000"/>
            <a:headEnd/>
            <a:tailEnd/>
          </a:ln>
          <a:effectLst/>
        </p:spPr>
        <p:txBody>
          <a:bodyPr wrap="none">
            <a:spAutoFit/>
          </a:bodyPr>
          <a:lstStyle/>
          <a:p>
            <a:r>
              <a:rPr lang="fr-CA">
                <a:solidFill>
                  <a:srgbClr val="FF3300"/>
                </a:solidFill>
                <a:latin typeface="+mj-lt"/>
                <a:cs typeface="Arial" pitchFamily="34" charset="0"/>
              </a:rPr>
              <a:t>&gt;&gt;a = [</a:t>
            </a:r>
            <a:r>
              <a:rPr lang="fr-CA">
                <a:latin typeface="+mj-lt"/>
                <a:cs typeface="Arial" pitchFamily="34" charset="0"/>
              </a:rPr>
              <a:t>1,3,5</a:t>
            </a:r>
            <a:r>
              <a:rPr lang="fr-CA">
                <a:solidFill>
                  <a:srgbClr val="FF3300"/>
                </a:solidFill>
                <a:latin typeface="+mj-lt"/>
                <a:cs typeface="Arial" pitchFamily="34" charset="0"/>
              </a:rPr>
              <a:t>];			 </a:t>
            </a:r>
            <a:r>
              <a:rPr lang="fr-CA">
                <a:latin typeface="+mj-lt"/>
              </a:rPr>
              <a:t>« </a:t>
            </a:r>
            <a:r>
              <a:rPr lang="fr-CA">
                <a:latin typeface="+mj-lt"/>
                <a:sym typeface="Symbol" pitchFamily="18" charset="2"/>
              </a:rPr>
              <a:t> </a:t>
            </a:r>
            <a:r>
              <a:rPr lang="fr-CA">
                <a:latin typeface="+mj-lt"/>
              </a:rPr>
              <a:t>»</a:t>
            </a:r>
            <a:endParaRPr lang="fr-CA">
              <a:solidFill>
                <a:srgbClr val="FF3300"/>
              </a:solidFill>
              <a:latin typeface="+mj-lt"/>
              <a:cs typeface="Arial" pitchFamily="34" charset="0"/>
            </a:endParaRPr>
          </a:p>
          <a:p>
            <a:r>
              <a:rPr lang="fr-CA">
                <a:solidFill>
                  <a:srgbClr val="FF3300"/>
                </a:solidFill>
                <a:latin typeface="+mj-lt"/>
                <a:cs typeface="Arial" pitchFamily="34" charset="0"/>
              </a:rPr>
              <a:t>&gt;&gt;b = [</a:t>
            </a:r>
            <a:r>
              <a:rPr lang="fr-CA">
                <a:latin typeface="+mj-lt"/>
                <a:cs typeface="Arial" pitchFamily="34" charset="0"/>
              </a:rPr>
              <a:t>7,9,11</a:t>
            </a:r>
            <a:r>
              <a:rPr lang="fr-CA">
                <a:solidFill>
                  <a:srgbClr val="FF3300"/>
                </a:solidFill>
                <a:latin typeface="+mj-lt"/>
                <a:cs typeface="Arial" pitchFamily="34" charset="0"/>
              </a:rPr>
              <a:t>];			 </a:t>
            </a:r>
            <a:r>
              <a:rPr lang="fr-CA">
                <a:latin typeface="+mj-lt"/>
              </a:rPr>
              <a:t>« </a:t>
            </a:r>
            <a:r>
              <a:rPr lang="fr-CA">
                <a:latin typeface="+mj-lt"/>
                <a:sym typeface="Symbol" pitchFamily="18" charset="2"/>
              </a:rPr>
              <a:t> </a:t>
            </a:r>
            <a:r>
              <a:rPr lang="fr-CA">
                <a:latin typeface="+mj-lt"/>
              </a:rPr>
              <a:t>»</a:t>
            </a:r>
          </a:p>
        </p:txBody>
      </p:sp>
      <p:sp>
        <p:nvSpPr>
          <p:cNvPr id="16389" name="Text Box 5"/>
          <p:cNvSpPr txBox="1">
            <a:spLocks noChangeArrowheads="1"/>
          </p:cNvSpPr>
          <p:nvPr/>
        </p:nvSpPr>
        <p:spPr bwMode="auto">
          <a:xfrm>
            <a:off x="517525" y="3576638"/>
            <a:ext cx="5549917" cy="1200329"/>
          </a:xfrm>
          <a:prstGeom prst="rect">
            <a:avLst/>
          </a:prstGeom>
          <a:noFill/>
          <a:ln w="9525">
            <a:noFill/>
            <a:miter lim="800000"/>
            <a:headEnd/>
            <a:tailEnd/>
          </a:ln>
          <a:effectLst/>
        </p:spPr>
        <p:txBody>
          <a:bodyPr wrap="none">
            <a:spAutoFit/>
          </a:bodyPr>
          <a:lstStyle/>
          <a:p>
            <a:r>
              <a:rPr lang="fr-CA" dirty="0">
                <a:solidFill>
                  <a:srgbClr val="FF3300"/>
                </a:solidFill>
                <a:latin typeface="+mj-lt"/>
                <a:cs typeface="Arial" pitchFamily="34" charset="0"/>
              </a:rPr>
              <a:t>&gt;&gt;c = [</a:t>
            </a:r>
            <a:r>
              <a:rPr lang="fr-CA" dirty="0">
                <a:latin typeface="+mj-lt"/>
                <a:cs typeface="Arial" pitchFamily="34" charset="0"/>
              </a:rPr>
              <a:t>a b</a:t>
            </a:r>
            <a:r>
              <a:rPr lang="fr-CA" dirty="0">
                <a:solidFill>
                  <a:srgbClr val="FF3300"/>
                </a:solidFill>
                <a:latin typeface="+mj-lt"/>
                <a:cs typeface="Arial" pitchFamily="34" charset="0"/>
              </a:rPr>
              <a:t>]				 </a:t>
            </a:r>
            <a:r>
              <a:rPr lang="fr-CA" dirty="0">
                <a:latin typeface="+mj-lt"/>
              </a:rPr>
              <a:t>« </a:t>
            </a:r>
            <a:r>
              <a:rPr lang="fr-CA" dirty="0">
                <a:latin typeface="+mj-lt"/>
                <a:sym typeface="Symbol" pitchFamily="18" charset="2"/>
              </a:rPr>
              <a:t> </a:t>
            </a:r>
            <a:r>
              <a:rPr lang="fr-CA" dirty="0">
                <a:latin typeface="+mj-lt"/>
              </a:rPr>
              <a:t>»</a:t>
            </a:r>
            <a:endParaRPr lang="fr-CA" dirty="0">
              <a:latin typeface="+mj-lt"/>
              <a:cs typeface="Arial" pitchFamily="34" charset="0"/>
            </a:endParaRPr>
          </a:p>
          <a:p>
            <a:r>
              <a:rPr lang="fr-CA" dirty="0">
                <a:latin typeface="+mj-lt"/>
                <a:cs typeface="Arial" pitchFamily="34" charset="0"/>
              </a:rPr>
              <a:t>c =</a:t>
            </a:r>
          </a:p>
          <a:p>
            <a:r>
              <a:rPr lang="fr-CA" dirty="0">
                <a:latin typeface="+mj-lt"/>
                <a:cs typeface="Arial" pitchFamily="34" charset="0"/>
              </a:rPr>
              <a:t>	1   3   5    7    9    11</a:t>
            </a:r>
          </a:p>
        </p:txBody>
      </p:sp>
      <p:sp>
        <p:nvSpPr>
          <p:cNvPr id="16390" name="Text Box 6"/>
          <p:cNvSpPr txBox="1">
            <a:spLocks noChangeArrowheads="1"/>
          </p:cNvSpPr>
          <p:nvPr/>
        </p:nvSpPr>
        <p:spPr bwMode="auto">
          <a:xfrm>
            <a:off x="517525" y="4987925"/>
            <a:ext cx="5549917" cy="1569660"/>
          </a:xfrm>
          <a:prstGeom prst="rect">
            <a:avLst/>
          </a:prstGeom>
          <a:noFill/>
          <a:ln w="9525">
            <a:noFill/>
            <a:miter lim="800000"/>
            <a:headEnd/>
            <a:tailEnd/>
          </a:ln>
          <a:effectLst/>
        </p:spPr>
        <p:txBody>
          <a:bodyPr wrap="none">
            <a:spAutoFit/>
          </a:bodyPr>
          <a:lstStyle/>
          <a:p>
            <a:r>
              <a:rPr lang="fr-CA">
                <a:solidFill>
                  <a:srgbClr val="FF3300"/>
                </a:solidFill>
                <a:latin typeface="+mj-lt"/>
                <a:cs typeface="Arial" pitchFamily="34" charset="0"/>
              </a:rPr>
              <a:t>&gt;&gt;D = [</a:t>
            </a:r>
            <a:r>
              <a:rPr lang="fr-CA">
                <a:latin typeface="+mj-lt"/>
                <a:cs typeface="Arial" pitchFamily="34" charset="0"/>
              </a:rPr>
              <a:t>a</a:t>
            </a:r>
            <a:r>
              <a:rPr lang="fr-CA">
                <a:solidFill>
                  <a:srgbClr val="FF3300"/>
                </a:solidFill>
                <a:latin typeface="+mj-lt"/>
                <a:cs typeface="Arial" pitchFamily="34" charset="0"/>
              </a:rPr>
              <a:t>;</a:t>
            </a:r>
            <a:r>
              <a:rPr lang="fr-CA">
                <a:latin typeface="+mj-lt"/>
                <a:cs typeface="Arial" pitchFamily="34" charset="0"/>
              </a:rPr>
              <a:t>b</a:t>
            </a:r>
            <a:r>
              <a:rPr lang="fr-CA">
                <a:solidFill>
                  <a:srgbClr val="FF3300"/>
                </a:solidFill>
                <a:latin typeface="+mj-lt"/>
                <a:cs typeface="Arial" pitchFamily="34" charset="0"/>
              </a:rPr>
              <a:t>]</a:t>
            </a:r>
            <a:r>
              <a:rPr lang="fr-CA">
                <a:latin typeface="+mj-lt"/>
                <a:cs typeface="Arial" pitchFamily="34" charset="0"/>
              </a:rPr>
              <a:t>				 </a:t>
            </a:r>
            <a:r>
              <a:rPr lang="fr-CA">
                <a:latin typeface="+mj-lt"/>
              </a:rPr>
              <a:t>« </a:t>
            </a:r>
            <a:r>
              <a:rPr lang="fr-CA">
                <a:latin typeface="+mj-lt"/>
                <a:sym typeface="Symbol" pitchFamily="18" charset="2"/>
              </a:rPr>
              <a:t> </a:t>
            </a:r>
            <a:r>
              <a:rPr lang="fr-CA">
                <a:latin typeface="+mj-lt"/>
              </a:rPr>
              <a:t>»</a:t>
            </a:r>
            <a:endParaRPr lang="fr-CA">
              <a:solidFill>
                <a:srgbClr val="FF3300"/>
              </a:solidFill>
              <a:latin typeface="+mj-lt"/>
              <a:cs typeface="Arial" pitchFamily="34" charset="0"/>
            </a:endParaRPr>
          </a:p>
          <a:p>
            <a:r>
              <a:rPr lang="fr-CA">
                <a:latin typeface="+mj-lt"/>
                <a:cs typeface="Arial" pitchFamily="34" charset="0"/>
              </a:rPr>
              <a:t>D =</a:t>
            </a:r>
          </a:p>
          <a:p>
            <a:r>
              <a:rPr lang="fr-CA">
                <a:latin typeface="+mj-lt"/>
                <a:cs typeface="Arial" pitchFamily="34" charset="0"/>
              </a:rPr>
              <a:t>	1    3     5</a:t>
            </a:r>
          </a:p>
          <a:p>
            <a:r>
              <a:rPr lang="fr-CA">
                <a:latin typeface="+mj-lt"/>
                <a:cs typeface="Arial" pitchFamily="34" charset="0"/>
              </a:rPr>
              <a:t>	7    9   11</a:t>
            </a:r>
          </a:p>
        </p:txBody>
      </p:sp>
      <p:grpSp>
        <p:nvGrpSpPr>
          <p:cNvPr id="2" name="Group 20"/>
          <p:cNvGrpSpPr>
            <a:grpSpLocks/>
          </p:cNvGrpSpPr>
          <p:nvPr/>
        </p:nvGrpSpPr>
        <p:grpSpPr bwMode="auto">
          <a:xfrm>
            <a:off x="2051050" y="1412875"/>
            <a:ext cx="6792918" cy="1544639"/>
            <a:chOff x="1296" y="864"/>
            <a:chExt cx="4279" cy="973"/>
          </a:xfrm>
        </p:grpSpPr>
        <p:sp>
          <p:nvSpPr>
            <p:cNvPr id="16391" name="Line 7"/>
            <p:cNvSpPr>
              <a:spLocks noChangeShapeType="1"/>
            </p:cNvSpPr>
            <p:nvPr/>
          </p:nvSpPr>
          <p:spPr bwMode="auto">
            <a:xfrm flipH="1" flipV="1">
              <a:off x="1296" y="864"/>
              <a:ext cx="2064" cy="384"/>
            </a:xfrm>
            <a:prstGeom prst="line">
              <a:avLst/>
            </a:prstGeom>
            <a:noFill/>
            <a:ln w="19050">
              <a:solidFill>
                <a:schemeClr val="accent2"/>
              </a:solidFill>
              <a:round/>
              <a:headEnd/>
              <a:tailEnd type="triangle" w="med" len="med"/>
            </a:ln>
            <a:effectLst/>
          </p:spPr>
          <p:txBody>
            <a:bodyPr/>
            <a:lstStyle/>
            <a:p>
              <a:endParaRPr lang="fr-FR">
                <a:latin typeface="+mj-lt"/>
              </a:endParaRPr>
            </a:p>
          </p:txBody>
        </p:sp>
        <p:sp>
          <p:nvSpPr>
            <p:cNvPr id="16392" name="Line 8"/>
            <p:cNvSpPr>
              <a:spLocks noChangeShapeType="1"/>
            </p:cNvSpPr>
            <p:nvPr/>
          </p:nvSpPr>
          <p:spPr bwMode="auto">
            <a:xfrm flipH="1" flipV="1">
              <a:off x="1632" y="864"/>
              <a:ext cx="1728" cy="384"/>
            </a:xfrm>
            <a:prstGeom prst="line">
              <a:avLst/>
            </a:prstGeom>
            <a:noFill/>
            <a:ln w="19050">
              <a:solidFill>
                <a:schemeClr val="accent2"/>
              </a:solidFill>
              <a:round/>
              <a:headEnd/>
              <a:tailEnd type="triangle" w="med" len="med"/>
            </a:ln>
            <a:effectLst/>
          </p:spPr>
          <p:txBody>
            <a:bodyPr/>
            <a:lstStyle/>
            <a:p>
              <a:endParaRPr lang="fr-FR">
                <a:latin typeface="+mj-lt"/>
              </a:endParaRPr>
            </a:p>
          </p:txBody>
        </p:sp>
        <p:sp>
          <p:nvSpPr>
            <p:cNvPr id="16393" name="Text Box 9"/>
            <p:cNvSpPr txBox="1">
              <a:spLocks noChangeArrowheads="1"/>
            </p:cNvSpPr>
            <p:nvPr/>
          </p:nvSpPr>
          <p:spPr bwMode="auto">
            <a:xfrm>
              <a:off x="3350" y="1081"/>
              <a:ext cx="2225" cy="756"/>
            </a:xfrm>
            <a:prstGeom prst="rect">
              <a:avLst/>
            </a:prstGeom>
            <a:noFill/>
            <a:ln w="9525">
              <a:noFill/>
              <a:miter lim="800000"/>
              <a:headEnd/>
              <a:tailEnd/>
            </a:ln>
            <a:effectLst/>
          </p:spPr>
          <p:txBody>
            <a:bodyPr wrap="none">
              <a:spAutoFit/>
            </a:bodyPr>
            <a:lstStyle/>
            <a:p>
              <a:r>
                <a:rPr lang="fr-CA" dirty="0" smtClean="0">
                  <a:solidFill>
                    <a:schemeClr val="accent2"/>
                  </a:solidFill>
                  <a:effectLst>
                    <a:outerShdw blurRad="38100" dist="38100" dir="2700000" algn="tl">
                      <a:srgbClr val="C0C0C0"/>
                    </a:outerShdw>
                  </a:effectLst>
                  <a:latin typeface="+mj-lt"/>
                  <a:cs typeface="Arial" pitchFamily="34" charset="0"/>
                </a:rPr>
                <a:t>Séparateurs</a:t>
              </a:r>
            </a:p>
            <a:p>
              <a:r>
                <a:rPr lang="fr-CA" b="1" dirty="0" smtClean="0">
                  <a:solidFill>
                    <a:srgbClr val="FF0000"/>
                  </a:solidFill>
                  <a:effectLst>
                    <a:outerShdw blurRad="38100" dist="38100" dir="2700000" algn="tl">
                      <a:srgbClr val="C0C0C0"/>
                    </a:outerShdw>
                  </a:effectLst>
                  <a:latin typeface="+mj-lt"/>
                  <a:cs typeface="Arial" pitchFamily="34" charset="0"/>
                </a:rPr>
                <a:t>Vide</a:t>
              </a:r>
              <a:r>
                <a:rPr lang="fr-CA" dirty="0" smtClean="0">
                  <a:solidFill>
                    <a:schemeClr val="accent2"/>
                  </a:solidFill>
                  <a:effectLst>
                    <a:outerShdw blurRad="38100" dist="38100" dir="2700000" algn="tl">
                      <a:srgbClr val="C0C0C0"/>
                    </a:outerShdw>
                  </a:effectLst>
                  <a:latin typeface="+mj-lt"/>
                  <a:cs typeface="Arial" pitchFamily="34" charset="0"/>
                </a:rPr>
                <a:t> ou </a:t>
              </a:r>
              <a:r>
                <a:rPr lang="fr-CA" b="1" dirty="0" smtClean="0">
                  <a:solidFill>
                    <a:srgbClr val="FF0000"/>
                  </a:solidFill>
                  <a:effectLst>
                    <a:outerShdw blurRad="38100" dist="38100" dir="2700000" algn="tl">
                      <a:srgbClr val="C0C0C0"/>
                    </a:outerShdw>
                  </a:effectLst>
                  <a:latin typeface="+mj-lt"/>
                  <a:cs typeface="Arial" pitchFamily="34" charset="0"/>
                </a:rPr>
                <a:t>,</a:t>
              </a:r>
              <a:r>
                <a:rPr lang="fr-CA" dirty="0" smtClean="0">
                  <a:solidFill>
                    <a:schemeClr val="accent2"/>
                  </a:solidFill>
                  <a:effectLst>
                    <a:outerShdw blurRad="38100" dist="38100" dir="2700000" algn="tl">
                      <a:srgbClr val="C0C0C0"/>
                    </a:outerShdw>
                  </a:effectLst>
                  <a:latin typeface="+mj-lt"/>
                  <a:cs typeface="Arial" pitchFamily="34" charset="0"/>
                </a:rPr>
                <a:t> pour les colonnes</a:t>
              </a:r>
            </a:p>
            <a:p>
              <a:r>
                <a:rPr lang="fr-CA" b="1" dirty="0" smtClean="0">
                  <a:solidFill>
                    <a:srgbClr val="FF0000"/>
                  </a:solidFill>
                  <a:effectLst>
                    <a:outerShdw blurRad="38100" dist="38100" dir="2700000" algn="tl">
                      <a:srgbClr val="C0C0C0"/>
                    </a:outerShdw>
                  </a:effectLst>
                  <a:latin typeface="+mj-lt"/>
                  <a:cs typeface="Arial" pitchFamily="34" charset="0"/>
                </a:rPr>
                <a:t>;</a:t>
              </a:r>
              <a:r>
                <a:rPr lang="fr-CA" dirty="0" smtClean="0">
                  <a:solidFill>
                    <a:schemeClr val="accent2"/>
                  </a:solidFill>
                  <a:effectLst>
                    <a:outerShdw blurRad="38100" dist="38100" dir="2700000" algn="tl">
                      <a:srgbClr val="C0C0C0"/>
                    </a:outerShdw>
                  </a:effectLst>
                  <a:latin typeface="+mj-lt"/>
                  <a:cs typeface="Arial" pitchFamily="34" charset="0"/>
                </a:rPr>
                <a:t> pour les lignes</a:t>
              </a:r>
              <a:endParaRPr lang="fr-CA" dirty="0">
                <a:solidFill>
                  <a:schemeClr val="accent2"/>
                </a:solidFill>
                <a:effectLst>
                  <a:outerShdw blurRad="38100" dist="38100" dir="2700000" algn="tl">
                    <a:srgbClr val="C0C0C0"/>
                  </a:outerShdw>
                </a:effectLst>
                <a:latin typeface="+mj-lt"/>
                <a:cs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6387"/>
                                        </p:tgtEl>
                                        <p:attrNameLst>
                                          <p:attrName>style.visibility</p:attrName>
                                        </p:attrNameLst>
                                      </p:cBhvr>
                                      <p:to>
                                        <p:strVal val="visible"/>
                                      </p:to>
                                    </p:set>
                                    <p:anim calcmode="lin" valueType="num">
                                      <p:cBhvr additive="base">
                                        <p:cTn id="7" dur="500" fill="hold"/>
                                        <p:tgtEl>
                                          <p:spTgt spid="16387"/>
                                        </p:tgtEl>
                                        <p:attrNameLst>
                                          <p:attrName>ppt_x</p:attrName>
                                        </p:attrNameLst>
                                      </p:cBhvr>
                                      <p:tavLst>
                                        <p:tav tm="0">
                                          <p:val>
                                            <p:strVal val="#ppt_x"/>
                                          </p:val>
                                        </p:tav>
                                        <p:tav tm="100000">
                                          <p:val>
                                            <p:strVal val="#ppt_x"/>
                                          </p:val>
                                        </p:tav>
                                      </p:tavLst>
                                    </p:anim>
                                    <p:anim calcmode="lin" valueType="num">
                                      <p:cBhvr additive="base">
                                        <p:cTn id="8" dur="500" fill="hold"/>
                                        <p:tgtEl>
                                          <p:spTgt spid="1638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388"/>
                                        </p:tgtEl>
                                        <p:attrNameLst>
                                          <p:attrName>style.visibility</p:attrName>
                                        </p:attrNameLst>
                                      </p:cBhvr>
                                      <p:to>
                                        <p:strVal val="visible"/>
                                      </p:to>
                                    </p:set>
                                    <p:anim calcmode="lin" valueType="num">
                                      <p:cBhvr additive="base">
                                        <p:cTn id="19" dur="500" fill="hold"/>
                                        <p:tgtEl>
                                          <p:spTgt spid="16388"/>
                                        </p:tgtEl>
                                        <p:attrNameLst>
                                          <p:attrName>ppt_x</p:attrName>
                                        </p:attrNameLst>
                                      </p:cBhvr>
                                      <p:tavLst>
                                        <p:tav tm="0">
                                          <p:val>
                                            <p:strVal val="#ppt_x"/>
                                          </p:val>
                                        </p:tav>
                                        <p:tav tm="100000">
                                          <p:val>
                                            <p:strVal val="#ppt_x"/>
                                          </p:val>
                                        </p:tav>
                                      </p:tavLst>
                                    </p:anim>
                                    <p:anim calcmode="lin" valueType="num">
                                      <p:cBhvr additive="base">
                                        <p:cTn id="20" dur="500" fill="hold"/>
                                        <p:tgtEl>
                                          <p:spTgt spid="1638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6389"/>
                                        </p:tgtEl>
                                        <p:attrNameLst>
                                          <p:attrName>style.visibility</p:attrName>
                                        </p:attrNameLst>
                                      </p:cBhvr>
                                      <p:to>
                                        <p:strVal val="visible"/>
                                      </p:to>
                                    </p:set>
                                    <p:anim calcmode="lin" valueType="num">
                                      <p:cBhvr additive="base">
                                        <p:cTn id="25" dur="500" fill="hold"/>
                                        <p:tgtEl>
                                          <p:spTgt spid="16389"/>
                                        </p:tgtEl>
                                        <p:attrNameLst>
                                          <p:attrName>ppt_x</p:attrName>
                                        </p:attrNameLst>
                                      </p:cBhvr>
                                      <p:tavLst>
                                        <p:tav tm="0">
                                          <p:val>
                                            <p:strVal val="1+#ppt_w/2"/>
                                          </p:val>
                                        </p:tav>
                                        <p:tav tm="100000">
                                          <p:val>
                                            <p:strVal val="#ppt_x"/>
                                          </p:val>
                                        </p:tav>
                                      </p:tavLst>
                                    </p:anim>
                                    <p:anim calcmode="lin" valueType="num">
                                      <p:cBhvr additive="base">
                                        <p:cTn id="26" dur="500" fill="hold"/>
                                        <p:tgtEl>
                                          <p:spTgt spid="1638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6390"/>
                                        </p:tgtEl>
                                        <p:attrNameLst>
                                          <p:attrName>style.visibility</p:attrName>
                                        </p:attrNameLst>
                                      </p:cBhvr>
                                      <p:to>
                                        <p:strVal val="visible"/>
                                      </p:to>
                                    </p:set>
                                    <p:anim calcmode="lin" valueType="num">
                                      <p:cBhvr additive="base">
                                        <p:cTn id="31" dur="500" fill="hold"/>
                                        <p:tgtEl>
                                          <p:spTgt spid="16390"/>
                                        </p:tgtEl>
                                        <p:attrNameLst>
                                          <p:attrName>ppt_x</p:attrName>
                                        </p:attrNameLst>
                                      </p:cBhvr>
                                      <p:tavLst>
                                        <p:tav tm="0">
                                          <p:val>
                                            <p:strVal val="0-#ppt_w/2"/>
                                          </p:val>
                                        </p:tav>
                                        <p:tav tm="100000">
                                          <p:val>
                                            <p:strVal val="#ppt_x"/>
                                          </p:val>
                                        </p:tav>
                                      </p:tavLst>
                                    </p:anim>
                                    <p:anim calcmode="lin" valueType="num">
                                      <p:cBhvr additive="base">
                                        <p:cTn id="32" dur="500" fill="hold"/>
                                        <p:tgtEl>
                                          <p:spTgt spid="163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utoUpdateAnimBg="0"/>
      <p:bldP spid="16388" grpId="0" autoUpdateAnimBg="0"/>
      <p:bldP spid="16389" grpId="0" autoUpdateAnimBg="0"/>
      <p:bldP spid="16390"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Espace réservé du numéro de diapositive 3"/>
          <p:cNvSpPr>
            <a:spLocks noGrp="1"/>
          </p:cNvSpPr>
          <p:nvPr>
            <p:ph type="sldNum" sz="quarter" idx="12"/>
          </p:nvPr>
        </p:nvSpPr>
        <p:spPr/>
        <p:txBody>
          <a:bodyPr/>
          <a:lstStyle/>
          <a:p>
            <a:fld id="{560E587E-D8B5-4DDE-8A30-EA2AF5F940F3}" type="slidenum">
              <a:rPr lang="fr-CA"/>
              <a:pPr/>
              <a:t>67</a:t>
            </a:fld>
            <a:endParaRPr lang="fr-CA"/>
          </a:p>
        </p:txBody>
      </p:sp>
      <p:grpSp>
        <p:nvGrpSpPr>
          <p:cNvPr id="2" name="Group 4"/>
          <p:cNvGrpSpPr>
            <a:grpSpLocks/>
          </p:cNvGrpSpPr>
          <p:nvPr/>
        </p:nvGrpSpPr>
        <p:grpSpPr bwMode="auto">
          <a:xfrm>
            <a:off x="323850" y="0"/>
            <a:ext cx="5534028" cy="2719388"/>
            <a:chOff x="230" y="21"/>
            <a:chExt cx="3486" cy="1713"/>
          </a:xfrm>
        </p:grpSpPr>
        <p:sp>
          <p:nvSpPr>
            <p:cNvPr id="21506" name="Text Box 2"/>
            <p:cNvSpPr txBox="1">
              <a:spLocks noChangeArrowheads="1"/>
            </p:cNvSpPr>
            <p:nvPr/>
          </p:nvSpPr>
          <p:spPr bwMode="auto">
            <a:xfrm>
              <a:off x="791" y="21"/>
              <a:ext cx="2925" cy="368"/>
            </a:xfrm>
            <a:prstGeom prst="rect">
              <a:avLst/>
            </a:prstGeom>
            <a:noFill/>
            <a:ln w="9525">
              <a:noFill/>
              <a:miter lim="800000"/>
              <a:headEnd/>
              <a:tailEnd/>
            </a:ln>
            <a:effectLst/>
          </p:spPr>
          <p:txBody>
            <a:bodyPr wrap="none">
              <a:spAutoFit/>
            </a:bodyPr>
            <a:lstStyle/>
            <a:p>
              <a:r>
                <a:rPr lang="fr-CA" sz="3200" dirty="0">
                  <a:latin typeface="+mj-lt"/>
                  <a:cs typeface="Arial" pitchFamily="34" charset="0"/>
                </a:rPr>
                <a:t>Opérations </a:t>
              </a:r>
              <a:r>
                <a:rPr lang="fr-CA" sz="3200" dirty="0" smtClean="0">
                  <a:latin typeface="+mj-lt"/>
                  <a:cs typeface="Arial" pitchFamily="34" charset="0"/>
                </a:rPr>
                <a:t>sur les matrices</a:t>
              </a:r>
              <a:endParaRPr lang="fr-CA" sz="3200" dirty="0">
                <a:latin typeface="+mj-lt"/>
                <a:cs typeface="Arial" pitchFamily="34" charset="0"/>
              </a:endParaRPr>
            </a:p>
          </p:txBody>
        </p:sp>
        <p:sp>
          <p:nvSpPr>
            <p:cNvPr id="21507" name="Text Box 3"/>
            <p:cNvSpPr txBox="1">
              <a:spLocks noChangeArrowheads="1"/>
            </p:cNvSpPr>
            <p:nvPr/>
          </p:nvSpPr>
          <p:spPr bwMode="auto">
            <a:xfrm>
              <a:off x="230" y="745"/>
              <a:ext cx="1229" cy="989"/>
            </a:xfrm>
            <a:prstGeom prst="rect">
              <a:avLst/>
            </a:prstGeom>
            <a:noFill/>
            <a:ln w="9525">
              <a:noFill/>
              <a:miter lim="800000"/>
              <a:headEnd/>
              <a:tailEnd/>
            </a:ln>
            <a:effectLst/>
          </p:spPr>
          <p:txBody>
            <a:bodyPr wrap="none">
              <a:spAutoFit/>
            </a:bodyPr>
            <a:lstStyle/>
            <a:p>
              <a:r>
                <a:rPr lang="fr-CA" dirty="0" smtClean="0">
                  <a:solidFill>
                    <a:srgbClr val="FF3300"/>
                  </a:solidFill>
                  <a:latin typeface="Arial" pitchFamily="34" charset="0"/>
                  <a:cs typeface="Arial" pitchFamily="34" charset="0"/>
                </a:rPr>
                <a:t>&gt;&gt;</a:t>
              </a:r>
              <a:r>
                <a:rPr lang="fr-CA" dirty="0">
                  <a:solidFill>
                    <a:srgbClr val="008000"/>
                  </a:solidFill>
                  <a:latin typeface="Arial" pitchFamily="34" charset="0"/>
                  <a:cs typeface="Arial" pitchFamily="34" charset="0"/>
                </a:rPr>
                <a:t>A</a:t>
              </a:r>
              <a:r>
                <a:rPr lang="fr-CA" dirty="0">
                  <a:solidFill>
                    <a:srgbClr val="FF3300"/>
                  </a:solidFill>
                  <a:latin typeface="Arial" pitchFamily="34" charset="0"/>
                  <a:cs typeface="Arial" pitchFamily="34" charset="0"/>
                </a:rPr>
                <a:t> = [</a:t>
              </a:r>
              <a:r>
                <a:rPr lang="fr-CA" dirty="0">
                  <a:solidFill>
                    <a:srgbClr val="008000"/>
                  </a:solidFill>
                  <a:latin typeface="Arial" pitchFamily="34" charset="0"/>
                  <a:cs typeface="Arial" pitchFamily="34" charset="0"/>
                </a:rPr>
                <a:t>6 , 3</a:t>
              </a:r>
              <a:r>
                <a:rPr lang="fr-CA" dirty="0">
                  <a:solidFill>
                    <a:srgbClr val="FF3300"/>
                  </a:solidFill>
                  <a:latin typeface="Arial" pitchFamily="34" charset="0"/>
                  <a:cs typeface="Arial" pitchFamily="34" charset="0"/>
                </a:rPr>
                <a:t>];</a:t>
              </a:r>
            </a:p>
            <a:p>
              <a:r>
                <a:rPr lang="fr-CA" dirty="0">
                  <a:solidFill>
                    <a:srgbClr val="FF3300"/>
                  </a:solidFill>
                  <a:latin typeface="Arial" pitchFamily="34" charset="0"/>
                  <a:cs typeface="Arial" pitchFamily="34" charset="0"/>
                </a:rPr>
                <a:t>&gt;&gt;</a:t>
              </a:r>
              <a:r>
                <a:rPr lang="fr-CA" dirty="0">
                  <a:solidFill>
                    <a:srgbClr val="008000"/>
                  </a:solidFill>
                  <a:latin typeface="Arial" pitchFamily="34" charset="0"/>
                  <a:cs typeface="Arial" pitchFamily="34" charset="0"/>
                </a:rPr>
                <a:t>B</a:t>
              </a:r>
              <a:r>
                <a:rPr lang="fr-CA" dirty="0">
                  <a:solidFill>
                    <a:srgbClr val="FF3300"/>
                  </a:solidFill>
                  <a:latin typeface="Arial" pitchFamily="34" charset="0"/>
                  <a:cs typeface="Arial" pitchFamily="34" charset="0"/>
                </a:rPr>
                <a:t> = [</a:t>
              </a:r>
              <a:r>
                <a:rPr lang="fr-CA" dirty="0">
                  <a:solidFill>
                    <a:srgbClr val="008000"/>
                  </a:solidFill>
                  <a:latin typeface="Arial" pitchFamily="34" charset="0"/>
                  <a:cs typeface="Arial" pitchFamily="34" charset="0"/>
                </a:rPr>
                <a:t>4 , 8</a:t>
              </a:r>
              <a:r>
                <a:rPr lang="fr-CA" dirty="0">
                  <a:solidFill>
                    <a:srgbClr val="FF3300"/>
                  </a:solidFill>
                  <a:latin typeface="Arial" pitchFamily="34" charset="0"/>
                  <a:cs typeface="Arial" pitchFamily="34" charset="0"/>
                </a:rPr>
                <a:t>];</a:t>
              </a:r>
            </a:p>
            <a:p>
              <a:r>
                <a:rPr lang="fr-CA" dirty="0">
                  <a:solidFill>
                    <a:srgbClr val="FF3300"/>
                  </a:solidFill>
                  <a:latin typeface="Arial" pitchFamily="34" charset="0"/>
                  <a:cs typeface="Arial" pitchFamily="34" charset="0"/>
                </a:rPr>
                <a:t>&gt;&gt;</a:t>
              </a:r>
              <a:r>
                <a:rPr lang="fr-CA" dirty="0">
                  <a:solidFill>
                    <a:srgbClr val="008000"/>
                  </a:solidFill>
                  <a:latin typeface="Arial" pitchFamily="34" charset="0"/>
                  <a:cs typeface="Arial" pitchFamily="34" charset="0"/>
                </a:rPr>
                <a:t>c</a:t>
              </a:r>
              <a:r>
                <a:rPr lang="fr-CA" dirty="0">
                  <a:solidFill>
                    <a:srgbClr val="FF3300"/>
                  </a:solidFill>
                  <a:latin typeface="Arial" pitchFamily="34" charset="0"/>
                  <a:cs typeface="Arial" pitchFamily="34" charset="0"/>
                </a:rPr>
                <a:t> =</a:t>
              </a:r>
              <a:r>
                <a:rPr lang="fr-CA" dirty="0">
                  <a:solidFill>
                    <a:srgbClr val="008000"/>
                  </a:solidFill>
                  <a:latin typeface="Arial" pitchFamily="34" charset="0"/>
                  <a:cs typeface="Arial" pitchFamily="34" charset="0"/>
                </a:rPr>
                <a:t> 2</a:t>
              </a:r>
              <a:r>
                <a:rPr lang="fr-CA" dirty="0">
                  <a:solidFill>
                    <a:srgbClr val="FF3300"/>
                  </a:solidFill>
                  <a:latin typeface="Arial" pitchFamily="34" charset="0"/>
                  <a:cs typeface="Arial" pitchFamily="34" charset="0"/>
                </a:rPr>
                <a:t>;</a:t>
              </a:r>
            </a:p>
            <a:p>
              <a:r>
                <a:rPr lang="fr-CA" dirty="0">
                  <a:solidFill>
                    <a:srgbClr val="FF3300"/>
                  </a:solidFill>
                  <a:latin typeface="Arial" pitchFamily="34" charset="0"/>
                  <a:cs typeface="Arial" pitchFamily="34" charset="0"/>
                </a:rPr>
                <a:t>&gt;&gt;</a:t>
              </a:r>
              <a:r>
                <a:rPr lang="fr-CA" dirty="0">
                  <a:solidFill>
                    <a:srgbClr val="008000"/>
                  </a:solidFill>
                  <a:latin typeface="Arial" pitchFamily="34" charset="0"/>
                  <a:cs typeface="Arial" pitchFamily="34" charset="0"/>
                </a:rPr>
                <a:t>d</a:t>
              </a:r>
              <a:r>
                <a:rPr lang="fr-CA" dirty="0">
                  <a:solidFill>
                    <a:srgbClr val="FF3300"/>
                  </a:solidFill>
                  <a:latin typeface="Arial" pitchFamily="34" charset="0"/>
                  <a:cs typeface="Arial" pitchFamily="34" charset="0"/>
                </a:rPr>
                <a:t> = </a:t>
              </a:r>
              <a:r>
                <a:rPr lang="fr-CA" dirty="0" smtClean="0">
                  <a:solidFill>
                    <a:srgbClr val="008000"/>
                  </a:solidFill>
                  <a:latin typeface="Arial" pitchFamily="34" charset="0"/>
                  <a:cs typeface="Arial" pitchFamily="34" charset="0"/>
                </a:rPr>
                <a:t>5</a:t>
              </a:r>
              <a:r>
                <a:rPr lang="fr-CA" dirty="0" smtClean="0">
                  <a:solidFill>
                    <a:srgbClr val="FF0000"/>
                  </a:solidFill>
                  <a:latin typeface="Arial" pitchFamily="34" charset="0"/>
                  <a:cs typeface="Arial" pitchFamily="34" charset="0"/>
                </a:rPr>
                <a:t>;</a:t>
              </a:r>
              <a:endParaRPr lang="fr-CA" dirty="0">
                <a:solidFill>
                  <a:srgbClr val="FF0000"/>
                </a:solidFill>
                <a:latin typeface="Arial" pitchFamily="34" charset="0"/>
                <a:cs typeface="Arial" pitchFamily="34" charset="0"/>
              </a:endParaRPr>
            </a:p>
          </p:txBody>
        </p:sp>
      </p:grpSp>
      <p:sp>
        <p:nvSpPr>
          <p:cNvPr id="21511" name="Text Box 7"/>
          <p:cNvSpPr txBox="1">
            <a:spLocks noChangeArrowheads="1"/>
          </p:cNvSpPr>
          <p:nvPr/>
        </p:nvSpPr>
        <p:spPr bwMode="auto">
          <a:xfrm>
            <a:off x="365125" y="3581400"/>
            <a:ext cx="2202847" cy="1200329"/>
          </a:xfrm>
          <a:prstGeom prst="rect">
            <a:avLst/>
          </a:prstGeom>
          <a:noFill/>
          <a:ln w="9525">
            <a:noFill/>
            <a:miter lim="800000"/>
            <a:headEnd/>
            <a:tailEnd/>
          </a:ln>
          <a:effectLst/>
        </p:spPr>
        <p:txBody>
          <a:bodyPr wrap="none">
            <a:spAutoFit/>
          </a:bodyPr>
          <a:lstStyle/>
          <a:p>
            <a:r>
              <a:rPr lang="fr-CA" dirty="0">
                <a:solidFill>
                  <a:srgbClr val="FF3300"/>
                </a:solidFill>
                <a:latin typeface="Arial" pitchFamily="34" charset="0"/>
                <a:cs typeface="Arial" pitchFamily="34" charset="0"/>
              </a:rPr>
              <a:t>&gt;&gt;</a:t>
            </a:r>
            <a:r>
              <a:rPr lang="fr-CA" dirty="0">
                <a:solidFill>
                  <a:srgbClr val="008000"/>
                </a:solidFill>
                <a:latin typeface="Arial" pitchFamily="34" charset="0"/>
                <a:cs typeface="Arial" pitchFamily="34" charset="0"/>
              </a:rPr>
              <a:t>A</a:t>
            </a:r>
            <a:r>
              <a:rPr lang="fr-CA" dirty="0">
                <a:solidFill>
                  <a:srgbClr val="FF3300"/>
                </a:solidFill>
                <a:latin typeface="Arial" pitchFamily="34" charset="0"/>
                <a:cs typeface="Arial" pitchFamily="34" charset="0"/>
              </a:rPr>
              <a:t> + </a:t>
            </a:r>
            <a:r>
              <a:rPr lang="fr-CA" dirty="0">
                <a:solidFill>
                  <a:srgbClr val="008000"/>
                </a:solidFill>
                <a:latin typeface="Arial" pitchFamily="34" charset="0"/>
                <a:cs typeface="Arial" pitchFamily="34" charset="0"/>
              </a:rPr>
              <a:t>c</a:t>
            </a:r>
          </a:p>
          <a:p>
            <a:r>
              <a:rPr lang="fr-CA" dirty="0">
                <a:latin typeface="Arial" pitchFamily="34" charset="0"/>
                <a:cs typeface="Arial" pitchFamily="34" charset="0"/>
              </a:rPr>
              <a:t>ans</a:t>
            </a:r>
          </a:p>
          <a:p>
            <a:r>
              <a:rPr lang="fr-CA" dirty="0">
                <a:latin typeface="Arial" pitchFamily="34" charset="0"/>
                <a:cs typeface="Arial" pitchFamily="34" charset="0"/>
              </a:rPr>
              <a:t>	8	5</a:t>
            </a:r>
          </a:p>
        </p:txBody>
      </p:sp>
      <p:sp>
        <p:nvSpPr>
          <p:cNvPr id="21512" name="Text Box 8"/>
          <p:cNvSpPr txBox="1">
            <a:spLocks noChangeArrowheads="1"/>
          </p:cNvSpPr>
          <p:nvPr/>
        </p:nvSpPr>
        <p:spPr bwMode="auto">
          <a:xfrm>
            <a:off x="365125" y="4953000"/>
            <a:ext cx="2305439" cy="1569660"/>
          </a:xfrm>
          <a:prstGeom prst="rect">
            <a:avLst/>
          </a:prstGeom>
          <a:noFill/>
          <a:ln w="9525">
            <a:noFill/>
            <a:miter lim="800000"/>
            <a:headEnd/>
            <a:tailEnd/>
          </a:ln>
          <a:effectLst/>
        </p:spPr>
        <p:txBody>
          <a:bodyPr wrap="none">
            <a:spAutoFit/>
          </a:bodyPr>
          <a:lstStyle/>
          <a:p>
            <a:r>
              <a:rPr lang="fr-CA" dirty="0">
                <a:solidFill>
                  <a:srgbClr val="FF3300"/>
                </a:solidFill>
                <a:latin typeface="Arial" pitchFamily="34" charset="0"/>
                <a:cs typeface="Arial" pitchFamily="34" charset="0"/>
              </a:rPr>
              <a:t>&gt;&gt;</a:t>
            </a:r>
            <a:r>
              <a:rPr lang="fr-CA" dirty="0">
                <a:solidFill>
                  <a:srgbClr val="008000"/>
                </a:solidFill>
                <a:latin typeface="Arial" pitchFamily="34" charset="0"/>
                <a:cs typeface="Arial" pitchFamily="34" charset="0"/>
              </a:rPr>
              <a:t>A</a:t>
            </a:r>
            <a:r>
              <a:rPr lang="fr-CA" dirty="0">
                <a:solidFill>
                  <a:srgbClr val="FF3300"/>
                </a:solidFill>
                <a:latin typeface="Arial" pitchFamily="34" charset="0"/>
                <a:cs typeface="Arial" pitchFamily="34" charset="0"/>
              </a:rPr>
              <a:t> – </a:t>
            </a:r>
            <a:r>
              <a:rPr lang="fr-CA" dirty="0">
                <a:solidFill>
                  <a:srgbClr val="008000"/>
                </a:solidFill>
                <a:latin typeface="Arial" pitchFamily="34" charset="0"/>
                <a:cs typeface="Arial" pitchFamily="34" charset="0"/>
              </a:rPr>
              <a:t>d</a:t>
            </a:r>
          </a:p>
          <a:p>
            <a:r>
              <a:rPr lang="fr-CA" dirty="0">
                <a:latin typeface="Arial" pitchFamily="34" charset="0"/>
                <a:cs typeface="Arial" pitchFamily="34" charset="0"/>
              </a:rPr>
              <a:t>ans</a:t>
            </a:r>
          </a:p>
          <a:p>
            <a:r>
              <a:rPr lang="fr-CA" dirty="0">
                <a:latin typeface="Arial" pitchFamily="34" charset="0"/>
                <a:cs typeface="Arial" pitchFamily="34" charset="0"/>
              </a:rPr>
              <a:t>	1	-2</a:t>
            </a:r>
          </a:p>
          <a:p>
            <a:r>
              <a:rPr lang="fr-CA" dirty="0">
                <a:latin typeface="Arial" pitchFamily="34" charset="0"/>
                <a:cs typeface="Arial" pitchFamily="34" charset="0"/>
              </a:rPr>
              <a:t>	</a:t>
            </a:r>
          </a:p>
        </p:txBody>
      </p:sp>
      <p:grpSp>
        <p:nvGrpSpPr>
          <p:cNvPr id="3" name="Group 20"/>
          <p:cNvGrpSpPr>
            <a:grpSpLocks/>
          </p:cNvGrpSpPr>
          <p:nvPr/>
        </p:nvGrpSpPr>
        <p:grpSpPr bwMode="auto">
          <a:xfrm>
            <a:off x="1447800" y="2819400"/>
            <a:ext cx="6510338" cy="838200"/>
            <a:chOff x="912" y="1776"/>
            <a:chExt cx="4101" cy="528"/>
          </a:xfrm>
        </p:grpSpPr>
        <p:sp>
          <p:nvSpPr>
            <p:cNvPr id="21515" name="Line 11"/>
            <p:cNvSpPr>
              <a:spLocks noChangeShapeType="1"/>
            </p:cNvSpPr>
            <p:nvPr/>
          </p:nvSpPr>
          <p:spPr bwMode="auto">
            <a:xfrm flipH="1">
              <a:off x="912" y="1968"/>
              <a:ext cx="2112" cy="336"/>
            </a:xfrm>
            <a:prstGeom prst="line">
              <a:avLst/>
            </a:prstGeom>
            <a:noFill/>
            <a:ln w="19050">
              <a:solidFill>
                <a:schemeClr val="accent2"/>
              </a:solidFill>
              <a:round/>
              <a:headEnd/>
              <a:tailEnd type="triangle" w="med" len="med"/>
            </a:ln>
            <a:effectLst/>
          </p:spPr>
          <p:txBody>
            <a:bodyPr/>
            <a:lstStyle/>
            <a:p>
              <a:endParaRPr lang="fr-FR"/>
            </a:p>
          </p:txBody>
        </p:sp>
        <p:sp>
          <p:nvSpPr>
            <p:cNvPr id="21516" name="Text Box 12"/>
            <p:cNvSpPr txBox="1">
              <a:spLocks noChangeArrowheads="1"/>
            </p:cNvSpPr>
            <p:nvPr/>
          </p:nvSpPr>
          <p:spPr bwMode="auto">
            <a:xfrm>
              <a:off x="3072" y="1776"/>
              <a:ext cx="1941" cy="291"/>
            </a:xfrm>
            <a:prstGeom prst="rect">
              <a:avLst/>
            </a:prstGeom>
            <a:noFill/>
            <a:ln w="9525">
              <a:noFill/>
              <a:miter lim="800000"/>
              <a:headEnd/>
              <a:tailEnd/>
            </a:ln>
            <a:effectLst/>
          </p:spPr>
          <p:txBody>
            <a:bodyPr wrap="none">
              <a:spAutoFit/>
            </a:bodyPr>
            <a:lstStyle/>
            <a:p>
              <a:r>
                <a:rPr lang="fr-CA" dirty="0">
                  <a:solidFill>
                    <a:schemeClr val="accent2"/>
                  </a:solidFill>
                  <a:latin typeface="Arial" pitchFamily="34" charset="0"/>
                  <a:cs typeface="Arial" pitchFamily="34" charset="0"/>
                </a:rPr>
                <a:t>addition d’un scalaire</a:t>
              </a:r>
            </a:p>
          </p:txBody>
        </p:sp>
      </p:grpSp>
      <p:grpSp>
        <p:nvGrpSpPr>
          <p:cNvPr id="4" name="Group 19"/>
          <p:cNvGrpSpPr>
            <a:grpSpLocks/>
          </p:cNvGrpSpPr>
          <p:nvPr/>
        </p:nvGrpSpPr>
        <p:grpSpPr bwMode="auto">
          <a:xfrm>
            <a:off x="1600200" y="4419603"/>
            <a:ext cx="7002463" cy="646113"/>
            <a:chOff x="1008" y="2784"/>
            <a:chExt cx="4411" cy="407"/>
          </a:xfrm>
        </p:grpSpPr>
        <p:sp>
          <p:nvSpPr>
            <p:cNvPr id="21519" name="Line 15"/>
            <p:cNvSpPr>
              <a:spLocks noChangeShapeType="1"/>
            </p:cNvSpPr>
            <p:nvPr/>
          </p:nvSpPr>
          <p:spPr bwMode="auto">
            <a:xfrm flipH="1">
              <a:off x="1008" y="2951"/>
              <a:ext cx="2066" cy="240"/>
            </a:xfrm>
            <a:prstGeom prst="line">
              <a:avLst/>
            </a:prstGeom>
            <a:noFill/>
            <a:ln w="19050">
              <a:solidFill>
                <a:schemeClr val="accent2"/>
              </a:solidFill>
              <a:round/>
              <a:headEnd/>
              <a:tailEnd type="triangle" w="med" len="med"/>
            </a:ln>
            <a:effectLst/>
          </p:spPr>
          <p:txBody>
            <a:bodyPr/>
            <a:lstStyle/>
            <a:p>
              <a:endParaRPr lang="fr-FR"/>
            </a:p>
          </p:txBody>
        </p:sp>
        <p:sp>
          <p:nvSpPr>
            <p:cNvPr id="21520" name="Text Box 16"/>
            <p:cNvSpPr txBox="1">
              <a:spLocks noChangeArrowheads="1"/>
            </p:cNvSpPr>
            <p:nvPr/>
          </p:nvSpPr>
          <p:spPr bwMode="auto">
            <a:xfrm>
              <a:off x="3112" y="2784"/>
              <a:ext cx="2307" cy="291"/>
            </a:xfrm>
            <a:prstGeom prst="rect">
              <a:avLst/>
            </a:prstGeom>
            <a:noFill/>
            <a:ln w="9525">
              <a:noFill/>
              <a:miter lim="800000"/>
              <a:headEnd/>
              <a:tailEnd/>
            </a:ln>
            <a:effectLst/>
          </p:spPr>
          <p:txBody>
            <a:bodyPr wrap="none">
              <a:spAutoFit/>
            </a:bodyPr>
            <a:lstStyle/>
            <a:p>
              <a:r>
                <a:rPr lang="fr-CA" dirty="0">
                  <a:solidFill>
                    <a:schemeClr val="accent2"/>
                  </a:solidFill>
                  <a:latin typeface="Arial" pitchFamily="34" charset="0"/>
                  <a:cs typeface="Arial" pitchFamily="34" charset="0"/>
                </a:rPr>
                <a:t>soustraction d’un scalaire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21511"/>
                                        </p:tgtEl>
                                        <p:attrNameLst>
                                          <p:attrName>style.visibility</p:attrName>
                                        </p:attrNameLst>
                                      </p:cBhvr>
                                      <p:to>
                                        <p:strVal val="visible"/>
                                      </p:to>
                                    </p:set>
                                    <p:anim calcmode="lin" valueType="num">
                                      <p:cBhvr additive="base">
                                        <p:cTn id="7" dur="500" fill="hold"/>
                                        <p:tgtEl>
                                          <p:spTgt spid="21511"/>
                                        </p:tgtEl>
                                        <p:attrNameLst>
                                          <p:attrName>ppt_x</p:attrName>
                                        </p:attrNameLst>
                                      </p:cBhvr>
                                      <p:tavLst>
                                        <p:tav tm="0">
                                          <p:val>
                                            <p:strVal val="0-#ppt_w/2"/>
                                          </p:val>
                                        </p:tav>
                                        <p:tav tm="100000">
                                          <p:val>
                                            <p:strVal val="#ppt_x"/>
                                          </p:val>
                                        </p:tav>
                                      </p:tavLst>
                                    </p:anim>
                                    <p:anim calcmode="lin" valueType="num">
                                      <p:cBhvr additive="base">
                                        <p:cTn id="8" dur="500" fill="hold"/>
                                        <p:tgtEl>
                                          <p:spTgt spid="215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21512"/>
                                        </p:tgtEl>
                                        <p:attrNameLst>
                                          <p:attrName>style.visibility</p:attrName>
                                        </p:attrNameLst>
                                      </p:cBhvr>
                                      <p:to>
                                        <p:strVal val="visible"/>
                                      </p:to>
                                    </p:set>
                                    <p:anim calcmode="lin" valueType="num">
                                      <p:cBhvr additive="base">
                                        <p:cTn id="19" dur="500" fill="hold"/>
                                        <p:tgtEl>
                                          <p:spTgt spid="21512"/>
                                        </p:tgtEl>
                                        <p:attrNameLst>
                                          <p:attrName>ppt_x</p:attrName>
                                        </p:attrNameLst>
                                      </p:cBhvr>
                                      <p:tavLst>
                                        <p:tav tm="0">
                                          <p:val>
                                            <p:strVal val="0-#ppt_w/2"/>
                                          </p:val>
                                        </p:tav>
                                        <p:tav tm="100000">
                                          <p:val>
                                            <p:strVal val="#ppt_x"/>
                                          </p:val>
                                        </p:tav>
                                      </p:tavLst>
                                    </p:anim>
                                    <p:anim calcmode="lin" valueType="num">
                                      <p:cBhvr additive="base">
                                        <p:cTn id="20" dur="500" fill="hold"/>
                                        <p:tgtEl>
                                          <p:spTgt spid="215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3"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1+#ppt_w/2"/>
                                          </p:val>
                                        </p:tav>
                                        <p:tav tm="100000">
                                          <p:val>
                                            <p:strVal val="#ppt_x"/>
                                          </p:val>
                                        </p:tav>
                                      </p:tavLst>
                                    </p:anim>
                                    <p:anim calcmode="lin" valueType="num">
                                      <p:cBhvr additive="base">
                                        <p:cTn id="26"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1" grpId="0" autoUpdateAnimBg="0"/>
      <p:bldP spid="21512"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Espace réservé du numéro de diapositive 3"/>
          <p:cNvSpPr>
            <a:spLocks noGrp="1"/>
          </p:cNvSpPr>
          <p:nvPr>
            <p:ph type="sldNum" sz="quarter" idx="12"/>
          </p:nvPr>
        </p:nvSpPr>
        <p:spPr/>
        <p:txBody>
          <a:bodyPr/>
          <a:lstStyle/>
          <a:p>
            <a:fld id="{226A3E77-716B-423D-B10C-F176B6E5BA2D}" type="slidenum">
              <a:rPr lang="fr-CA"/>
              <a:pPr/>
              <a:t>68</a:t>
            </a:fld>
            <a:endParaRPr lang="fr-CA"/>
          </a:p>
        </p:txBody>
      </p:sp>
      <p:sp>
        <p:nvSpPr>
          <p:cNvPr id="22530" name="Text Box 2"/>
          <p:cNvSpPr txBox="1">
            <a:spLocks noChangeArrowheads="1"/>
          </p:cNvSpPr>
          <p:nvPr/>
        </p:nvSpPr>
        <p:spPr bwMode="auto">
          <a:xfrm>
            <a:off x="533400" y="685800"/>
            <a:ext cx="6431569" cy="1200329"/>
          </a:xfrm>
          <a:prstGeom prst="rect">
            <a:avLst/>
          </a:prstGeom>
          <a:noFill/>
          <a:ln w="9525">
            <a:noFill/>
            <a:miter lim="800000"/>
            <a:headEnd/>
            <a:tailEnd/>
          </a:ln>
          <a:effectLst/>
        </p:spPr>
        <p:txBody>
          <a:bodyPr wrap="none">
            <a:spAutoFit/>
          </a:bodyPr>
          <a:lstStyle/>
          <a:p>
            <a:r>
              <a:rPr lang="fr-CA" dirty="0">
                <a:solidFill>
                  <a:srgbClr val="FF3300"/>
                </a:solidFill>
                <a:latin typeface="Arial" pitchFamily="34" charset="0"/>
                <a:cs typeface="Arial" pitchFamily="34" charset="0"/>
              </a:rPr>
              <a:t>&gt;&gt;</a:t>
            </a:r>
            <a:r>
              <a:rPr lang="fr-CA" dirty="0">
                <a:solidFill>
                  <a:srgbClr val="008000"/>
                </a:solidFill>
                <a:latin typeface="Arial" pitchFamily="34" charset="0"/>
                <a:cs typeface="Arial" pitchFamily="34" charset="0"/>
              </a:rPr>
              <a:t>A</a:t>
            </a:r>
            <a:r>
              <a:rPr lang="fr-CA" dirty="0">
                <a:solidFill>
                  <a:srgbClr val="FF3300"/>
                </a:solidFill>
                <a:latin typeface="Arial" pitchFamily="34" charset="0"/>
                <a:cs typeface="Arial" pitchFamily="34" charset="0"/>
              </a:rPr>
              <a:t> + </a:t>
            </a:r>
            <a:r>
              <a:rPr lang="fr-CA" dirty="0">
                <a:solidFill>
                  <a:srgbClr val="008000"/>
                </a:solidFill>
                <a:latin typeface="Arial" pitchFamily="34" charset="0"/>
                <a:cs typeface="Arial" pitchFamily="34" charset="0"/>
              </a:rPr>
              <a:t>B			</a:t>
            </a:r>
            <a:r>
              <a:rPr lang="fr-CA" i="1" dirty="0">
                <a:solidFill>
                  <a:schemeClr val="accent2"/>
                </a:solidFill>
                <a:latin typeface="Arial" pitchFamily="34" charset="0"/>
                <a:cs typeface="Arial" pitchFamily="34" charset="0"/>
              </a:rPr>
              <a:t>addition matricielle</a:t>
            </a:r>
          </a:p>
          <a:p>
            <a:r>
              <a:rPr lang="fr-CA" dirty="0">
                <a:latin typeface="Arial" pitchFamily="34" charset="0"/>
                <a:cs typeface="Arial" pitchFamily="34" charset="0"/>
              </a:rPr>
              <a:t>ans</a:t>
            </a:r>
          </a:p>
          <a:p>
            <a:r>
              <a:rPr lang="fr-CA" dirty="0">
                <a:latin typeface="Arial" pitchFamily="34" charset="0"/>
                <a:cs typeface="Arial" pitchFamily="34" charset="0"/>
              </a:rPr>
              <a:t>	10	11</a:t>
            </a:r>
          </a:p>
        </p:txBody>
      </p:sp>
      <p:sp>
        <p:nvSpPr>
          <p:cNvPr id="22532" name="Text Box 4"/>
          <p:cNvSpPr txBox="1">
            <a:spLocks noChangeArrowheads="1"/>
          </p:cNvSpPr>
          <p:nvPr/>
        </p:nvSpPr>
        <p:spPr bwMode="auto">
          <a:xfrm>
            <a:off x="533400" y="2097088"/>
            <a:ext cx="7011856" cy="1200329"/>
          </a:xfrm>
          <a:prstGeom prst="rect">
            <a:avLst/>
          </a:prstGeom>
          <a:noFill/>
          <a:ln w="9525">
            <a:noFill/>
            <a:miter lim="800000"/>
            <a:headEnd/>
            <a:tailEnd/>
          </a:ln>
          <a:effectLst/>
        </p:spPr>
        <p:txBody>
          <a:bodyPr wrap="none">
            <a:spAutoFit/>
          </a:bodyPr>
          <a:lstStyle/>
          <a:p>
            <a:r>
              <a:rPr lang="fr-CA" dirty="0">
                <a:solidFill>
                  <a:srgbClr val="FF3300"/>
                </a:solidFill>
                <a:latin typeface="Arial" pitchFamily="34" charset="0"/>
                <a:cs typeface="Arial" pitchFamily="34" charset="0"/>
              </a:rPr>
              <a:t>&gt;&gt;</a:t>
            </a:r>
            <a:r>
              <a:rPr lang="fr-CA" dirty="0">
                <a:solidFill>
                  <a:srgbClr val="008000"/>
                </a:solidFill>
                <a:latin typeface="Arial" pitchFamily="34" charset="0"/>
                <a:cs typeface="Arial" pitchFamily="34" charset="0"/>
              </a:rPr>
              <a:t>A</a:t>
            </a:r>
            <a:r>
              <a:rPr lang="fr-CA" dirty="0">
                <a:solidFill>
                  <a:srgbClr val="FF3300"/>
                </a:solidFill>
                <a:latin typeface="Arial" pitchFamily="34" charset="0"/>
                <a:cs typeface="Arial" pitchFamily="34" charset="0"/>
              </a:rPr>
              <a:t> – </a:t>
            </a:r>
            <a:r>
              <a:rPr lang="fr-CA" dirty="0">
                <a:solidFill>
                  <a:srgbClr val="008000"/>
                </a:solidFill>
                <a:latin typeface="Arial" pitchFamily="34" charset="0"/>
                <a:cs typeface="Arial" pitchFamily="34" charset="0"/>
              </a:rPr>
              <a:t>B			</a:t>
            </a:r>
            <a:r>
              <a:rPr lang="fr-CA" i="1" dirty="0">
                <a:solidFill>
                  <a:schemeClr val="accent2"/>
                </a:solidFill>
                <a:latin typeface="Arial" pitchFamily="34" charset="0"/>
                <a:cs typeface="Arial" pitchFamily="34" charset="0"/>
              </a:rPr>
              <a:t>soustraction matricielle</a:t>
            </a:r>
          </a:p>
          <a:p>
            <a:r>
              <a:rPr lang="fr-CA" dirty="0">
                <a:latin typeface="Arial" pitchFamily="34" charset="0"/>
                <a:cs typeface="Arial" pitchFamily="34" charset="0"/>
              </a:rPr>
              <a:t>ans</a:t>
            </a:r>
          </a:p>
          <a:p>
            <a:r>
              <a:rPr lang="fr-CA" dirty="0">
                <a:latin typeface="Arial" pitchFamily="34" charset="0"/>
                <a:cs typeface="Arial" pitchFamily="34" charset="0"/>
              </a:rPr>
              <a:t>	2	-5</a:t>
            </a:r>
          </a:p>
        </p:txBody>
      </p:sp>
      <p:sp>
        <p:nvSpPr>
          <p:cNvPr id="22533" name="Text Box 5"/>
          <p:cNvSpPr txBox="1">
            <a:spLocks noChangeArrowheads="1"/>
          </p:cNvSpPr>
          <p:nvPr/>
        </p:nvSpPr>
        <p:spPr bwMode="auto">
          <a:xfrm>
            <a:off x="533400" y="3392488"/>
            <a:ext cx="2374368" cy="1200329"/>
          </a:xfrm>
          <a:prstGeom prst="rect">
            <a:avLst/>
          </a:prstGeom>
          <a:noFill/>
          <a:ln w="9525">
            <a:noFill/>
            <a:miter lim="800000"/>
            <a:headEnd/>
            <a:tailEnd/>
          </a:ln>
          <a:effectLst/>
        </p:spPr>
        <p:txBody>
          <a:bodyPr wrap="none">
            <a:spAutoFit/>
          </a:bodyPr>
          <a:lstStyle/>
          <a:p>
            <a:r>
              <a:rPr lang="fr-CA">
                <a:latin typeface="Arial" pitchFamily="34" charset="0"/>
                <a:cs typeface="Arial" pitchFamily="34" charset="0"/>
              </a:rPr>
              <a:t>&gt;&gt;</a:t>
            </a:r>
            <a:r>
              <a:rPr lang="fr-CA">
                <a:solidFill>
                  <a:srgbClr val="008000"/>
                </a:solidFill>
                <a:latin typeface="Arial" pitchFamily="34" charset="0"/>
                <a:cs typeface="Arial" pitchFamily="34" charset="0"/>
              </a:rPr>
              <a:t>A </a:t>
            </a:r>
            <a:r>
              <a:rPr lang="fr-CA">
                <a:solidFill>
                  <a:srgbClr val="FF3300"/>
                </a:solidFill>
                <a:latin typeface="Arial" pitchFamily="34" charset="0"/>
                <a:cs typeface="Arial" pitchFamily="34" charset="0"/>
              </a:rPr>
              <a:t>.* </a:t>
            </a:r>
            <a:r>
              <a:rPr lang="fr-CA">
                <a:solidFill>
                  <a:srgbClr val="008000"/>
                </a:solidFill>
                <a:latin typeface="Arial" pitchFamily="34" charset="0"/>
                <a:cs typeface="Arial" pitchFamily="34" charset="0"/>
              </a:rPr>
              <a:t>B</a:t>
            </a:r>
          </a:p>
          <a:p>
            <a:r>
              <a:rPr lang="fr-CA">
                <a:latin typeface="Arial" pitchFamily="34" charset="0"/>
                <a:cs typeface="Arial" pitchFamily="34" charset="0"/>
              </a:rPr>
              <a:t>ans</a:t>
            </a:r>
          </a:p>
          <a:p>
            <a:r>
              <a:rPr lang="fr-CA">
                <a:latin typeface="Arial" pitchFamily="34" charset="0"/>
                <a:cs typeface="Arial" pitchFamily="34" charset="0"/>
              </a:rPr>
              <a:t>	24	24</a:t>
            </a:r>
          </a:p>
        </p:txBody>
      </p:sp>
      <p:sp>
        <p:nvSpPr>
          <p:cNvPr id="22534" name="Text Box 6"/>
          <p:cNvSpPr txBox="1">
            <a:spLocks noChangeArrowheads="1"/>
          </p:cNvSpPr>
          <p:nvPr/>
        </p:nvSpPr>
        <p:spPr bwMode="auto">
          <a:xfrm>
            <a:off x="533400" y="4764088"/>
            <a:ext cx="2954655" cy="1200329"/>
          </a:xfrm>
          <a:prstGeom prst="rect">
            <a:avLst/>
          </a:prstGeom>
          <a:noFill/>
          <a:ln w="9525">
            <a:noFill/>
            <a:miter lim="800000"/>
            <a:headEnd/>
            <a:tailEnd/>
          </a:ln>
          <a:effectLst/>
        </p:spPr>
        <p:txBody>
          <a:bodyPr wrap="none">
            <a:spAutoFit/>
          </a:bodyPr>
          <a:lstStyle/>
          <a:p>
            <a:r>
              <a:rPr lang="fr-CA">
                <a:solidFill>
                  <a:srgbClr val="FF3300"/>
                </a:solidFill>
                <a:latin typeface="Arial" pitchFamily="34" charset="0"/>
                <a:cs typeface="Arial" pitchFamily="34" charset="0"/>
              </a:rPr>
              <a:t>&gt;&gt;</a:t>
            </a:r>
            <a:r>
              <a:rPr lang="fr-CA">
                <a:solidFill>
                  <a:srgbClr val="008000"/>
                </a:solidFill>
                <a:latin typeface="Arial" pitchFamily="34" charset="0"/>
                <a:cs typeface="Arial" pitchFamily="34" charset="0"/>
              </a:rPr>
              <a:t>A </a:t>
            </a:r>
            <a:r>
              <a:rPr lang="fr-CA">
                <a:solidFill>
                  <a:srgbClr val="FF3300"/>
                </a:solidFill>
                <a:latin typeface="Arial" pitchFamily="34" charset="0"/>
                <a:cs typeface="Arial" pitchFamily="34" charset="0"/>
              </a:rPr>
              <a:t>./ </a:t>
            </a:r>
            <a:r>
              <a:rPr lang="fr-CA">
                <a:solidFill>
                  <a:srgbClr val="008000"/>
                </a:solidFill>
                <a:latin typeface="Arial" pitchFamily="34" charset="0"/>
                <a:cs typeface="Arial" pitchFamily="34" charset="0"/>
              </a:rPr>
              <a:t>B</a:t>
            </a:r>
          </a:p>
          <a:p>
            <a:r>
              <a:rPr lang="fr-CA">
                <a:latin typeface="Arial" pitchFamily="34" charset="0"/>
                <a:cs typeface="Arial" pitchFamily="34" charset="0"/>
              </a:rPr>
              <a:t>ans</a:t>
            </a:r>
          </a:p>
          <a:p>
            <a:r>
              <a:rPr lang="fr-CA">
                <a:latin typeface="Arial" pitchFamily="34" charset="0"/>
                <a:cs typeface="Arial" pitchFamily="34" charset="0"/>
              </a:rPr>
              <a:t>	6/4	3/8	</a:t>
            </a:r>
          </a:p>
        </p:txBody>
      </p:sp>
      <p:grpSp>
        <p:nvGrpSpPr>
          <p:cNvPr id="2" name="Group 17"/>
          <p:cNvGrpSpPr>
            <a:grpSpLocks/>
          </p:cNvGrpSpPr>
          <p:nvPr/>
        </p:nvGrpSpPr>
        <p:grpSpPr bwMode="auto">
          <a:xfrm>
            <a:off x="1447800" y="3733803"/>
            <a:ext cx="7223125" cy="690563"/>
            <a:chOff x="912" y="2352"/>
            <a:chExt cx="4550" cy="435"/>
          </a:xfrm>
        </p:grpSpPr>
        <p:sp>
          <p:nvSpPr>
            <p:cNvPr id="22535" name="Line 7"/>
            <p:cNvSpPr>
              <a:spLocks noChangeShapeType="1"/>
            </p:cNvSpPr>
            <p:nvPr/>
          </p:nvSpPr>
          <p:spPr bwMode="auto">
            <a:xfrm flipH="1" flipV="1">
              <a:off x="912" y="2352"/>
              <a:ext cx="1488" cy="336"/>
            </a:xfrm>
            <a:prstGeom prst="line">
              <a:avLst/>
            </a:prstGeom>
            <a:noFill/>
            <a:ln w="19050">
              <a:solidFill>
                <a:schemeClr val="accent2"/>
              </a:solidFill>
              <a:round/>
              <a:headEnd/>
              <a:tailEnd type="triangle" w="med" len="med"/>
            </a:ln>
            <a:effectLst/>
          </p:spPr>
          <p:txBody>
            <a:bodyPr/>
            <a:lstStyle/>
            <a:p>
              <a:endParaRPr lang="fr-FR"/>
            </a:p>
          </p:txBody>
        </p:sp>
        <p:sp>
          <p:nvSpPr>
            <p:cNvPr id="22536" name="Text Box 8"/>
            <p:cNvSpPr txBox="1">
              <a:spLocks noChangeArrowheads="1"/>
            </p:cNvSpPr>
            <p:nvPr/>
          </p:nvSpPr>
          <p:spPr bwMode="auto">
            <a:xfrm>
              <a:off x="2400" y="2496"/>
              <a:ext cx="3062" cy="291"/>
            </a:xfrm>
            <a:prstGeom prst="rect">
              <a:avLst/>
            </a:prstGeom>
            <a:noFill/>
            <a:ln w="9525">
              <a:noFill/>
              <a:miter lim="800000"/>
              <a:headEnd/>
              <a:tailEnd/>
            </a:ln>
            <a:effectLst/>
          </p:spPr>
          <p:txBody>
            <a:bodyPr wrap="none">
              <a:spAutoFit/>
            </a:bodyPr>
            <a:lstStyle/>
            <a:p>
              <a:r>
                <a:rPr lang="fr-CA" dirty="0">
                  <a:solidFill>
                    <a:schemeClr val="accent2"/>
                  </a:solidFill>
                  <a:latin typeface="Arial" pitchFamily="34" charset="0"/>
                  <a:cs typeface="Arial" pitchFamily="34" charset="0"/>
                </a:rPr>
                <a:t>multiplication élément par élément</a:t>
              </a:r>
            </a:p>
          </p:txBody>
        </p:sp>
      </p:grpSp>
      <p:grpSp>
        <p:nvGrpSpPr>
          <p:cNvPr id="3" name="Group 16"/>
          <p:cNvGrpSpPr>
            <a:grpSpLocks/>
          </p:cNvGrpSpPr>
          <p:nvPr/>
        </p:nvGrpSpPr>
        <p:grpSpPr bwMode="auto">
          <a:xfrm>
            <a:off x="1500166" y="5072074"/>
            <a:ext cx="5500688" cy="730250"/>
            <a:chOff x="960" y="3216"/>
            <a:chExt cx="3465" cy="460"/>
          </a:xfrm>
        </p:grpSpPr>
        <p:sp>
          <p:nvSpPr>
            <p:cNvPr id="22538" name="Line 10"/>
            <p:cNvSpPr>
              <a:spLocks noChangeShapeType="1"/>
            </p:cNvSpPr>
            <p:nvPr/>
          </p:nvSpPr>
          <p:spPr bwMode="auto">
            <a:xfrm flipH="1" flipV="1">
              <a:off x="960" y="3216"/>
              <a:ext cx="1584" cy="336"/>
            </a:xfrm>
            <a:prstGeom prst="line">
              <a:avLst/>
            </a:prstGeom>
            <a:noFill/>
            <a:ln w="19050">
              <a:solidFill>
                <a:schemeClr val="accent2"/>
              </a:solidFill>
              <a:round/>
              <a:headEnd/>
              <a:tailEnd type="triangle" w="med" len="med"/>
            </a:ln>
            <a:effectLst/>
          </p:spPr>
          <p:txBody>
            <a:bodyPr/>
            <a:lstStyle/>
            <a:p>
              <a:endParaRPr lang="fr-FR"/>
            </a:p>
          </p:txBody>
        </p:sp>
        <p:sp>
          <p:nvSpPr>
            <p:cNvPr id="22539" name="Text Box 11"/>
            <p:cNvSpPr txBox="1">
              <a:spLocks noChangeArrowheads="1"/>
            </p:cNvSpPr>
            <p:nvPr/>
          </p:nvSpPr>
          <p:spPr bwMode="auto">
            <a:xfrm>
              <a:off x="2582" y="3385"/>
              <a:ext cx="1843" cy="291"/>
            </a:xfrm>
            <a:prstGeom prst="rect">
              <a:avLst/>
            </a:prstGeom>
            <a:noFill/>
            <a:ln w="9525">
              <a:noFill/>
              <a:miter lim="800000"/>
              <a:headEnd/>
              <a:tailEnd/>
            </a:ln>
            <a:effectLst/>
          </p:spPr>
          <p:txBody>
            <a:bodyPr wrap="none">
              <a:spAutoFit/>
            </a:bodyPr>
            <a:lstStyle/>
            <a:p>
              <a:r>
                <a:rPr lang="fr-CA">
                  <a:solidFill>
                    <a:schemeClr val="accent2"/>
                  </a:solidFill>
                  <a:latin typeface="Arial" pitchFamily="34" charset="0"/>
                  <a:cs typeface="Arial" pitchFamily="34" charset="0"/>
                </a:rPr>
                <a:t>division par la droite</a:t>
              </a:r>
            </a:p>
          </p:txBody>
        </p:sp>
      </p:grpSp>
      <p:sp>
        <p:nvSpPr>
          <p:cNvPr id="17" name="Text Box 2"/>
          <p:cNvSpPr txBox="1">
            <a:spLocks noChangeArrowheads="1"/>
          </p:cNvSpPr>
          <p:nvPr/>
        </p:nvSpPr>
        <p:spPr bwMode="auto">
          <a:xfrm>
            <a:off x="1214414" y="0"/>
            <a:ext cx="4644220" cy="584775"/>
          </a:xfrm>
          <a:prstGeom prst="rect">
            <a:avLst/>
          </a:prstGeom>
          <a:noFill/>
          <a:ln w="9525">
            <a:noFill/>
            <a:miter lim="800000"/>
            <a:headEnd/>
            <a:tailEnd/>
          </a:ln>
          <a:effectLst/>
        </p:spPr>
        <p:txBody>
          <a:bodyPr wrap="none">
            <a:spAutoFit/>
          </a:bodyPr>
          <a:lstStyle/>
          <a:p>
            <a:r>
              <a:rPr lang="fr-CA" sz="3200" dirty="0">
                <a:latin typeface="+mj-lt"/>
                <a:cs typeface="Arial" pitchFamily="34" charset="0"/>
              </a:rPr>
              <a:t>Opérations </a:t>
            </a:r>
            <a:r>
              <a:rPr lang="fr-CA" sz="3200" dirty="0" smtClean="0">
                <a:latin typeface="+mj-lt"/>
                <a:cs typeface="Arial" pitchFamily="34" charset="0"/>
              </a:rPr>
              <a:t>sur les matrices</a:t>
            </a:r>
            <a:endParaRPr lang="fr-CA" sz="3200" dirty="0">
              <a:latin typeface="+mj-lt"/>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anim calcmode="lin" valueType="num">
                                      <p:cBhvr additive="base">
                                        <p:cTn id="7" dur="500" fill="hold"/>
                                        <p:tgtEl>
                                          <p:spTgt spid="22530"/>
                                        </p:tgtEl>
                                        <p:attrNameLst>
                                          <p:attrName>ppt_x</p:attrName>
                                        </p:attrNameLst>
                                      </p:cBhvr>
                                      <p:tavLst>
                                        <p:tav tm="0">
                                          <p:val>
                                            <p:strVal val="1+#ppt_w/2"/>
                                          </p:val>
                                        </p:tav>
                                        <p:tav tm="100000">
                                          <p:val>
                                            <p:strVal val="#ppt_x"/>
                                          </p:val>
                                        </p:tav>
                                      </p:tavLst>
                                    </p:anim>
                                    <p:anim calcmode="lin" valueType="num">
                                      <p:cBhvr additive="base">
                                        <p:cTn id="8" dur="500" fill="hold"/>
                                        <p:tgtEl>
                                          <p:spTgt spid="2253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grpId="0" nodeType="clickEffect">
                                  <p:stCondLst>
                                    <p:cond delay="0"/>
                                  </p:stCondLst>
                                  <p:childTnLst>
                                    <p:set>
                                      <p:cBhvr>
                                        <p:cTn id="12" dur="1" fill="hold">
                                          <p:stCondLst>
                                            <p:cond delay="0"/>
                                          </p:stCondLst>
                                        </p:cTn>
                                        <p:tgtEl>
                                          <p:spTgt spid="22532"/>
                                        </p:tgtEl>
                                        <p:attrNameLst>
                                          <p:attrName>style.visibility</p:attrName>
                                        </p:attrNameLst>
                                      </p:cBhvr>
                                      <p:to>
                                        <p:strVal val="visible"/>
                                      </p:to>
                                    </p:set>
                                    <p:anim calcmode="lin" valueType="num">
                                      <p:cBhvr additive="base">
                                        <p:cTn id="13" dur="500" fill="hold"/>
                                        <p:tgtEl>
                                          <p:spTgt spid="22532"/>
                                        </p:tgtEl>
                                        <p:attrNameLst>
                                          <p:attrName>ppt_x</p:attrName>
                                        </p:attrNameLst>
                                      </p:cBhvr>
                                      <p:tavLst>
                                        <p:tav tm="0">
                                          <p:val>
                                            <p:strVal val="1+#ppt_w/2"/>
                                          </p:val>
                                        </p:tav>
                                        <p:tav tm="100000">
                                          <p:val>
                                            <p:strVal val="#ppt_x"/>
                                          </p:val>
                                        </p:tav>
                                      </p:tavLst>
                                    </p:anim>
                                    <p:anim calcmode="lin" valueType="num">
                                      <p:cBhvr additive="base">
                                        <p:cTn id="14" dur="500" fill="hold"/>
                                        <p:tgtEl>
                                          <p:spTgt spid="22532"/>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22533"/>
                                        </p:tgtEl>
                                        <p:attrNameLst>
                                          <p:attrName>style.visibility</p:attrName>
                                        </p:attrNameLst>
                                      </p:cBhvr>
                                      <p:to>
                                        <p:strVal val="visible"/>
                                      </p:to>
                                    </p:set>
                                    <p:anim calcmode="lin" valueType="num">
                                      <p:cBhvr additive="base">
                                        <p:cTn id="19" dur="500" fill="hold"/>
                                        <p:tgtEl>
                                          <p:spTgt spid="22533"/>
                                        </p:tgtEl>
                                        <p:attrNameLst>
                                          <p:attrName>ppt_x</p:attrName>
                                        </p:attrNameLst>
                                      </p:cBhvr>
                                      <p:tavLst>
                                        <p:tav tm="0">
                                          <p:val>
                                            <p:strVal val="0-#ppt_w/2"/>
                                          </p:val>
                                        </p:tav>
                                        <p:tav tm="100000">
                                          <p:val>
                                            <p:strVal val="#ppt_x"/>
                                          </p:val>
                                        </p:tav>
                                      </p:tavLst>
                                    </p:anim>
                                    <p:anim calcmode="lin" valueType="num">
                                      <p:cBhvr additive="base">
                                        <p:cTn id="20" dur="500" fill="hold"/>
                                        <p:tgtEl>
                                          <p:spTgt spid="2253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1+#ppt_w/2"/>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2" fill="hold" grpId="0" nodeType="clickEffect">
                                  <p:stCondLst>
                                    <p:cond delay="0"/>
                                  </p:stCondLst>
                                  <p:childTnLst>
                                    <p:set>
                                      <p:cBhvr>
                                        <p:cTn id="30" dur="1" fill="hold">
                                          <p:stCondLst>
                                            <p:cond delay="0"/>
                                          </p:stCondLst>
                                        </p:cTn>
                                        <p:tgtEl>
                                          <p:spTgt spid="22534"/>
                                        </p:tgtEl>
                                        <p:attrNameLst>
                                          <p:attrName>style.visibility</p:attrName>
                                        </p:attrNameLst>
                                      </p:cBhvr>
                                      <p:to>
                                        <p:strVal val="visible"/>
                                      </p:to>
                                    </p:set>
                                    <p:anim calcmode="lin" valueType="num">
                                      <p:cBhvr additive="base">
                                        <p:cTn id="31" dur="500" fill="hold"/>
                                        <p:tgtEl>
                                          <p:spTgt spid="22534"/>
                                        </p:tgtEl>
                                        <p:attrNameLst>
                                          <p:attrName>ppt_x</p:attrName>
                                        </p:attrNameLst>
                                      </p:cBhvr>
                                      <p:tavLst>
                                        <p:tav tm="0">
                                          <p:val>
                                            <p:strVal val="0-#ppt_w/2"/>
                                          </p:val>
                                        </p:tav>
                                        <p:tav tm="100000">
                                          <p:val>
                                            <p:strVal val="#ppt_x"/>
                                          </p:val>
                                        </p:tav>
                                      </p:tavLst>
                                    </p:anim>
                                    <p:anim calcmode="lin" valueType="num">
                                      <p:cBhvr additive="base">
                                        <p:cTn id="32" dur="500" fill="hold"/>
                                        <p:tgtEl>
                                          <p:spTgt spid="2253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6"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1+#ppt_w/2"/>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utoUpdateAnimBg="0"/>
      <p:bldP spid="22532" grpId="0" autoUpdateAnimBg="0"/>
      <p:bldP spid="22533" grpId="0" autoUpdateAnimBg="0"/>
      <p:bldP spid="22534"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space réservé du numéro de diapositive 3"/>
          <p:cNvSpPr>
            <a:spLocks noGrp="1"/>
          </p:cNvSpPr>
          <p:nvPr>
            <p:ph type="sldNum" sz="quarter" idx="12"/>
          </p:nvPr>
        </p:nvSpPr>
        <p:spPr/>
        <p:txBody>
          <a:bodyPr/>
          <a:lstStyle/>
          <a:p>
            <a:fld id="{114CC563-3A6F-416A-8786-0A0D7F4D2738}" type="slidenum">
              <a:rPr lang="fr-CA"/>
              <a:pPr/>
              <a:t>69</a:t>
            </a:fld>
            <a:endParaRPr lang="fr-CA"/>
          </a:p>
        </p:txBody>
      </p:sp>
      <p:sp>
        <p:nvSpPr>
          <p:cNvPr id="23555" name="Text Box 3"/>
          <p:cNvSpPr txBox="1">
            <a:spLocks noChangeArrowheads="1"/>
          </p:cNvSpPr>
          <p:nvPr/>
        </p:nvSpPr>
        <p:spPr bwMode="auto">
          <a:xfrm>
            <a:off x="593725" y="877888"/>
            <a:ext cx="3897221" cy="1200329"/>
          </a:xfrm>
          <a:prstGeom prst="rect">
            <a:avLst/>
          </a:prstGeom>
          <a:noFill/>
          <a:ln w="9525">
            <a:noFill/>
            <a:miter lim="800000"/>
            <a:headEnd/>
            <a:tailEnd/>
          </a:ln>
          <a:effectLst/>
        </p:spPr>
        <p:txBody>
          <a:bodyPr wrap="none">
            <a:spAutoFit/>
          </a:bodyPr>
          <a:lstStyle/>
          <a:p>
            <a:r>
              <a:rPr lang="fr-CA">
                <a:solidFill>
                  <a:srgbClr val="FF3300"/>
                </a:solidFill>
                <a:latin typeface="Arial" pitchFamily="34" charset="0"/>
                <a:cs typeface="Arial" pitchFamily="34" charset="0"/>
              </a:rPr>
              <a:t>&gt;&gt;</a:t>
            </a:r>
            <a:r>
              <a:rPr lang="fr-CA">
                <a:solidFill>
                  <a:srgbClr val="008000"/>
                </a:solidFill>
                <a:latin typeface="Arial" pitchFamily="34" charset="0"/>
                <a:cs typeface="Arial" pitchFamily="34" charset="0"/>
              </a:rPr>
              <a:t>A</a:t>
            </a:r>
            <a:r>
              <a:rPr lang="fr-CA">
                <a:latin typeface="Arial" pitchFamily="34" charset="0"/>
                <a:cs typeface="Arial" pitchFamily="34" charset="0"/>
              </a:rPr>
              <a:t> </a:t>
            </a:r>
            <a:r>
              <a:rPr lang="fr-CA">
                <a:solidFill>
                  <a:srgbClr val="FF3300"/>
                </a:solidFill>
                <a:latin typeface="Arial" pitchFamily="34" charset="0"/>
                <a:cs typeface="Arial" pitchFamily="34" charset="0"/>
              </a:rPr>
              <a:t>.\</a:t>
            </a:r>
            <a:r>
              <a:rPr lang="fr-CA">
                <a:latin typeface="Arial" pitchFamily="34" charset="0"/>
                <a:cs typeface="Arial" pitchFamily="34" charset="0"/>
              </a:rPr>
              <a:t> </a:t>
            </a:r>
            <a:r>
              <a:rPr lang="fr-CA">
                <a:solidFill>
                  <a:srgbClr val="008000"/>
                </a:solidFill>
                <a:latin typeface="Arial" pitchFamily="34" charset="0"/>
                <a:cs typeface="Arial" pitchFamily="34" charset="0"/>
              </a:rPr>
              <a:t>B</a:t>
            </a:r>
          </a:p>
          <a:p>
            <a:r>
              <a:rPr lang="fr-CA">
                <a:latin typeface="Arial" pitchFamily="34" charset="0"/>
                <a:cs typeface="Arial" pitchFamily="34" charset="0"/>
              </a:rPr>
              <a:t>ans</a:t>
            </a:r>
          </a:p>
          <a:p>
            <a:r>
              <a:rPr lang="fr-CA">
                <a:latin typeface="Arial" pitchFamily="34" charset="0"/>
                <a:cs typeface="Arial" pitchFamily="34" charset="0"/>
              </a:rPr>
              <a:t>	0.6667	2.6667</a:t>
            </a:r>
          </a:p>
        </p:txBody>
      </p:sp>
      <p:sp>
        <p:nvSpPr>
          <p:cNvPr id="23556" name="Text Box 4"/>
          <p:cNvSpPr txBox="1">
            <a:spLocks noChangeArrowheads="1"/>
          </p:cNvSpPr>
          <p:nvPr/>
        </p:nvSpPr>
        <p:spPr bwMode="auto">
          <a:xfrm>
            <a:off x="593725" y="2249488"/>
            <a:ext cx="2202847" cy="1200329"/>
          </a:xfrm>
          <a:prstGeom prst="rect">
            <a:avLst/>
          </a:prstGeom>
          <a:noFill/>
          <a:ln w="9525">
            <a:noFill/>
            <a:miter lim="800000"/>
            <a:headEnd/>
            <a:tailEnd/>
          </a:ln>
          <a:effectLst/>
        </p:spPr>
        <p:txBody>
          <a:bodyPr wrap="none">
            <a:spAutoFit/>
          </a:bodyPr>
          <a:lstStyle/>
          <a:p>
            <a:r>
              <a:rPr lang="fr-CA">
                <a:solidFill>
                  <a:srgbClr val="FF3300"/>
                </a:solidFill>
                <a:latin typeface="Arial" pitchFamily="34" charset="0"/>
                <a:cs typeface="Arial" pitchFamily="34" charset="0"/>
              </a:rPr>
              <a:t>&gt;&gt;</a:t>
            </a:r>
            <a:r>
              <a:rPr lang="fr-CA">
                <a:solidFill>
                  <a:srgbClr val="008000"/>
                </a:solidFill>
                <a:latin typeface="Arial" pitchFamily="34" charset="0"/>
                <a:cs typeface="Arial" pitchFamily="34" charset="0"/>
              </a:rPr>
              <a:t>A</a:t>
            </a:r>
            <a:r>
              <a:rPr lang="fr-CA">
                <a:latin typeface="Arial" pitchFamily="34" charset="0"/>
                <a:cs typeface="Arial" pitchFamily="34" charset="0"/>
              </a:rPr>
              <a:t> </a:t>
            </a:r>
            <a:r>
              <a:rPr lang="fr-CA">
                <a:solidFill>
                  <a:srgbClr val="FF3300"/>
                </a:solidFill>
                <a:latin typeface="Arial" pitchFamily="34" charset="0"/>
                <a:cs typeface="Arial" pitchFamily="34" charset="0"/>
              </a:rPr>
              <a:t>.^</a:t>
            </a:r>
            <a:r>
              <a:rPr lang="fr-CA">
                <a:latin typeface="Arial" pitchFamily="34" charset="0"/>
                <a:cs typeface="Arial" pitchFamily="34" charset="0"/>
              </a:rPr>
              <a:t> </a:t>
            </a:r>
            <a:r>
              <a:rPr lang="fr-CA">
                <a:solidFill>
                  <a:srgbClr val="008000"/>
                </a:solidFill>
                <a:latin typeface="Arial" pitchFamily="34" charset="0"/>
                <a:cs typeface="Arial" pitchFamily="34" charset="0"/>
              </a:rPr>
              <a:t>c</a:t>
            </a:r>
          </a:p>
          <a:p>
            <a:r>
              <a:rPr lang="fr-CA">
                <a:latin typeface="Arial" pitchFamily="34" charset="0"/>
                <a:cs typeface="Arial" pitchFamily="34" charset="0"/>
              </a:rPr>
              <a:t>ans</a:t>
            </a:r>
          </a:p>
          <a:p>
            <a:r>
              <a:rPr lang="fr-CA">
                <a:latin typeface="Arial" pitchFamily="34" charset="0"/>
                <a:cs typeface="Arial" pitchFamily="34" charset="0"/>
              </a:rPr>
              <a:t>	36	9</a:t>
            </a:r>
          </a:p>
        </p:txBody>
      </p:sp>
      <p:grpSp>
        <p:nvGrpSpPr>
          <p:cNvPr id="2" name="Group 13"/>
          <p:cNvGrpSpPr>
            <a:grpSpLocks/>
          </p:cNvGrpSpPr>
          <p:nvPr/>
        </p:nvGrpSpPr>
        <p:grpSpPr bwMode="auto">
          <a:xfrm>
            <a:off x="1600200" y="1295401"/>
            <a:ext cx="7035800" cy="501651"/>
            <a:chOff x="1008" y="816"/>
            <a:chExt cx="4432" cy="316"/>
          </a:xfrm>
        </p:grpSpPr>
        <p:sp>
          <p:nvSpPr>
            <p:cNvPr id="23558" name="Line 6"/>
            <p:cNvSpPr>
              <a:spLocks noChangeShapeType="1"/>
            </p:cNvSpPr>
            <p:nvPr/>
          </p:nvSpPr>
          <p:spPr bwMode="auto">
            <a:xfrm>
              <a:off x="1008" y="816"/>
              <a:ext cx="2448" cy="192"/>
            </a:xfrm>
            <a:prstGeom prst="line">
              <a:avLst/>
            </a:prstGeom>
            <a:noFill/>
            <a:ln w="19050">
              <a:solidFill>
                <a:schemeClr val="accent2"/>
              </a:solidFill>
              <a:round/>
              <a:headEnd type="triangle" w="med" len="med"/>
              <a:tailEnd/>
            </a:ln>
            <a:effectLst/>
          </p:spPr>
          <p:txBody>
            <a:bodyPr/>
            <a:lstStyle/>
            <a:p>
              <a:endParaRPr lang="fr-FR"/>
            </a:p>
          </p:txBody>
        </p:sp>
        <p:sp>
          <p:nvSpPr>
            <p:cNvPr id="23559" name="Text Box 7"/>
            <p:cNvSpPr txBox="1">
              <a:spLocks noChangeArrowheads="1"/>
            </p:cNvSpPr>
            <p:nvPr/>
          </p:nvSpPr>
          <p:spPr bwMode="auto">
            <a:xfrm>
              <a:off x="3446" y="841"/>
              <a:ext cx="1994" cy="291"/>
            </a:xfrm>
            <a:prstGeom prst="rect">
              <a:avLst/>
            </a:prstGeom>
            <a:noFill/>
            <a:ln w="9525">
              <a:noFill/>
              <a:miter lim="800000"/>
              <a:headEnd/>
              <a:tailEnd/>
            </a:ln>
            <a:effectLst/>
          </p:spPr>
          <p:txBody>
            <a:bodyPr wrap="none">
              <a:spAutoFit/>
            </a:bodyPr>
            <a:lstStyle/>
            <a:p>
              <a:r>
                <a:rPr lang="fr-CA">
                  <a:solidFill>
                    <a:schemeClr val="accent2"/>
                  </a:solidFill>
                  <a:latin typeface="Arial" pitchFamily="34" charset="0"/>
                  <a:cs typeface="Arial" pitchFamily="34" charset="0"/>
                </a:rPr>
                <a:t>division par la gauche</a:t>
              </a:r>
            </a:p>
          </p:txBody>
        </p:sp>
      </p:grpSp>
      <p:grpSp>
        <p:nvGrpSpPr>
          <p:cNvPr id="3" name="Group 14"/>
          <p:cNvGrpSpPr>
            <a:grpSpLocks/>
          </p:cNvGrpSpPr>
          <p:nvPr/>
        </p:nvGrpSpPr>
        <p:grpSpPr bwMode="auto">
          <a:xfrm>
            <a:off x="1600200" y="2667001"/>
            <a:ext cx="6061075" cy="1035051"/>
            <a:chOff x="1008" y="1680"/>
            <a:chExt cx="3818" cy="652"/>
          </a:xfrm>
        </p:grpSpPr>
        <p:sp>
          <p:nvSpPr>
            <p:cNvPr id="23561" name="Line 9"/>
            <p:cNvSpPr>
              <a:spLocks noChangeShapeType="1"/>
            </p:cNvSpPr>
            <p:nvPr/>
          </p:nvSpPr>
          <p:spPr bwMode="auto">
            <a:xfrm>
              <a:off x="1008" y="1680"/>
              <a:ext cx="2400" cy="528"/>
            </a:xfrm>
            <a:prstGeom prst="line">
              <a:avLst/>
            </a:prstGeom>
            <a:noFill/>
            <a:ln w="19050">
              <a:solidFill>
                <a:schemeClr val="accent2"/>
              </a:solidFill>
              <a:round/>
              <a:headEnd type="triangle" w="med" len="med"/>
              <a:tailEnd/>
            </a:ln>
            <a:effectLst/>
          </p:spPr>
          <p:txBody>
            <a:bodyPr/>
            <a:lstStyle/>
            <a:p>
              <a:endParaRPr lang="fr-FR"/>
            </a:p>
          </p:txBody>
        </p:sp>
        <p:sp>
          <p:nvSpPr>
            <p:cNvPr id="23562" name="Text Box 10"/>
            <p:cNvSpPr txBox="1">
              <a:spLocks noChangeArrowheads="1"/>
            </p:cNvSpPr>
            <p:nvPr/>
          </p:nvSpPr>
          <p:spPr bwMode="auto">
            <a:xfrm>
              <a:off x="3446" y="2041"/>
              <a:ext cx="1380" cy="291"/>
            </a:xfrm>
            <a:prstGeom prst="rect">
              <a:avLst/>
            </a:prstGeom>
            <a:noFill/>
            <a:ln w="9525">
              <a:noFill/>
              <a:miter lim="800000"/>
              <a:headEnd/>
              <a:tailEnd/>
            </a:ln>
            <a:effectLst/>
          </p:spPr>
          <p:txBody>
            <a:bodyPr wrap="none">
              <a:spAutoFit/>
            </a:bodyPr>
            <a:lstStyle/>
            <a:p>
              <a:r>
                <a:rPr lang="fr-CA" dirty="0">
                  <a:solidFill>
                    <a:schemeClr val="accent2"/>
                  </a:solidFill>
                  <a:latin typeface="Arial" pitchFamily="34" charset="0"/>
                  <a:cs typeface="Arial" pitchFamily="34" charset="0"/>
                </a:rPr>
                <a:t>exponentiation</a:t>
              </a:r>
            </a:p>
          </p:txBody>
        </p:sp>
      </p:grpSp>
      <p:sp>
        <p:nvSpPr>
          <p:cNvPr id="16" name="Text Box 2"/>
          <p:cNvSpPr txBox="1">
            <a:spLocks noChangeArrowheads="1"/>
          </p:cNvSpPr>
          <p:nvPr/>
        </p:nvSpPr>
        <p:spPr bwMode="auto">
          <a:xfrm>
            <a:off x="1214414" y="0"/>
            <a:ext cx="4644220" cy="584775"/>
          </a:xfrm>
          <a:prstGeom prst="rect">
            <a:avLst/>
          </a:prstGeom>
          <a:noFill/>
          <a:ln w="9525">
            <a:noFill/>
            <a:miter lim="800000"/>
            <a:headEnd/>
            <a:tailEnd/>
          </a:ln>
          <a:effectLst/>
        </p:spPr>
        <p:txBody>
          <a:bodyPr wrap="none">
            <a:spAutoFit/>
          </a:bodyPr>
          <a:lstStyle/>
          <a:p>
            <a:r>
              <a:rPr lang="fr-CA" sz="3200" dirty="0">
                <a:latin typeface="+mj-lt"/>
                <a:cs typeface="Arial" pitchFamily="34" charset="0"/>
              </a:rPr>
              <a:t>Opérations </a:t>
            </a:r>
            <a:r>
              <a:rPr lang="fr-CA" sz="3200" dirty="0" smtClean="0">
                <a:latin typeface="+mj-lt"/>
                <a:cs typeface="Arial" pitchFamily="34" charset="0"/>
              </a:rPr>
              <a:t>sur les matrices</a:t>
            </a:r>
            <a:endParaRPr lang="fr-CA" sz="3200" dirty="0">
              <a:latin typeface="+mj-lt"/>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additive="base">
                                        <p:cTn id="7" dur="500" fill="hold"/>
                                        <p:tgtEl>
                                          <p:spTgt spid="23555"/>
                                        </p:tgtEl>
                                        <p:attrNameLst>
                                          <p:attrName>ppt_x</p:attrName>
                                        </p:attrNameLst>
                                      </p:cBhvr>
                                      <p:tavLst>
                                        <p:tav tm="0">
                                          <p:val>
                                            <p:strVal val="0-#ppt_w/2"/>
                                          </p:val>
                                        </p:tav>
                                        <p:tav tm="100000">
                                          <p:val>
                                            <p:strVal val="#ppt_x"/>
                                          </p:val>
                                        </p:tav>
                                      </p:tavLst>
                                    </p:anim>
                                    <p:anim calcmode="lin" valueType="num">
                                      <p:cBhvr additive="base">
                                        <p:cTn id="8" dur="500" fill="hold"/>
                                        <p:tgtEl>
                                          <p:spTgt spid="2355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3556"/>
                                        </p:tgtEl>
                                        <p:attrNameLst>
                                          <p:attrName>style.visibility</p:attrName>
                                        </p:attrNameLst>
                                      </p:cBhvr>
                                      <p:to>
                                        <p:strVal val="visible"/>
                                      </p:to>
                                    </p:set>
                                    <p:anim calcmode="lin" valueType="num">
                                      <p:cBhvr additive="base">
                                        <p:cTn id="18" dur="500" fill="hold"/>
                                        <p:tgtEl>
                                          <p:spTgt spid="23556"/>
                                        </p:tgtEl>
                                        <p:attrNameLst>
                                          <p:attrName>ppt_x</p:attrName>
                                        </p:attrNameLst>
                                      </p:cBhvr>
                                      <p:tavLst>
                                        <p:tav tm="0">
                                          <p:val>
                                            <p:strVal val="0-#ppt_w/2"/>
                                          </p:val>
                                        </p:tav>
                                        <p:tav tm="100000">
                                          <p:val>
                                            <p:strVal val="#ppt_x"/>
                                          </p:val>
                                        </p:tav>
                                      </p:tavLst>
                                    </p:anim>
                                    <p:anim calcmode="lin" valueType="num">
                                      <p:cBhvr additive="base">
                                        <p:cTn id="19" dur="500" fill="hold"/>
                                        <p:tgtEl>
                                          <p:spTgt spid="23556"/>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4" presetClass="entr" presetSubtype="16"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ox(in)">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autoUpdateAnimBg="0"/>
      <p:bldP spid="23556"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Espace réservé du numéro de diapositive 3"/>
          <p:cNvSpPr>
            <a:spLocks noGrp="1"/>
          </p:cNvSpPr>
          <p:nvPr>
            <p:ph type="sldNum" sz="quarter" idx="12"/>
          </p:nvPr>
        </p:nvSpPr>
        <p:spPr>
          <a:noFill/>
        </p:spPr>
        <p:txBody>
          <a:bodyPr/>
          <a:lstStyle/>
          <a:p>
            <a:fld id="{B87E0DFF-70F5-420C-A653-707A08F64856}" type="slidenum">
              <a:rPr lang="fr-CA"/>
              <a:pPr/>
              <a:t>70</a:t>
            </a:fld>
            <a:endParaRPr lang="fr-CA"/>
          </a:p>
        </p:txBody>
      </p:sp>
      <p:sp>
        <p:nvSpPr>
          <p:cNvPr id="15363" name="Text Box 2"/>
          <p:cNvSpPr txBox="1">
            <a:spLocks noChangeArrowheads="1"/>
          </p:cNvSpPr>
          <p:nvPr/>
        </p:nvSpPr>
        <p:spPr bwMode="auto">
          <a:xfrm>
            <a:off x="441325" y="217488"/>
            <a:ext cx="2630488" cy="519112"/>
          </a:xfrm>
          <a:prstGeom prst="rect">
            <a:avLst/>
          </a:prstGeom>
          <a:noFill/>
          <a:ln w="9525">
            <a:noFill/>
            <a:miter lim="800000"/>
            <a:headEnd/>
            <a:tailEnd/>
          </a:ln>
        </p:spPr>
        <p:txBody>
          <a:bodyPr wrap="none">
            <a:spAutoFit/>
          </a:bodyPr>
          <a:lstStyle/>
          <a:p>
            <a:r>
              <a:rPr lang="fr-CA" b="1" u="sng">
                <a:solidFill>
                  <a:srgbClr val="CC9900"/>
                </a:solidFill>
                <a:latin typeface="Arial" pitchFamily="34" charset="0"/>
                <a:cs typeface="Arial" pitchFamily="34" charset="0"/>
              </a:rPr>
              <a:t>Jeu des </a:t>
            </a:r>
            <a:r>
              <a:rPr lang="fr-CA" sz="2800" b="1" u="sng">
                <a:solidFill>
                  <a:srgbClr val="CC9900"/>
                </a:solidFill>
                <a:latin typeface="Arial" pitchFamily="34" charset="0"/>
                <a:cs typeface="Arial" pitchFamily="34" charset="0"/>
              </a:rPr>
              <a:t>indices</a:t>
            </a:r>
            <a:endParaRPr lang="fr-CA" b="1" u="sng">
              <a:solidFill>
                <a:srgbClr val="CC9900"/>
              </a:solidFill>
              <a:latin typeface="Arial" pitchFamily="34" charset="0"/>
              <a:cs typeface="Arial" pitchFamily="34" charset="0"/>
            </a:endParaRPr>
          </a:p>
        </p:txBody>
      </p:sp>
      <p:sp>
        <p:nvSpPr>
          <p:cNvPr id="18435" name="Text Box 3"/>
          <p:cNvSpPr txBox="1">
            <a:spLocks noChangeArrowheads="1"/>
          </p:cNvSpPr>
          <p:nvPr/>
        </p:nvSpPr>
        <p:spPr bwMode="auto">
          <a:xfrm>
            <a:off x="457200" y="838200"/>
            <a:ext cx="6130925" cy="457200"/>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v(</a:t>
            </a:r>
            <a:r>
              <a:rPr lang="fr-CA" b="1">
                <a:solidFill>
                  <a:srgbClr val="FF3300"/>
                </a:solidFill>
                <a:latin typeface="Arial" pitchFamily="34" charset="0"/>
                <a:cs typeface="Arial" pitchFamily="34" charset="0"/>
                <a:sym typeface="Wingdings" pitchFamily="2" charset="2"/>
              </a:rPr>
              <a:t>:)</a:t>
            </a:r>
            <a:r>
              <a:rPr lang="fr-CA">
                <a:latin typeface="Arial" pitchFamily="34" charset="0"/>
                <a:cs typeface="Arial" pitchFamily="34" charset="0"/>
                <a:sym typeface="Wingdings" pitchFamily="2" charset="2"/>
              </a:rPr>
              <a:t>		tous les éléments du vecteur v</a:t>
            </a:r>
            <a:endParaRPr lang="fr-CA">
              <a:latin typeface="Arial" pitchFamily="34" charset="0"/>
              <a:cs typeface="Arial" pitchFamily="34" charset="0"/>
            </a:endParaRPr>
          </a:p>
        </p:txBody>
      </p:sp>
      <p:sp>
        <p:nvSpPr>
          <p:cNvPr id="18436" name="Text Box 4"/>
          <p:cNvSpPr txBox="1">
            <a:spLocks noChangeArrowheads="1"/>
          </p:cNvSpPr>
          <p:nvPr/>
        </p:nvSpPr>
        <p:spPr bwMode="auto">
          <a:xfrm>
            <a:off x="457200" y="1406525"/>
            <a:ext cx="4794250" cy="457200"/>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v(2:5)</a:t>
            </a:r>
            <a:r>
              <a:rPr lang="fr-CA">
                <a:latin typeface="Arial" pitchFamily="34" charset="0"/>
                <a:cs typeface="Arial" pitchFamily="34" charset="0"/>
              </a:rPr>
              <a:t>		du 2e au 5e élément</a:t>
            </a:r>
          </a:p>
        </p:txBody>
      </p:sp>
      <p:sp>
        <p:nvSpPr>
          <p:cNvPr id="18437" name="Text Box 5"/>
          <p:cNvSpPr txBox="1">
            <a:spLocks noChangeArrowheads="1"/>
          </p:cNvSpPr>
          <p:nvPr/>
        </p:nvSpPr>
        <p:spPr bwMode="auto">
          <a:xfrm>
            <a:off x="457200" y="2016125"/>
            <a:ext cx="6653213" cy="457200"/>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A(:, 3)</a:t>
            </a:r>
            <a:r>
              <a:rPr lang="fr-CA" b="1">
                <a:latin typeface="Arial" pitchFamily="34" charset="0"/>
                <a:cs typeface="Arial" pitchFamily="34" charset="0"/>
              </a:rPr>
              <a:t>		</a:t>
            </a:r>
            <a:r>
              <a:rPr lang="fr-CA">
                <a:latin typeface="Arial" pitchFamily="34" charset="0"/>
                <a:cs typeface="Arial" pitchFamily="34" charset="0"/>
              </a:rPr>
              <a:t>tous les éléments de la 3</a:t>
            </a:r>
            <a:r>
              <a:rPr lang="fr-CA" baseline="30000">
                <a:latin typeface="Arial" pitchFamily="34" charset="0"/>
                <a:cs typeface="Arial" pitchFamily="34" charset="0"/>
              </a:rPr>
              <a:t>e</a:t>
            </a:r>
            <a:r>
              <a:rPr lang="fr-CA">
                <a:latin typeface="Arial" pitchFamily="34" charset="0"/>
                <a:cs typeface="Arial" pitchFamily="34" charset="0"/>
              </a:rPr>
              <a:t> colonne</a:t>
            </a:r>
            <a:endParaRPr lang="fr-CA">
              <a:solidFill>
                <a:srgbClr val="FF3300"/>
              </a:solidFill>
              <a:latin typeface="Arial" pitchFamily="34" charset="0"/>
              <a:cs typeface="Arial" pitchFamily="34" charset="0"/>
            </a:endParaRPr>
          </a:p>
        </p:txBody>
      </p:sp>
      <p:sp>
        <p:nvSpPr>
          <p:cNvPr id="18438" name="Text Box 6"/>
          <p:cNvSpPr txBox="1">
            <a:spLocks noChangeArrowheads="1"/>
          </p:cNvSpPr>
          <p:nvPr/>
        </p:nvSpPr>
        <p:spPr bwMode="auto">
          <a:xfrm>
            <a:off x="457200" y="2665413"/>
            <a:ext cx="7596188" cy="457200"/>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A(:,2:5)</a:t>
            </a:r>
            <a:r>
              <a:rPr lang="fr-CA">
                <a:latin typeface="Arial" pitchFamily="34" charset="0"/>
                <a:cs typeface="Arial" pitchFamily="34" charset="0"/>
              </a:rPr>
              <a:t>	tous les éléments de la 2</a:t>
            </a:r>
            <a:r>
              <a:rPr lang="fr-CA" baseline="30000">
                <a:latin typeface="Arial" pitchFamily="34" charset="0"/>
                <a:cs typeface="Arial" pitchFamily="34" charset="0"/>
              </a:rPr>
              <a:t>e</a:t>
            </a:r>
            <a:r>
              <a:rPr lang="fr-CA">
                <a:latin typeface="Arial" pitchFamily="34" charset="0"/>
                <a:cs typeface="Arial" pitchFamily="34" charset="0"/>
              </a:rPr>
              <a:t> à la 5</a:t>
            </a:r>
            <a:r>
              <a:rPr lang="fr-CA" baseline="30000">
                <a:latin typeface="Arial" pitchFamily="34" charset="0"/>
                <a:cs typeface="Arial" pitchFamily="34" charset="0"/>
              </a:rPr>
              <a:t>e</a:t>
            </a:r>
            <a:r>
              <a:rPr lang="fr-CA">
                <a:latin typeface="Arial" pitchFamily="34" charset="0"/>
                <a:cs typeface="Arial" pitchFamily="34" charset="0"/>
              </a:rPr>
              <a:t> colonne</a:t>
            </a:r>
          </a:p>
        </p:txBody>
      </p:sp>
      <p:sp>
        <p:nvSpPr>
          <p:cNvPr id="18439" name="Text Box 7"/>
          <p:cNvSpPr txBox="1">
            <a:spLocks noChangeArrowheads="1"/>
          </p:cNvSpPr>
          <p:nvPr/>
        </p:nvSpPr>
        <p:spPr bwMode="auto">
          <a:xfrm>
            <a:off x="457200" y="3276600"/>
            <a:ext cx="8047038" cy="822325"/>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A(2:3,1:3)</a:t>
            </a:r>
            <a:r>
              <a:rPr lang="fr-CA">
                <a:latin typeface="Arial" pitchFamily="34" charset="0"/>
                <a:cs typeface="Arial" pitchFamily="34" charset="0"/>
              </a:rPr>
              <a:t>	tous les éléments dans la 2</a:t>
            </a:r>
            <a:r>
              <a:rPr lang="fr-CA" baseline="30000">
                <a:latin typeface="Arial" pitchFamily="34" charset="0"/>
                <a:cs typeface="Arial" pitchFamily="34" charset="0"/>
              </a:rPr>
              <a:t>e</a:t>
            </a:r>
            <a:r>
              <a:rPr lang="fr-CA">
                <a:latin typeface="Arial" pitchFamily="34" charset="0"/>
                <a:cs typeface="Arial" pitchFamily="34" charset="0"/>
              </a:rPr>
              <a:t> et </a:t>
            </a:r>
            <a:r>
              <a:rPr lang="fr-CA"/>
              <a:t>3</a:t>
            </a:r>
            <a:r>
              <a:rPr lang="fr-CA" baseline="30000"/>
              <a:t>e</a:t>
            </a:r>
            <a:r>
              <a:rPr lang="fr-CA">
                <a:latin typeface="Arial" pitchFamily="34" charset="0"/>
                <a:cs typeface="Arial" pitchFamily="34" charset="0"/>
              </a:rPr>
              <a:t> ligne et qui</a:t>
            </a:r>
          </a:p>
          <a:p>
            <a:r>
              <a:rPr lang="fr-CA">
                <a:latin typeface="Arial" pitchFamily="34" charset="0"/>
                <a:cs typeface="Arial" pitchFamily="34" charset="0"/>
              </a:rPr>
              <a:t>                      sont aussi dans la 1</a:t>
            </a:r>
            <a:r>
              <a:rPr lang="fr-CA" baseline="30000">
                <a:latin typeface="Arial" pitchFamily="34" charset="0"/>
                <a:cs typeface="Arial" pitchFamily="34" charset="0"/>
              </a:rPr>
              <a:t>ère</a:t>
            </a:r>
            <a:r>
              <a:rPr lang="fr-CA">
                <a:latin typeface="Arial" pitchFamily="34" charset="0"/>
                <a:cs typeface="Arial" pitchFamily="34" charset="0"/>
              </a:rPr>
              <a:t> à la 3</a:t>
            </a:r>
            <a:r>
              <a:rPr lang="fr-CA" baseline="30000">
                <a:latin typeface="Arial" pitchFamily="34" charset="0"/>
                <a:cs typeface="Arial" pitchFamily="34" charset="0"/>
              </a:rPr>
              <a:t>e</a:t>
            </a:r>
            <a:r>
              <a:rPr lang="fr-CA">
                <a:latin typeface="Arial" pitchFamily="34" charset="0"/>
                <a:cs typeface="Arial" pitchFamily="34" charset="0"/>
              </a:rPr>
              <a:t> colonne</a:t>
            </a:r>
          </a:p>
        </p:txBody>
      </p:sp>
      <p:sp>
        <p:nvSpPr>
          <p:cNvPr id="18440" name="Text Box 8"/>
          <p:cNvSpPr txBox="1">
            <a:spLocks noChangeArrowheads="1"/>
          </p:cNvSpPr>
          <p:nvPr/>
        </p:nvSpPr>
        <p:spPr bwMode="auto">
          <a:xfrm>
            <a:off x="457200" y="4156075"/>
            <a:ext cx="6584950" cy="457200"/>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A( [1 4] ) = [ ]</a:t>
            </a:r>
            <a:r>
              <a:rPr lang="fr-CA">
                <a:latin typeface="Arial" pitchFamily="34" charset="0"/>
                <a:cs typeface="Arial" pitchFamily="34" charset="0"/>
              </a:rPr>
              <a:t>	élimine les colonnes 1 et 4	</a:t>
            </a:r>
          </a:p>
        </p:txBody>
      </p:sp>
      <p:sp>
        <p:nvSpPr>
          <p:cNvPr id="18441" name="Text Box 9"/>
          <p:cNvSpPr txBox="1">
            <a:spLocks noChangeArrowheads="1"/>
          </p:cNvSpPr>
          <p:nvPr/>
        </p:nvSpPr>
        <p:spPr bwMode="auto">
          <a:xfrm>
            <a:off x="457200" y="4840288"/>
            <a:ext cx="4926013" cy="1917700"/>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&gt;&gt;A= [</a:t>
            </a:r>
            <a:r>
              <a:rPr lang="fr-CA" b="1">
                <a:latin typeface="Arial" pitchFamily="34" charset="0"/>
                <a:cs typeface="Arial" pitchFamily="34" charset="0"/>
              </a:rPr>
              <a:t>6, 9, 4; 1, 5, 7</a:t>
            </a:r>
            <a:r>
              <a:rPr lang="fr-CA" b="1">
                <a:solidFill>
                  <a:srgbClr val="FF3300"/>
                </a:solidFill>
                <a:latin typeface="Arial" pitchFamily="34" charset="0"/>
                <a:cs typeface="Arial" pitchFamily="34" charset="0"/>
              </a:rPr>
              <a:t>];</a:t>
            </a:r>
          </a:p>
          <a:p>
            <a:r>
              <a:rPr lang="fr-CA" b="1">
                <a:latin typeface="Arial" pitchFamily="34" charset="0"/>
                <a:cs typeface="Arial" pitchFamily="34" charset="0"/>
              </a:rPr>
              <a:t>&gt;&gt;A(1,5) = 3		</a:t>
            </a:r>
            <a:r>
              <a:rPr lang="fr-CA" b="1"/>
              <a:t>« </a:t>
            </a:r>
            <a:r>
              <a:rPr lang="fr-CA" b="1">
                <a:sym typeface="Symbol" pitchFamily="18" charset="2"/>
              </a:rPr>
              <a:t> </a:t>
            </a:r>
            <a:r>
              <a:rPr lang="fr-CA" b="1"/>
              <a:t>»</a:t>
            </a:r>
            <a:endParaRPr lang="fr-CA" b="1">
              <a:solidFill>
                <a:srgbClr val="FF3300"/>
              </a:solidFill>
            </a:endParaRPr>
          </a:p>
          <a:p>
            <a:r>
              <a:rPr lang="fr-CA" b="1">
                <a:latin typeface="Arial" pitchFamily="34" charset="0"/>
                <a:cs typeface="Arial" pitchFamily="34" charset="0"/>
              </a:rPr>
              <a:t>A =	</a:t>
            </a:r>
          </a:p>
          <a:p>
            <a:r>
              <a:rPr lang="fr-CA" b="1">
                <a:latin typeface="Arial" pitchFamily="34" charset="0"/>
                <a:cs typeface="Arial" pitchFamily="34" charset="0"/>
              </a:rPr>
              <a:t>	6	9	4	0 	3</a:t>
            </a:r>
          </a:p>
          <a:p>
            <a:r>
              <a:rPr lang="fr-CA" b="1">
                <a:latin typeface="Arial" pitchFamily="34" charset="0"/>
                <a:cs typeface="Arial" pitchFamily="34" charset="0"/>
              </a:rPr>
              <a:t>	1	5	7	0	0</a:t>
            </a:r>
          </a:p>
        </p:txBody>
      </p:sp>
      <p:grpSp>
        <p:nvGrpSpPr>
          <p:cNvPr id="2" name="Group 21"/>
          <p:cNvGrpSpPr>
            <a:grpSpLocks/>
          </p:cNvGrpSpPr>
          <p:nvPr/>
        </p:nvGrpSpPr>
        <p:grpSpPr bwMode="auto">
          <a:xfrm>
            <a:off x="4114800" y="5373688"/>
            <a:ext cx="4411663" cy="646112"/>
            <a:chOff x="2592" y="3385"/>
            <a:chExt cx="2779" cy="407"/>
          </a:xfrm>
        </p:grpSpPr>
        <p:grpSp>
          <p:nvGrpSpPr>
            <p:cNvPr id="3" name="Group 20"/>
            <p:cNvGrpSpPr>
              <a:grpSpLocks/>
            </p:cNvGrpSpPr>
            <p:nvPr/>
          </p:nvGrpSpPr>
          <p:grpSpPr bwMode="auto">
            <a:xfrm>
              <a:off x="3024" y="3385"/>
              <a:ext cx="2347" cy="407"/>
              <a:chOff x="3024" y="3385"/>
              <a:chExt cx="2347" cy="407"/>
            </a:xfrm>
          </p:grpSpPr>
          <p:sp>
            <p:nvSpPr>
              <p:cNvPr id="15379" name="Line 10"/>
              <p:cNvSpPr>
                <a:spLocks noChangeShapeType="1"/>
              </p:cNvSpPr>
              <p:nvPr/>
            </p:nvSpPr>
            <p:spPr bwMode="auto">
              <a:xfrm flipH="1">
                <a:off x="3024" y="3552"/>
                <a:ext cx="768" cy="240"/>
              </a:xfrm>
              <a:prstGeom prst="line">
                <a:avLst/>
              </a:prstGeom>
              <a:noFill/>
              <a:ln w="19050">
                <a:solidFill>
                  <a:schemeClr val="accent2"/>
                </a:solidFill>
                <a:round/>
                <a:headEnd/>
                <a:tailEnd type="triangle" w="med" len="med"/>
              </a:ln>
            </p:spPr>
            <p:txBody>
              <a:bodyPr/>
              <a:lstStyle/>
              <a:p>
                <a:endParaRPr lang="fr-FR"/>
              </a:p>
            </p:txBody>
          </p:sp>
          <p:sp>
            <p:nvSpPr>
              <p:cNvPr id="15380" name="Text Box 11"/>
              <p:cNvSpPr txBox="1">
                <a:spLocks noChangeArrowheads="1"/>
              </p:cNvSpPr>
              <p:nvPr/>
            </p:nvSpPr>
            <p:spPr bwMode="auto">
              <a:xfrm>
                <a:off x="3782" y="3385"/>
                <a:ext cx="1589" cy="288"/>
              </a:xfrm>
              <a:prstGeom prst="rect">
                <a:avLst/>
              </a:prstGeom>
              <a:noFill/>
              <a:ln w="9525">
                <a:noFill/>
                <a:miter lim="800000"/>
                <a:headEnd/>
                <a:tailEnd/>
              </a:ln>
            </p:spPr>
            <p:txBody>
              <a:bodyPr wrap="none">
                <a:spAutoFit/>
              </a:bodyPr>
              <a:lstStyle/>
              <a:p>
                <a:r>
                  <a:rPr lang="fr-CA" b="1">
                    <a:solidFill>
                      <a:schemeClr val="accent2"/>
                    </a:solidFill>
                    <a:latin typeface="Arial" pitchFamily="34" charset="0"/>
                    <a:cs typeface="Arial" pitchFamily="34" charset="0"/>
                  </a:rPr>
                  <a:t>agrandissement</a:t>
                </a:r>
              </a:p>
            </p:txBody>
          </p:sp>
        </p:grpSp>
        <p:sp>
          <p:nvSpPr>
            <p:cNvPr id="15378" name="Line 12"/>
            <p:cNvSpPr>
              <a:spLocks noChangeShapeType="1"/>
            </p:cNvSpPr>
            <p:nvPr/>
          </p:nvSpPr>
          <p:spPr bwMode="auto">
            <a:xfrm>
              <a:off x="2592" y="3792"/>
              <a:ext cx="720" cy="0"/>
            </a:xfrm>
            <a:prstGeom prst="line">
              <a:avLst/>
            </a:prstGeom>
            <a:noFill/>
            <a:ln w="19050">
              <a:solidFill>
                <a:schemeClr val="accent2"/>
              </a:solidFill>
              <a:round/>
              <a:headEnd/>
              <a:tailEnd/>
            </a:ln>
          </p:spPr>
          <p:txBody>
            <a:bodyPr/>
            <a:lstStyle/>
            <a:p>
              <a:endParaRPr lang="fr-FR"/>
            </a:p>
          </p:txBody>
        </p:sp>
      </p:grpSp>
      <p:grpSp>
        <p:nvGrpSpPr>
          <p:cNvPr id="4" name="Group 19"/>
          <p:cNvGrpSpPr>
            <a:grpSpLocks/>
          </p:cNvGrpSpPr>
          <p:nvPr/>
        </p:nvGrpSpPr>
        <p:grpSpPr bwMode="auto">
          <a:xfrm>
            <a:off x="4432300" y="5919788"/>
            <a:ext cx="4387850" cy="822325"/>
            <a:chOff x="2784" y="3673"/>
            <a:chExt cx="2764" cy="518"/>
          </a:xfrm>
        </p:grpSpPr>
        <p:sp>
          <p:nvSpPr>
            <p:cNvPr id="15373" name="Text Box 14"/>
            <p:cNvSpPr txBox="1">
              <a:spLocks noChangeArrowheads="1"/>
            </p:cNvSpPr>
            <p:nvPr/>
          </p:nvSpPr>
          <p:spPr bwMode="auto">
            <a:xfrm>
              <a:off x="3830" y="3673"/>
              <a:ext cx="1718" cy="518"/>
            </a:xfrm>
            <a:prstGeom prst="rect">
              <a:avLst/>
            </a:prstGeom>
            <a:noFill/>
            <a:ln w="9525">
              <a:noFill/>
              <a:miter lim="800000"/>
              <a:headEnd/>
              <a:tailEnd/>
            </a:ln>
          </p:spPr>
          <p:txBody>
            <a:bodyPr wrap="none">
              <a:spAutoFit/>
            </a:bodyPr>
            <a:lstStyle/>
            <a:p>
              <a:r>
                <a:rPr lang="fr-CA" b="1">
                  <a:solidFill>
                    <a:srgbClr val="008000"/>
                  </a:solidFill>
                  <a:latin typeface="Arial" pitchFamily="34" charset="0"/>
                  <a:cs typeface="Arial" pitchFamily="34" charset="0"/>
                </a:rPr>
                <a:t>remplissage avec</a:t>
              </a:r>
            </a:p>
            <a:p>
              <a:r>
                <a:rPr lang="fr-CA" b="1">
                  <a:solidFill>
                    <a:srgbClr val="008000"/>
                  </a:solidFill>
                  <a:latin typeface="Arial" pitchFamily="34" charset="0"/>
                  <a:cs typeface="Arial" pitchFamily="34" charset="0"/>
                </a:rPr>
                <a:t>des 0</a:t>
              </a:r>
            </a:p>
          </p:txBody>
        </p:sp>
        <p:sp>
          <p:nvSpPr>
            <p:cNvPr id="15374" name="Line 16"/>
            <p:cNvSpPr>
              <a:spLocks noChangeShapeType="1"/>
            </p:cNvSpPr>
            <p:nvPr/>
          </p:nvSpPr>
          <p:spPr bwMode="auto">
            <a:xfrm flipH="1">
              <a:off x="3312" y="3840"/>
              <a:ext cx="528" cy="288"/>
            </a:xfrm>
            <a:prstGeom prst="line">
              <a:avLst/>
            </a:prstGeom>
            <a:noFill/>
            <a:ln w="19050">
              <a:solidFill>
                <a:srgbClr val="008000"/>
              </a:solidFill>
              <a:round/>
              <a:headEnd/>
              <a:tailEnd type="triangle" w="med" len="med"/>
            </a:ln>
          </p:spPr>
          <p:txBody>
            <a:bodyPr/>
            <a:lstStyle/>
            <a:p>
              <a:endParaRPr lang="fr-FR"/>
            </a:p>
          </p:txBody>
        </p:sp>
        <p:sp>
          <p:nvSpPr>
            <p:cNvPr id="15375" name="Line 17"/>
            <p:cNvSpPr>
              <a:spLocks noChangeShapeType="1"/>
            </p:cNvSpPr>
            <p:nvPr/>
          </p:nvSpPr>
          <p:spPr bwMode="auto">
            <a:xfrm>
              <a:off x="2784" y="3840"/>
              <a:ext cx="0" cy="288"/>
            </a:xfrm>
            <a:prstGeom prst="line">
              <a:avLst/>
            </a:prstGeom>
            <a:noFill/>
            <a:ln w="19050">
              <a:solidFill>
                <a:srgbClr val="008000"/>
              </a:solidFill>
              <a:round/>
              <a:headEnd/>
              <a:tailEnd/>
            </a:ln>
          </p:spPr>
          <p:txBody>
            <a:bodyPr/>
            <a:lstStyle/>
            <a:p>
              <a:endParaRPr lang="fr-FR"/>
            </a:p>
          </p:txBody>
        </p:sp>
        <p:sp>
          <p:nvSpPr>
            <p:cNvPr id="15376" name="Line 18"/>
            <p:cNvSpPr>
              <a:spLocks noChangeShapeType="1"/>
            </p:cNvSpPr>
            <p:nvPr/>
          </p:nvSpPr>
          <p:spPr bwMode="auto">
            <a:xfrm flipH="1">
              <a:off x="2784" y="3840"/>
              <a:ext cx="1056" cy="192"/>
            </a:xfrm>
            <a:prstGeom prst="line">
              <a:avLst/>
            </a:prstGeom>
            <a:noFill/>
            <a:ln w="19050">
              <a:solidFill>
                <a:srgbClr val="008000"/>
              </a:solidFill>
              <a:round/>
              <a:headEnd/>
              <a:tailEnd type="triangle" w="med" len="med"/>
            </a:ln>
          </p:spPr>
          <p:txBody>
            <a:bodyPr/>
            <a:lstStyle/>
            <a:p>
              <a:endParaRPr lang="fr-F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additive="base">
                                        <p:cTn id="7" dur="500" fill="hold"/>
                                        <p:tgtEl>
                                          <p:spTgt spid="18435"/>
                                        </p:tgtEl>
                                        <p:attrNameLst>
                                          <p:attrName>ppt_x</p:attrName>
                                        </p:attrNameLst>
                                      </p:cBhvr>
                                      <p:tavLst>
                                        <p:tav tm="0">
                                          <p:val>
                                            <p:strVal val="0-#ppt_w/2"/>
                                          </p:val>
                                        </p:tav>
                                        <p:tav tm="100000">
                                          <p:val>
                                            <p:strVal val="#ppt_x"/>
                                          </p:val>
                                        </p:tav>
                                      </p:tavLst>
                                    </p:anim>
                                    <p:anim calcmode="lin" valueType="num">
                                      <p:cBhvr additive="base">
                                        <p:cTn id="8" dur="500" fill="hold"/>
                                        <p:tgtEl>
                                          <p:spTgt spid="1843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436"/>
                                        </p:tgtEl>
                                        <p:attrNameLst>
                                          <p:attrName>style.visibility</p:attrName>
                                        </p:attrNameLst>
                                      </p:cBhvr>
                                      <p:to>
                                        <p:strVal val="visible"/>
                                      </p:to>
                                    </p:set>
                                    <p:anim calcmode="lin" valueType="num">
                                      <p:cBhvr additive="base">
                                        <p:cTn id="13" dur="500" fill="hold"/>
                                        <p:tgtEl>
                                          <p:spTgt spid="18436"/>
                                        </p:tgtEl>
                                        <p:attrNameLst>
                                          <p:attrName>ppt_x</p:attrName>
                                        </p:attrNameLst>
                                      </p:cBhvr>
                                      <p:tavLst>
                                        <p:tav tm="0">
                                          <p:val>
                                            <p:strVal val="1+#ppt_w/2"/>
                                          </p:val>
                                        </p:tav>
                                        <p:tav tm="100000">
                                          <p:val>
                                            <p:strVal val="#ppt_x"/>
                                          </p:val>
                                        </p:tav>
                                      </p:tavLst>
                                    </p:anim>
                                    <p:anim calcmode="lin" valueType="num">
                                      <p:cBhvr additive="base">
                                        <p:cTn id="14" dur="500" fill="hold"/>
                                        <p:tgtEl>
                                          <p:spTgt spid="1843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437"/>
                                        </p:tgtEl>
                                        <p:attrNameLst>
                                          <p:attrName>style.visibility</p:attrName>
                                        </p:attrNameLst>
                                      </p:cBhvr>
                                      <p:to>
                                        <p:strVal val="visible"/>
                                      </p:to>
                                    </p:set>
                                    <p:anim calcmode="lin" valueType="num">
                                      <p:cBhvr additive="base">
                                        <p:cTn id="19" dur="500" fill="hold"/>
                                        <p:tgtEl>
                                          <p:spTgt spid="18437"/>
                                        </p:tgtEl>
                                        <p:attrNameLst>
                                          <p:attrName>ppt_x</p:attrName>
                                        </p:attrNameLst>
                                      </p:cBhvr>
                                      <p:tavLst>
                                        <p:tav tm="0">
                                          <p:val>
                                            <p:strVal val="0-#ppt_w/2"/>
                                          </p:val>
                                        </p:tav>
                                        <p:tav tm="100000">
                                          <p:val>
                                            <p:strVal val="#ppt_x"/>
                                          </p:val>
                                        </p:tav>
                                      </p:tavLst>
                                    </p:anim>
                                    <p:anim calcmode="lin" valueType="num">
                                      <p:cBhvr additive="base">
                                        <p:cTn id="20" dur="500" fill="hold"/>
                                        <p:tgtEl>
                                          <p:spTgt spid="1843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438"/>
                                        </p:tgtEl>
                                        <p:attrNameLst>
                                          <p:attrName>style.visibility</p:attrName>
                                        </p:attrNameLst>
                                      </p:cBhvr>
                                      <p:to>
                                        <p:strVal val="visible"/>
                                      </p:to>
                                    </p:set>
                                    <p:anim calcmode="lin" valueType="num">
                                      <p:cBhvr additive="base">
                                        <p:cTn id="25" dur="500" fill="hold"/>
                                        <p:tgtEl>
                                          <p:spTgt spid="18438"/>
                                        </p:tgtEl>
                                        <p:attrNameLst>
                                          <p:attrName>ppt_x</p:attrName>
                                        </p:attrNameLst>
                                      </p:cBhvr>
                                      <p:tavLst>
                                        <p:tav tm="0">
                                          <p:val>
                                            <p:strVal val="1+#ppt_w/2"/>
                                          </p:val>
                                        </p:tav>
                                        <p:tav tm="100000">
                                          <p:val>
                                            <p:strVal val="#ppt_x"/>
                                          </p:val>
                                        </p:tav>
                                      </p:tavLst>
                                    </p:anim>
                                    <p:anim calcmode="lin" valueType="num">
                                      <p:cBhvr additive="base">
                                        <p:cTn id="26" dur="500" fill="hold"/>
                                        <p:tgtEl>
                                          <p:spTgt spid="1843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439"/>
                                        </p:tgtEl>
                                        <p:attrNameLst>
                                          <p:attrName>style.visibility</p:attrName>
                                        </p:attrNameLst>
                                      </p:cBhvr>
                                      <p:to>
                                        <p:strVal val="visible"/>
                                      </p:to>
                                    </p:set>
                                    <p:anim calcmode="lin" valueType="num">
                                      <p:cBhvr additive="base">
                                        <p:cTn id="31" dur="500" fill="hold"/>
                                        <p:tgtEl>
                                          <p:spTgt spid="18439"/>
                                        </p:tgtEl>
                                        <p:attrNameLst>
                                          <p:attrName>ppt_x</p:attrName>
                                        </p:attrNameLst>
                                      </p:cBhvr>
                                      <p:tavLst>
                                        <p:tav tm="0">
                                          <p:val>
                                            <p:strVal val="0-#ppt_w/2"/>
                                          </p:val>
                                        </p:tav>
                                        <p:tav tm="100000">
                                          <p:val>
                                            <p:strVal val="#ppt_x"/>
                                          </p:val>
                                        </p:tav>
                                      </p:tavLst>
                                    </p:anim>
                                    <p:anim calcmode="lin" valueType="num">
                                      <p:cBhvr additive="base">
                                        <p:cTn id="32" dur="500" fill="hold"/>
                                        <p:tgtEl>
                                          <p:spTgt spid="1843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440"/>
                                        </p:tgtEl>
                                        <p:attrNameLst>
                                          <p:attrName>style.visibility</p:attrName>
                                        </p:attrNameLst>
                                      </p:cBhvr>
                                      <p:to>
                                        <p:strVal val="visible"/>
                                      </p:to>
                                    </p:set>
                                    <p:anim calcmode="lin" valueType="num">
                                      <p:cBhvr additive="base">
                                        <p:cTn id="37" dur="500" fill="hold"/>
                                        <p:tgtEl>
                                          <p:spTgt spid="18440"/>
                                        </p:tgtEl>
                                        <p:attrNameLst>
                                          <p:attrName>ppt_x</p:attrName>
                                        </p:attrNameLst>
                                      </p:cBhvr>
                                      <p:tavLst>
                                        <p:tav tm="0">
                                          <p:val>
                                            <p:strVal val="1+#ppt_w/2"/>
                                          </p:val>
                                        </p:tav>
                                        <p:tav tm="100000">
                                          <p:val>
                                            <p:strVal val="#ppt_x"/>
                                          </p:val>
                                        </p:tav>
                                      </p:tavLst>
                                    </p:anim>
                                    <p:anim calcmode="lin" valueType="num">
                                      <p:cBhvr additive="base">
                                        <p:cTn id="38" dur="500" fill="hold"/>
                                        <p:tgtEl>
                                          <p:spTgt spid="1844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6" fill="hold" grpId="0" nodeType="clickEffect">
                                  <p:stCondLst>
                                    <p:cond delay="0"/>
                                  </p:stCondLst>
                                  <p:childTnLst>
                                    <p:set>
                                      <p:cBhvr>
                                        <p:cTn id="42" dur="1" fill="hold">
                                          <p:stCondLst>
                                            <p:cond delay="0"/>
                                          </p:stCondLst>
                                        </p:cTn>
                                        <p:tgtEl>
                                          <p:spTgt spid="18441"/>
                                        </p:tgtEl>
                                        <p:attrNameLst>
                                          <p:attrName>style.visibility</p:attrName>
                                        </p:attrNameLst>
                                      </p:cBhvr>
                                      <p:to>
                                        <p:strVal val="visible"/>
                                      </p:to>
                                    </p:set>
                                    <p:anim calcmode="lin" valueType="num">
                                      <p:cBhvr additive="base">
                                        <p:cTn id="43" dur="500" fill="hold"/>
                                        <p:tgtEl>
                                          <p:spTgt spid="18441"/>
                                        </p:tgtEl>
                                        <p:attrNameLst>
                                          <p:attrName>ppt_x</p:attrName>
                                        </p:attrNameLst>
                                      </p:cBhvr>
                                      <p:tavLst>
                                        <p:tav tm="0">
                                          <p:val>
                                            <p:strVal val="1+#ppt_w/2"/>
                                          </p:val>
                                        </p:tav>
                                        <p:tav tm="100000">
                                          <p:val>
                                            <p:strVal val="#ppt_x"/>
                                          </p:val>
                                        </p:tav>
                                      </p:tavLst>
                                    </p:anim>
                                    <p:anim calcmode="lin" valueType="num">
                                      <p:cBhvr additive="base">
                                        <p:cTn id="44" dur="500" fill="hold"/>
                                        <p:tgtEl>
                                          <p:spTgt spid="1844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6"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additive="base">
                                        <p:cTn id="49" dur="500" fill="hold"/>
                                        <p:tgtEl>
                                          <p:spTgt spid="4"/>
                                        </p:tgtEl>
                                        <p:attrNameLst>
                                          <p:attrName>ppt_x</p:attrName>
                                        </p:attrNameLst>
                                      </p:cBhvr>
                                      <p:tavLst>
                                        <p:tav tm="0">
                                          <p:val>
                                            <p:strVal val="1+#ppt_w/2"/>
                                          </p:val>
                                        </p:tav>
                                        <p:tav tm="100000">
                                          <p:val>
                                            <p:strVal val="#ppt_x"/>
                                          </p:val>
                                        </p:tav>
                                      </p:tavLst>
                                    </p:anim>
                                    <p:anim calcmode="lin" valueType="num">
                                      <p:cBhvr additive="base">
                                        <p:cTn id="5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anim calcmode="lin" valueType="num">
                                      <p:cBhvr additive="base">
                                        <p:cTn id="55" dur="500" fill="hold"/>
                                        <p:tgtEl>
                                          <p:spTgt spid="2"/>
                                        </p:tgtEl>
                                        <p:attrNameLst>
                                          <p:attrName>ppt_x</p:attrName>
                                        </p:attrNameLst>
                                      </p:cBhvr>
                                      <p:tavLst>
                                        <p:tav tm="0">
                                          <p:val>
                                            <p:strVal val="0-#ppt_w/2"/>
                                          </p:val>
                                        </p:tav>
                                        <p:tav tm="100000">
                                          <p:val>
                                            <p:strVal val="#ppt_x"/>
                                          </p:val>
                                        </p:tav>
                                      </p:tavLst>
                                    </p:anim>
                                    <p:anim calcmode="lin" valueType="num">
                                      <p:cBhvr additive="base">
                                        <p:cTn id="5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autoUpdateAnimBg="0"/>
      <p:bldP spid="18436" grpId="0" autoUpdateAnimBg="0"/>
      <p:bldP spid="18437" grpId="0" autoUpdateAnimBg="0"/>
      <p:bldP spid="18438" grpId="0" autoUpdateAnimBg="0"/>
      <p:bldP spid="18439" grpId="0" autoUpdateAnimBg="0"/>
      <p:bldP spid="18440" grpId="0" autoUpdateAnimBg="0"/>
      <p:bldP spid="18441"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Espace réservé du numéro de diapositive 3"/>
          <p:cNvSpPr>
            <a:spLocks noGrp="1"/>
          </p:cNvSpPr>
          <p:nvPr>
            <p:ph type="sldNum" sz="quarter" idx="12"/>
          </p:nvPr>
        </p:nvSpPr>
        <p:spPr>
          <a:noFill/>
        </p:spPr>
        <p:txBody>
          <a:bodyPr/>
          <a:lstStyle/>
          <a:p>
            <a:fld id="{B6807777-4E4A-44DE-B570-DE342C311BF8}" type="slidenum">
              <a:rPr lang="fr-CA"/>
              <a:pPr/>
              <a:t>71</a:t>
            </a:fld>
            <a:endParaRPr lang="fr-CA"/>
          </a:p>
        </p:txBody>
      </p:sp>
      <p:sp>
        <p:nvSpPr>
          <p:cNvPr id="19458" name="Text Box 2"/>
          <p:cNvSpPr txBox="1">
            <a:spLocks noChangeArrowheads="1"/>
          </p:cNvSpPr>
          <p:nvPr/>
        </p:nvSpPr>
        <p:spPr bwMode="auto">
          <a:xfrm>
            <a:off x="441325" y="217488"/>
            <a:ext cx="7348538" cy="519112"/>
          </a:xfrm>
          <a:prstGeom prst="rect">
            <a:avLst/>
          </a:prstGeom>
          <a:noFill/>
          <a:ln w="9525">
            <a:noFill/>
            <a:miter lim="800000"/>
            <a:headEnd/>
            <a:tailEnd/>
          </a:ln>
          <a:effectLst/>
        </p:spPr>
        <p:txBody>
          <a:bodyPr wrap="none">
            <a:spAutoFit/>
          </a:bodyPr>
          <a:lstStyle/>
          <a:p>
            <a:pPr>
              <a:defRPr/>
            </a:pPr>
            <a:r>
              <a:rPr lang="fr-CA" sz="2800" b="1">
                <a:solidFill>
                  <a:srgbClr val="CC9900"/>
                </a:solidFill>
                <a:effectLst>
                  <a:outerShdw blurRad="38100" dist="38100" dir="2700000" algn="tl">
                    <a:srgbClr val="C0C0C0"/>
                  </a:outerShdw>
                </a:effectLst>
                <a:latin typeface="Arial" pitchFamily="34" charset="0"/>
                <a:cs typeface="Arial" pitchFamily="34" charset="0"/>
              </a:rPr>
              <a:t>Commandes pour les vecteurs et matrices</a:t>
            </a:r>
            <a:endParaRPr lang="fr-CA" sz="2800">
              <a:solidFill>
                <a:srgbClr val="CC9900"/>
              </a:solidFill>
              <a:effectLst>
                <a:outerShdw blurRad="38100" dist="38100" dir="2700000" algn="tl">
                  <a:srgbClr val="C0C0C0"/>
                </a:outerShdw>
              </a:effectLst>
              <a:latin typeface="Arial" pitchFamily="34" charset="0"/>
              <a:cs typeface="Arial" pitchFamily="34" charset="0"/>
            </a:endParaRPr>
          </a:p>
        </p:txBody>
      </p:sp>
      <p:sp>
        <p:nvSpPr>
          <p:cNvPr id="19459" name="Text Box 3"/>
          <p:cNvSpPr txBox="1">
            <a:spLocks noChangeArrowheads="1"/>
          </p:cNvSpPr>
          <p:nvPr/>
        </p:nvSpPr>
        <p:spPr bwMode="auto">
          <a:xfrm>
            <a:off x="288925" y="801688"/>
            <a:ext cx="8245475" cy="762000"/>
          </a:xfrm>
          <a:prstGeom prst="rect">
            <a:avLst/>
          </a:prstGeom>
          <a:noFill/>
          <a:ln w="9525">
            <a:noFill/>
            <a:miter lim="800000"/>
            <a:headEnd/>
            <a:tailEnd/>
          </a:ln>
        </p:spPr>
        <p:txBody>
          <a:bodyPr>
            <a:spAutoFit/>
          </a:bodyPr>
          <a:lstStyle/>
          <a:p>
            <a:r>
              <a:rPr lang="fr-CA" b="1">
                <a:solidFill>
                  <a:srgbClr val="FF3300"/>
                </a:solidFill>
                <a:latin typeface="Arial" pitchFamily="34" charset="0"/>
                <a:cs typeface="Arial" pitchFamily="34" charset="0"/>
              </a:rPr>
              <a:t>find(x)</a:t>
            </a:r>
            <a:r>
              <a:rPr lang="fr-CA">
                <a:latin typeface="Arial" pitchFamily="34" charset="0"/>
                <a:cs typeface="Arial" pitchFamily="34" charset="0"/>
              </a:rPr>
              <a:t>	</a:t>
            </a:r>
            <a:r>
              <a:rPr lang="fr-CA" sz="2000" b="1">
                <a:latin typeface="Arial" pitchFamily="34" charset="0"/>
                <a:cs typeface="Arial" pitchFamily="34" charset="0"/>
              </a:rPr>
              <a:t>Fournir une variable indicée contenant les indices 		des éléments non nuls de x</a:t>
            </a:r>
          </a:p>
        </p:txBody>
      </p:sp>
      <p:sp>
        <p:nvSpPr>
          <p:cNvPr id="19460" name="Text Box 4"/>
          <p:cNvSpPr txBox="1">
            <a:spLocks noChangeArrowheads="1"/>
          </p:cNvSpPr>
          <p:nvPr/>
        </p:nvSpPr>
        <p:spPr bwMode="auto">
          <a:xfrm>
            <a:off x="288925" y="1792288"/>
            <a:ext cx="7934325" cy="1066800"/>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[u, v, w] = find (A)</a:t>
            </a:r>
            <a:r>
              <a:rPr lang="fr-CA">
                <a:latin typeface="Arial" pitchFamily="34" charset="0"/>
                <a:cs typeface="Arial" pitchFamily="34" charset="0"/>
              </a:rPr>
              <a:t>	</a:t>
            </a:r>
            <a:r>
              <a:rPr lang="fr-CA" sz="2000" b="1">
                <a:latin typeface="Arial" pitchFamily="34" charset="0"/>
                <a:cs typeface="Arial" pitchFamily="34" charset="0"/>
              </a:rPr>
              <a:t>Fournir des variables indicées contenant </a:t>
            </a:r>
          </a:p>
          <a:p>
            <a:r>
              <a:rPr lang="fr-CA" sz="2000" b="1">
                <a:latin typeface="Arial" pitchFamily="34" charset="0"/>
                <a:cs typeface="Arial" pitchFamily="34" charset="0"/>
              </a:rPr>
              <a:t>			les indices des lignes et colonnes des</a:t>
            </a:r>
          </a:p>
          <a:p>
            <a:r>
              <a:rPr lang="fr-CA" sz="2000" b="1">
                <a:latin typeface="Arial" pitchFamily="34" charset="0"/>
                <a:cs typeface="Arial" pitchFamily="34" charset="0"/>
              </a:rPr>
              <a:t>			éléments non nuls de la matrice </a:t>
            </a:r>
            <a:r>
              <a:rPr lang="fr-CA" sz="2000" b="1">
                <a:solidFill>
                  <a:srgbClr val="FF3300"/>
                </a:solidFill>
                <a:latin typeface="Arial" pitchFamily="34" charset="0"/>
                <a:cs typeface="Arial" pitchFamily="34" charset="0"/>
              </a:rPr>
              <a:t>A</a:t>
            </a:r>
          </a:p>
        </p:txBody>
      </p:sp>
      <p:sp>
        <p:nvSpPr>
          <p:cNvPr id="19461" name="Text Box 5"/>
          <p:cNvSpPr txBox="1">
            <a:spLocks noChangeArrowheads="1"/>
          </p:cNvSpPr>
          <p:nvPr/>
        </p:nvSpPr>
        <p:spPr bwMode="auto">
          <a:xfrm>
            <a:off x="288925" y="2895600"/>
            <a:ext cx="8526463" cy="762000"/>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length(A)</a:t>
            </a:r>
            <a:r>
              <a:rPr lang="fr-CA" b="1">
                <a:latin typeface="Arial" pitchFamily="34" charset="0"/>
                <a:cs typeface="Arial" pitchFamily="34" charset="0"/>
              </a:rPr>
              <a:t>	</a:t>
            </a:r>
            <a:r>
              <a:rPr lang="fr-CA" sz="2000" b="1">
                <a:latin typeface="Arial" pitchFamily="34" charset="0"/>
                <a:cs typeface="Arial" pitchFamily="34" charset="0"/>
              </a:rPr>
              <a:t>Fournir le nombre d’éléments de </a:t>
            </a:r>
            <a:r>
              <a:rPr lang="fr-CA" sz="2000" b="1">
                <a:solidFill>
                  <a:srgbClr val="FF3300"/>
                </a:solidFill>
                <a:latin typeface="Arial" pitchFamily="34" charset="0"/>
                <a:cs typeface="Arial" pitchFamily="34" charset="0"/>
              </a:rPr>
              <a:t>A </a:t>
            </a:r>
            <a:r>
              <a:rPr lang="fr-CA" sz="2000" b="1">
                <a:latin typeface="Arial" pitchFamily="34" charset="0"/>
                <a:cs typeface="Arial" pitchFamily="34" charset="0"/>
              </a:rPr>
              <a:t>si </a:t>
            </a:r>
            <a:r>
              <a:rPr lang="fr-CA" sz="2000" b="1">
                <a:solidFill>
                  <a:srgbClr val="FF3300"/>
                </a:solidFill>
                <a:latin typeface="Arial" pitchFamily="34" charset="0"/>
                <a:cs typeface="Arial" pitchFamily="34" charset="0"/>
              </a:rPr>
              <a:t>A</a:t>
            </a:r>
            <a:r>
              <a:rPr lang="fr-CA" sz="2000" b="1">
                <a:latin typeface="Arial" pitchFamily="34" charset="0"/>
                <a:cs typeface="Arial" pitchFamily="34" charset="0"/>
              </a:rPr>
              <a:t> est un vecteur</a:t>
            </a:r>
          </a:p>
          <a:p>
            <a:r>
              <a:rPr lang="fr-CA" sz="2000" b="1">
                <a:latin typeface="Arial" pitchFamily="34" charset="0"/>
                <a:cs typeface="Arial" pitchFamily="34" charset="0"/>
              </a:rPr>
              <a:t>		ou la valeur max de </a:t>
            </a:r>
            <a:r>
              <a:rPr lang="fr-CA" sz="2000" b="1" i="1">
                <a:solidFill>
                  <a:srgbClr val="FF3300"/>
                </a:solidFill>
                <a:latin typeface="Arial" pitchFamily="34" charset="0"/>
                <a:cs typeface="Arial" pitchFamily="34" charset="0"/>
              </a:rPr>
              <a:t>m</a:t>
            </a:r>
            <a:r>
              <a:rPr lang="fr-CA" sz="2000" b="1">
                <a:latin typeface="Arial" pitchFamily="34" charset="0"/>
                <a:cs typeface="Arial" pitchFamily="34" charset="0"/>
              </a:rPr>
              <a:t> ou </a:t>
            </a:r>
            <a:r>
              <a:rPr lang="fr-CA" sz="2000" b="1" i="1">
                <a:solidFill>
                  <a:srgbClr val="FF3300"/>
                </a:solidFill>
                <a:latin typeface="Arial" pitchFamily="34" charset="0"/>
                <a:cs typeface="Arial" pitchFamily="34" charset="0"/>
              </a:rPr>
              <a:t>n</a:t>
            </a:r>
            <a:r>
              <a:rPr lang="fr-CA" sz="2000" b="1">
                <a:latin typeface="Arial" pitchFamily="34" charset="0"/>
                <a:cs typeface="Arial" pitchFamily="34" charset="0"/>
              </a:rPr>
              <a:t> si A est une matrice </a:t>
            </a:r>
            <a:r>
              <a:rPr lang="fr-CA" sz="2000" b="1" i="1">
                <a:solidFill>
                  <a:srgbClr val="FF3300"/>
                </a:solidFill>
                <a:latin typeface="Arial" pitchFamily="34" charset="0"/>
                <a:cs typeface="Arial" pitchFamily="34" charset="0"/>
              </a:rPr>
              <a:t>m x n</a:t>
            </a:r>
            <a:endParaRPr lang="fr-CA" b="1" i="1">
              <a:solidFill>
                <a:srgbClr val="FF3300"/>
              </a:solidFill>
              <a:latin typeface="Arial" pitchFamily="34" charset="0"/>
              <a:cs typeface="Arial" pitchFamily="34" charset="0"/>
            </a:endParaRPr>
          </a:p>
        </p:txBody>
      </p:sp>
      <p:sp>
        <p:nvSpPr>
          <p:cNvPr id="19463" name="Text Box 7"/>
          <p:cNvSpPr txBox="1">
            <a:spLocks noChangeArrowheads="1"/>
          </p:cNvSpPr>
          <p:nvPr/>
        </p:nvSpPr>
        <p:spPr bwMode="auto">
          <a:xfrm>
            <a:off x="288925" y="3733800"/>
            <a:ext cx="8456613" cy="1066800"/>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max(A)</a:t>
            </a:r>
            <a:r>
              <a:rPr lang="fr-CA" b="1">
                <a:latin typeface="Arial" pitchFamily="34" charset="0"/>
                <a:cs typeface="Arial" pitchFamily="34" charset="0"/>
              </a:rPr>
              <a:t>	</a:t>
            </a:r>
            <a:r>
              <a:rPr lang="fr-CA" sz="2000" b="1">
                <a:latin typeface="Arial" pitchFamily="34" charset="0"/>
                <a:cs typeface="Arial" pitchFamily="34" charset="0"/>
              </a:rPr>
              <a:t>Fournir l’élément ayant la valeur algébrique max</a:t>
            </a:r>
          </a:p>
          <a:p>
            <a:r>
              <a:rPr lang="fr-CA" sz="2000" b="1">
                <a:latin typeface="Arial" pitchFamily="34" charset="0"/>
                <a:cs typeface="Arial" pitchFamily="34" charset="0"/>
              </a:rPr>
              <a:t>		si </a:t>
            </a:r>
            <a:r>
              <a:rPr lang="fr-CA" sz="2000" b="1">
                <a:solidFill>
                  <a:srgbClr val="FF3300"/>
                </a:solidFill>
                <a:latin typeface="Arial" pitchFamily="34" charset="0"/>
                <a:cs typeface="Arial" pitchFamily="34" charset="0"/>
              </a:rPr>
              <a:t>A</a:t>
            </a:r>
            <a:r>
              <a:rPr lang="fr-CA" sz="2000" b="1">
                <a:latin typeface="Arial" pitchFamily="34" charset="0"/>
                <a:cs typeface="Arial" pitchFamily="34" charset="0"/>
              </a:rPr>
              <a:t> est un vecteur ou un vecteur contenant l’élément</a:t>
            </a:r>
          </a:p>
          <a:p>
            <a:r>
              <a:rPr lang="fr-CA" sz="2000" b="1">
                <a:latin typeface="Arial" pitchFamily="34" charset="0"/>
                <a:cs typeface="Arial" pitchFamily="34" charset="0"/>
              </a:rPr>
              <a:t> 		max dans chaque colonne de la matrice </a:t>
            </a:r>
            <a:r>
              <a:rPr lang="fr-CA" sz="2000" b="1">
                <a:solidFill>
                  <a:srgbClr val="FF3300"/>
                </a:solidFill>
                <a:latin typeface="Arial" pitchFamily="34" charset="0"/>
                <a:cs typeface="Arial" pitchFamily="34" charset="0"/>
              </a:rPr>
              <a:t>A</a:t>
            </a:r>
            <a:endParaRPr lang="fr-CA" b="1">
              <a:solidFill>
                <a:srgbClr val="FF3300"/>
              </a:solidFill>
              <a:latin typeface="Arial" pitchFamily="34" charset="0"/>
              <a:cs typeface="Arial" pitchFamily="34" charset="0"/>
            </a:endParaRPr>
          </a:p>
        </p:txBody>
      </p:sp>
      <p:grpSp>
        <p:nvGrpSpPr>
          <p:cNvPr id="2" name="Group 10"/>
          <p:cNvGrpSpPr>
            <a:grpSpLocks/>
          </p:cNvGrpSpPr>
          <p:nvPr/>
        </p:nvGrpSpPr>
        <p:grpSpPr bwMode="auto">
          <a:xfrm>
            <a:off x="288925" y="4916488"/>
            <a:ext cx="8877300" cy="1636712"/>
            <a:chOff x="182" y="3097"/>
            <a:chExt cx="5592" cy="1031"/>
          </a:xfrm>
        </p:grpSpPr>
        <p:sp>
          <p:nvSpPr>
            <p:cNvPr id="16393" name="Text Box 8"/>
            <p:cNvSpPr txBox="1">
              <a:spLocks noChangeArrowheads="1"/>
            </p:cNvSpPr>
            <p:nvPr/>
          </p:nvSpPr>
          <p:spPr bwMode="auto">
            <a:xfrm>
              <a:off x="182" y="3097"/>
              <a:ext cx="5592" cy="710"/>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[x, k] = max(A)</a:t>
              </a:r>
              <a:r>
                <a:rPr lang="fr-CA">
                  <a:latin typeface="Arial" pitchFamily="34" charset="0"/>
                  <a:cs typeface="Arial" pitchFamily="34" charset="0"/>
                </a:rPr>
                <a:t>  	</a:t>
              </a:r>
              <a:r>
                <a:rPr lang="fr-CA" sz="2000" b="1">
                  <a:latin typeface="Arial" pitchFamily="34" charset="0"/>
                  <a:cs typeface="Arial" pitchFamily="34" charset="0"/>
                </a:rPr>
                <a:t>Même définition que </a:t>
              </a:r>
              <a:r>
                <a:rPr lang="fr-CA" sz="2000" b="1">
                  <a:solidFill>
                    <a:srgbClr val="FF3300"/>
                  </a:solidFill>
                  <a:latin typeface="Arial" pitchFamily="34" charset="0"/>
                  <a:cs typeface="Arial" pitchFamily="34" charset="0"/>
                </a:rPr>
                <a:t>max(A)</a:t>
              </a:r>
              <a:r>
                <a:rPr lang="fr-CA" sz="2000" b="1">
                  <a:latin typeface="Arial" pitchFamily="34" charset="0"/>
                  <a:cs typeface="Arial" pitchFamily="34" charset="0"/>
                </a:rPr>
                <a:t> sauf que le stockage</a:t>
              </a:r>
            </a:p>
            <a:p>
              <a:r>
                <a:rPr lang="fr-CA" sz="2000" b="1">
                  <a:latin typeface="Arial" pitchFamily="34" charset="0"/>
                  <a:cs typeface="Arial" pitchFamily="34" charset="0"/>
                </a:rPr>
                <a:t>			des valeurs max s’effectue dans le vecteur ligne</a:t>
              </a:r>
            </a:p>
            <a:p>
              <a:r>
                <a:rPr lang="fr-CA" sz="2000" b="1">
                  <a:latin typeface="Arial" pitchFamily="34" charset="0"/>
                  <a:cs typeface="Arial" pitchFamily="34" charset="0"/>
                </a:rPr>
                <a:t>			</a:t>
              </a:r>
              <a:r>
                <a:rPr lang="fr-CA" b="1">
                  <a:solidFill>
                    <a:srgbClr val="FF3300"/>
                  </a:solidFill>
                  <a:latin typeface="Arial" pitchFamily="34" charset="0"/>
                  <a:cs typeface="Arial" pitchFamily="34" charset="0"/>
                </a:rPr>
                <a:t>x</a:t>
              </a:r>
              <a:r>
                <a:rPr lang="fr-CA" sz="2000" b="1">
                  <a:latin typeface="Arial" pitchFamily="34" charset="0"/>
                  <a:cs typeface="Arial" pitchFamily="34" charset="0"/>
                </a:rPr>
                <a:t> et leurs indices dans le vecteur ligne </a:t>
              </a:r>
              <a:r>
                <a:rPr lang="fr-CA" b="1">
                  <a:solidFill>
                    <a:srgbClr val="FF3300"/>
                  </a:solidFill>
                  <a:latin typeface="Arial" pitchFamily="34" charset="0"/>
                  <a:cs typeface="Arial" pitchFamily="34" charset="0"/>
                </a:rPr>
                <a:t>k</a:t>
              </a:r>
            </a:p>
          </p:txBody>
        </p:sp>
        <p:sp>
          <p:nvSpPr>
            <p:cNvPr id="16394" name="Text Box 9"/>
            <p:cNvSpPr txBox="1">
              <a:spLocks noChangeArrowheads="1"/>
            </p:cNvSpPr>
            <p:nvPr/>
          </p:nvSpPr>
          <p:spPr bwMode="auto">
            <a:xfrm>
              <a:off x="3024" y="3936"/>
              <a:ext cx="1813" cy="192"/>
            </a:xfrm>
            <a:prstGeom prst="rect">
              <a:avLst/>
            </a:prstGeom>
            <a:noFill/>
            <a:ln w="9525">
              <a:noFill/>
              <a:miter lim="800000"/>
              <a:headEnd/>
              <a:tailEnd/>
            </a:ln>
          </p:spPr>
          <p:txBody>
            <a:bodyPr wrap="none">
              <a:spAutoFit/>
            </a:bodyPr>
            <a:lstStyle/>
            <a:p>
              <a:r>
                <a:rPr lang="fr-CA" sz="1400" b="1">
                  <a:solidFill>
                    <a:srgbClr val="008000"/>
                  </a:solidFill>
                  <a:latin typeface="Arial" pitchFamily="34" charset="0"/>
                  <a:cs typeface="Arial" pitchFamily="34" charset="0"/>
                </a:rPr>
                <a:t>... suite à la diapositive suivante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 calcmode="lin" valueType="num">
                                      <p:cBhvr additive="base">
                                        <p:cTn id="7" dur="500" fill="hold"/>
                                        <p:tgtEl>
                                          <p:spTgt spid="19459"/>
                                        </p:tgtEl>
                                        <p:attrNameLst>
                                          <p:attrName>ppt_x</p:attrName>
                                        </p:attrNameLst>
                                      </p:cBhvr>
                                      <p:tavLst>
                                        <p:tav tm="0">
                                          <p:val>
                                            <p:strVal val="1+#ppt_w/2"/>
                                          </p:val>
                                        </p:tav>
                                        <p:tav tm="100000">
                                          <p:val>
                                            <p:strVal val="#ppt_x"/>
                                          </p:val>
                                        </p:tav>
                                      </p:tavLst>
                                    </p:anim>
                                    <p:anim calcmode="lin" valueType="num">
                                      <p:cBhvr additive="base">
                                        <p:cTn id="8" dur="500" fill="hold"/>
                                        <p:tgtEl>
                                          <p:spTgt spid="1945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460"/>
                                        </p:tgtEl>
                                        <p:attrNameLst>
                                          <p:attrName>style.visibility</p:attrName>
                                        </p:attrNameLst>
                                      </p:cBhvr>
                                      <p:to>
                                        <p:strVal val="visible"/>
                                      </p:to>
                                    </p:set>
                                    <p:anim calcmode="lin" valueType="num">
                                      <p:cBhvr additive="base">
                                        <p:cTn id="13" dur="500" fill="hold"/>
                                        <p:tgtEl>
                                          <p:spTgt spid="19460"/>
                                        </p:tgtEl>
                                        <p:attrNameLst>
                                          <p:attrName>ppt_x</p:attrName>
                                        </p:attrNameLst>
                                      </p:cBhvr>
                                      <p:tavLst>
                                        <p:tav tm="0">
                                          <p:val>
                                            <p:strVal val="0-#ppt_w/2"/>
                                          </p:val>
                                        </p:tav>
                                        <p:tav tm="100000">
                                          <p:val>
                                            <p:strVal val="#ppt_x"/>
                                          </p:val>
                                        </p:tav>
                                      </p:tavLst>
                                    </p:anim>
                                    <p:anim calcmode="lin" valueType="num">
                                      <p:cBhvr additive="base">
                                        <p:cTn id="14" dur="500" fill="hold"/>
                                        <p:tgtEl>
                                          <p:spTgt spid="1946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61"/>
                                        </p:tgtEl>
                                        <p:attrNameLst>
                                          <p:attrName>style.visibility</p:attrName>
                                        </p:attrNameLst>
                                      </p:cBhvr>
                                      <p:to>
                                        <p:strVal val="visible"/>
                                      </p:to>
                                    </p:set>
                                    <p:anim calcmode="lin" valueType="num">
                                      <p:cBhvr additive="base">
                                        <p:cTn id="19" dur="500" fill="hold"/>
                                        <p:tgtEl>
                                          <p:spTgt spid="19461"/>
                                        </p:tgtEl>
                                        <p:attrNameLst>
                                          <p:attrName>ppt_x</p:attrName>
                                        </p:attrNameLst>
                                      </p:cBhvr>
                                      <p:tavLst>
                                        <p:tav tm="0">
                                          <p:val>
                                            <p:strVal val="#ppt_x"/>
                                          </p:val>
                                        </p:tav>
                                        <p:tav tm="100000">
                                          <p:val>
                                            <p:strVal val="#ppt_x"/>
                                          </p:val>
                                        </p:tav>
                                      </p:tavLst>
                                    </p:anim>
                                    <p:anim calcmode="lin" valueType="num">
                                      <p:cBhvr additive="base">
                                        <p:cTn id="20" dur="500" fill="hold"/>
                                        <p:tgtEl>
                                          <p:spTgt spid="1946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463"/>
                                        </p:tgtEl>
                                        <p:attrNameLst>
                                          <p:attrName>style.visibility</p:attrName>
                                        </p:attrNameLst>
                                      </p:cBhvr>
                                      <p:to>
                                        <p:strVal val="visible"/>
                                      </p:to>
                                    </p:set>
                                    <p:anim calcmode="lin" valueType="num">
                                      <p:cBhvr additive="base">
                                        <p:cTn id="25" dur="500" fill="hold"/>
                                        <p:tgtEl>
                                          <p:spTgt spid="19463"/>
                                        </p:tgtEl>
                                        <p:attrNameLst>
                                          <p:attrName>ppt_x</p:attrName>
                                        </p:attrNameLst>
                                      </p:cBhvr>
                                      <p:tavLst>
                                        <p:tav tm="0">
                                          <p:val>
                                            <p:strVal val="1+#ppt_w/2"/>
                                          </p:val>
                                        </p:tav>
                                        <p:tav tm="100000">
                                          <p:val>
                                            <p:strVal val="#ppt_x"/>
                                          </p:val>
                                        </p:tav>
                                      </p:tavLst>
                                    </p:anim>
                                    <p:anim calcmode="lin" valueType="num">
                                      <p:cBhvr additive="base">
                                        <p:cTn id="26" dur="500" fill="hold"/>
                                        <p:tgtEl>
                                          <p:spTgt spid="1946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1+#ppt_w/2"/>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autoUpdateAnimBg="0"/>
      <p:bldP spid="19460" grpId="0" autoUpdateAnimBg="0"/>
      <p:bldP spid="19461" grpId="0" autoUpdateAnimBg="0"/>
      <p:bldP spid="19463"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Espace réservé du numéro de diapositive 3"/>
          <p:cNvSpPr>
            <a:spLocks noGrp="1"/>
          </p:cNvSpPr>
          <p:nvPr>
            <p:ph type="sldNum" sz="quarter" idx="12"/>
          </p:nvPr>
        </p:nvSpPr>
        <p:spPr>
          <a:noFill/>
        </p:spPr>
        <p:txBody>
          <a:bodyPr/>
          <a:lstStyle/>
          <a:p>
            <a:fld id="{2D50EA79-D65C-4836-9A97-DA62CE74CE9D}" type="slidenum">
              <a:rPr lang="fr-CA"/>
              <a:pPr/>
              <a:t>72</a:t>
            </a:fld>
            <a:endParaRPr lang="fr-CA"/>
          </a:p>
        </p:txBody>
      </p:sp>
      <p:sp>
        <p:nvSpPr>
          <p:cNvPr id="17411" name="Text Box 2"/>
          <p:cNvSpPr txBox="1">
            <a:spLocks noChangeArrowheads="1"/>
          </p:cNvSpPr>
          <p:nvPr/>
        </p:nvSpPr>
        <p:spPr bwMode="auto">
          <a:xfrm>
            <a:off x="609600" y="762000"/>
            <a:ext cx="1123950" cy="366713"/>
          </a:xfrm>
          <a:prstGeom prst="rect">
            <a:avLst/>
          </a:prstGeom>
          <a:noFill/>
          <a:ln w="9525">
            <a:noFill/>
            <a:miter lim="800000"/>
            <a:headEnd/>
            <a:tailEnd/>
          </a:ln>
        </p:spPr>
        <p:txBody>
          <a:bodyPr wrap="none">
            <a:spAutoFit/>
          </a:bodyPr>
          <a:lstStyle/>
          <a:p>
            <a:r>
              <a:rPr lang="fr-CA" sz="1800" b="1">
                <a:solidFill>
                  <a:srgbClr val="008000"/>
                </a:solidFill>
                <a:latin typeface="Arial" pitchFamily="34" charset="0"/>
                <a:cs typeface="Arial" pitchFamily="34" charset="0"/>
              </a:rPr>
              <a:t>(... suite)</a:t>
            </a:r>
          </a:p>
        </p:txBody>
      </p:sp>
      <p:sp>
        <p:nvSpPr>
          <p:cNvPr id="20483" name="Text Box 3"/>
          <p:cNvSpPr txBox="1">
            <a:spLocks noChangeArrowheads="1"/>
          </p:cNvSpPr>
          <p:nvPr/>
        </p:nvSpPr>
        <p:spPr bwMode="auto">
          <a:xfrm>
            <a:off x="304800" y="1676400"/>
            <a:ext cx="8591550" cy="822325"/>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min(A)</a:t>
            </a:r>
            <a:r>
              <a:rPr lang="fr-CA" b="1">
                <a:latin typeface="Arial" pitchFamily="34" charset="0"/>
                <a:cs typeface="Arial" pitchFamily="34" charset="0"/>
              </a:rPr>
              <a:t>		</a:t>
            </a:r>
            <a:r>
              <a:rPr lang="fr-CA" sz="2000" b="1">
                <a:latin typeface="Arial" pitchFamily="34" charset="0"/>
                <a:cs typeface="Arial" pitchFamily="34" charset="0"/>
              </a:rPr>
              <a:t>Même signification sauf qu’il s’agit des</a:t>
            </a:r>
            <a:r>
              <a:rPr lang="fr-CA" sz="2000" b="1" i="1">
                <a:latin typeface="Arial" pitchFamily="34" charset="0"/>
                <a:cs typeface="Arial" pitchFamily="34" charset="0"/>
              </a:rPr>
              <a:t> </a:t>
            </a:r>
            <a:r>
              <a:rPr lang="fr-CA" sz="2000" b="1" i="1">
                <a:solidFill>
                  <a:srgbClr val="008000"/>
                </a:solidFill>
                <a:latin typeface="Arial" pitchFamily="34" charset="0"/>
                <a:cs typeface="Arial" pitchFamily="34" charset="0"/>
              </a:rPr>
              <a:t>valeurs</a:t>
            </a:r>
          </a:p>
          <a:p>
            <a:r>
              <a:rPr lang="fr-CA" b="1">
                <a:solidFill>
                  <a:srgbClr val="FF3300"/>
                </a:solidFill>
                <a:latin typeface="Arial" pitchFamily="34" charset="0"/>
                <a:cs typeface="Arial" pitchFamily="34" charset="0"/>
              </a:rPr>
              <a:t>[x, k] =</a:t>
            </a:r>
            <a:r>
              <a:rPr lang="fr-CA" b="1">
                <a:latin typeface="Arial" pitchFamily="34" charset="0"/>
                <a:cs typeface="Arial" pitchFamily="34" charset="0"/>
              </a:rPr>
              <a:t> </a:t>
            </a:r>
            <a:r>
              <a:rPr lang="fr-CA" b="1">
                <a:solidFill>
                  <a:srgbClr val="FF3300"/>
                </a:solidFill>
                <a:latin typeface="Arial" pitchFamily="34" charset="0"/>
                <a:cs typeface="Arial" pitchFamily="34" charset="0"/>
              </a:rPr>
              <a:t>min(A)</a:t>
            </a:r>
            <a:r>
              <a:rPr lang="fr-CA" b="1">
                <a:latin typeface="Arial" pitchFamily="34" charset="0"/>
                <a:cs typeface="Arial" pitchFamily="34" charset="0"/>
              </a:rPr>
              <a:t>	</a:t>
            </a:r>
            <a:r>
              <a:rPr lang="fr-CA" sz="2000" b="1" i="1">
                <a:solidFill>
                  <a:srgbClr val="008000"/>
                </a:solidFill>
                <a:latin typeface="Arial" pitchFamily="34" charset="0"/>
                <a:cs typeface="Arial" pitchFamily="34" charset="0"/>
              </a:rPr>
              <a:t>min</a:t>
            </a:r>
          </a:p>
        </p:txBody>
      </p:sp>
      <p:sp>
        <p:nvSpPr>
          <p:cNvPr id="20484" name="Text Box 4"/>
          <p:cNvSpPr txBox="1">
            <a:spLocks noChangeArrowheads="1"/>
          </p:cNvSpPr>
          <p:nvPr/>
        </p:nvSpPr>
        <p:spPr bwMode="auto">
          <a:xfrm>
            <a:off x="304800" y="2855913"/>
            <a:ext cx="8105775" cy="762000"/>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size(A)</a:t>
            </a:r>
            <a:r>
              <a:rPr lang="fr-CA" b="1">
                <a:latin typeface="Arial" pitchFamily="34" charset="0"/>
                <a:cs typeface="Arial" pitchFamily="34" charset="0"/>
              </a:rPr>
              <a:t>	</a:t>
            </a:r>
            <a:r>
              <a:rPr lang="fr-CA" sz="2000" b="1">
                <a:latin typeface="Arial" pitchFamily="34" charset="0"/>
                <a:cs typeface="Arial" pitchFamily="34" charset="0"/>
              </a:rPr>
              <a:t>Fournir un vecteur ligne contenant les dimensions</a:t>
            </a:r>
          </a:p>
          <a:p>
            <a:r>
              <a:rPr lang="fr-CA" sz="2000" b="1">
                <a:latin typeface="Arial" pitchFamily="34" charset="0"/>
                <a:cs typeface="Arial" pitchFamily="34" charset="0"/>
              </a:rPr>
              <a:t>		</a:t>
            </a:r>
            <a:r>
              <a:rPr lang="fr-CA" sz="2000" b="1" i="1">
                <a:solidFill>
                  <a:srgbClr val="FF3300"/>
                </a:solidFill>
                <a:latin typeface="Arial" pitchFamily="34" charset="0"/>
                <a:cs typeface="Arial" pitchFamily="34" charset="0"/>
              </a:rPr>
              <a:t>m x n</a:t>
            </a:r>
            <a:r>
              <a:rPr lang="fr-CA" sz="2000" b="1">
                <a:latin typeface="Arial" pitchFamily="34" charset="0"/>
                <a:cs typeface="Arial" pitchFamily="34" charset="0"/>
              </a:rPr>
              <a:t> de la variable indicée </a:t>
            </a:r>
            <a:r>
              <a:rPr lang="fr-CA" sz="2000" b="1">
                <a:solidFill>
                  <a:srgbClr val="FF3300"/>
                </a:solidFill>
                <a:latin typeface="Arial" pitchFamily="34" charset="0"/>
                <a:cs typeface="Arial" pitchFamily="34" charset="0"/>
              </a:rPr>
              <a:t>A</a:t>
            </a:r>
            <a:r>
              <a:rPr lang="fr-CA" sz="2000" b="1">
                <a:latin typeface="Arial" pitchFamily="34" charset="0"/>
                <a:cs typeface="Arial" pitchFamily="34" charset="0"/>
              </a:rPr>
              <a:t> </a:t>
            </a:r>
          </a:p>
        </p:txBody>
      </p:sp>
      <p:sp>
        <p:nvSpPr>
          <p:cNvPr id="20485" name="Text Box 5"/>
          <p:cNvSpPr txBox="1">
            <a:spLocks noChangeArrowheads="1"/>
          </p:cNvSpPr>
          <p:nvPr/>
        </p:nvSpPr>
        <p:spPr bwMode="auto">
          <a:xfrm>
            <a:off x="304800" y="3694113"/>
            <a:ext cx="8415338" cy="1066800"/>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sort(A)</a:t>
            </a:r>
            <a:r>
              <a:rPr lang="fr-CA" b="1">
                <a:latin typeface="Arial" pitchFamily="34" charset="0"/>
                <a:cs typeface="Arial" pitchFamily="34" charset="0"/>
              </a:rPr>
              <a:t>	</a:t>
            </a:r>
            <a:r>
              <a:rPr lang="fr-CA" sz="2000" b="1">
                <a:latin typeface="Arial" pitchFamily="34" charset="0"/>
                <a:cs typeface="Arial" pitchFamily="34" charset="0"/>
              </a:rPr>
              <a:t>Classer chaque colonne de la variable indicée </a:t>
            </a:r>
            <a:r>
              <a:rPr lang="fr-CA" sz="2000" b="1">
                <a:solidFill>
                  <a:srgbClr val="FF3300"/>
                </a:solidFill>
                <a:latin typeface="Arial" pitchFamily="34" charset="0"/>
                <a:cs typeface="Arial" pitchFamily="34" charset="0"/>
              </a:rPr>
              <a:t>A</a:t>
            </a:r>
            <a:r>
              <a:rPr lang="fr-CA" sz="2000" b="1">
                <a:latin typeface="Arial" pitchFamily="34" charset="0"/>
                <a:cs typeface="Arial" pitchFamily="34" charset="0"/>
              </a:rPr>
              <a:t> par </a:t>
            </a:r>
          </a:p>
          <a:p>
            <a:r>
              <a:rPr lang="fr-CA" sz="2000" b="1">
                <a:latin typeface="Arial" pitchFamily="34" charset="0"/>
                <a:cs typeface="Arial" pitchFamily="34" charset="0"/>
              </a:rPr>
              <a:t>		</a:t>
            </a:r>
            <a:r>
              <a:rPr lang="fr-CA" sz="2000" b="1" i="1">
                <a:solidFill>
                  <a:srgbClr val="008000"/>
                </a:solidFill>
                <a:latin typeface="Arial" pitchFamily="34" charset="0"/>
                <a:cs typeface="Arial" pitchFamily="34" charset="0"/>
              </a:rPr>
              <a:t>ordre croissant</a:t>
            </a:r>
            <a:r>
              <a:rPr lang="fr-CA" sz="2000" b="1">
                <a:latin typeface="Arial" pitchFamily="34" charset="0"/>
                <a:cs typeface="Arial" pitchFamily="34" charset="0"/>
              </a:rPr>
              <a:t> des grandeurs et fournir une variable</a:t>
            </a:r>
          </a:p>
          <a:p>
            <a:r>
              <a:rPr lang="fr-CA" sz="2000" b="1">
                <a:latin typeface="Arial" pitchFamily="34" charset="0"/>
                <a:cs typeface="Arial" pitchFamily="34" charset="0"/>
              </a:rPr>
              <a:t>		indicée ayant les mêmes dimensions que </a:t>
            </a:r>
            <a:r>
              <a:rPr lang="fr-CA" sz="2000" b="1">
                <a:solidFill>
                  <a:srgbClr val="FF3300"/>
                </a:solidFill>
                <a:latin typeface="Arial" pitchFamily="34" charset="0"/>
                <a:cs typeface="Arial" pitchFamily="34" charset="0"/>
              </a:rPr>
              <a:t>A</a:t>
            </a:r>
            <a:endParaRPr lang="fr-CA" b="1">
              <a:solidFill>
                <a:srgbClr val="FF3300"/>
              </a:solidFill>
              <a:latin typeface="Arial" pitchFamily="34" charset="0"/>
              <a:cs typeface="Arial" pitchFamily="34" charset="0"/>
            </a:endParaRPr>
          </a:p>
        </p:txBody>
      </p:sp>
      <p:sp>
        <p:nvSpPr>
          <p:cNvPr id="20490" name="Text Box 10"/>
          <p:cNvSpPr txBox="1">
            <a:spLocks noChangeArrowheads="1"/>
          </p:cNvSpPr>
          <p:nvPr/>
        </p:nvSpPr>
        <p:spPr bwMode="auto">
          <a:xfrm>
            <a:off x="441325" y="217488"/>
            <a:ext cx="7348538" cy="519112"/>
          </a:xfrm>
          <a:prstGeom prst="rect">
            <a:avLst/>
          </a:prstGeom>
          <a:noFill/>
          <a:ln w="9525">
            <a:noFill/>
            <a:miter lim="800000"/>
            <a:headEnd/>
            <a:tailEnd/>
          </a:ln>
          <a:effectLst/>
        </p:spPr>
        <p:txBody>
          <a:bodyPr wrap="none">
            <a:spAutoFit/>
          </a:bodyPr>
          <a:lstStyle/>
          <a:p>
            <a:pPr>
              <a:defRPr/>
            </a:pPr>
            <a:r>
              <a:rPr lang="fr-CA" sz="2800" b="1">
                <a:solidFill>
                  <a:srgbClr val="CC9900"/>
                </a:solidFill>
                <a:effectLst>
                  <a:outerShdw blurRad="38100" dist="38100" dir="2700000" algn="tl">
                    <a:srgbClr val="C0C0C0"/>
                  </a:outerShdw>
                </a:effectLst>
                <a:latin typeface="Arial" pitchFamily="34" charset="0"/>
                <a:cs typeface="Arial" pitchFamily="34" charset="0"/>
              </a:rPr>
              <a:t>Commandes pour les vecteurs et matrices</a:t>
            </a:r>
          </a:p>
        </p:txBody>
      </p:sp>
      <p:grpSp>
        <p:nvGrpSpPr>
          <p:cNvPr id="2" name="Group 13"/>
          <p:cNvGrpSpPr>
            <a:grpSpLocks/>
          </p:cNvGrpSpPr>
          <p:nvPr/>
        </p:nvGrpSpPr>
        <p:grpSpPr bwMode="auto">
          <a:xfrm>
            <a:off x="304800" y="4913313"/>
            <a:ext cx="8402638" cy="1473200"/>
            <a:chOff x="192" y="3095"/>
            <a:chExt cx="5293" cy="928"/>
          </a:xfrm>
        </p:grpSpPr>
        <p:sp>
          <p:nvSpPr>
            <p:cNvPr id="17417" name="Text Box 6"/>
            <p:cNvSpPr txBox="1">
              <a:spLocks noChangeArrowheads="1"/>
            </p:cNvSpPr>
            <p:nvPr/>
          </p:nvSpPr>
          <p:spPr bwMode="auto">
            <a:xfrm>
              <a:off x="192" y="3095"/>
              <a:ext cx="5293" cy="480"/>
            </a:xfrm>
            <a:prstGeom prst="rect">
              <a:avLst/>
            </a:prstGeom>
            <a:noFill/>
            <a:ln w="9525">
              <a:noFill/>
              <a:miter lim="800000"/>
              <a:headEnd/>
              <a:tailEnd/>
            </a:ln>
          </p:spPr>
          <p:txBody>
            <a:bodyPr wrap="none">
              <a:spAutoFit/>
            </a:bodyPr>
            <a:lstStyle/>
            <a:p>
              <a:r>
                <a:rPr lang="fr-CA" b="1">
                  <a:solidFill>
                    <a:srgbClr val="FF3300"/>
                  </a:solidFill>
                  <a:latin typeface="Arial" pitchFamily="34" charset="0"/>
                  <a:cs typeface="Arial" pitchFamily="34" charset="0"/>
                </a:rPr>
                <a:t>sum(A)</a:t>
              </a:r>
              <a:r>
                <a:rPr lang="fr-CA" b="1">
                  <a:latin typeface="Arial" pitchFamily="34" charset="0"/>
                  <a:cs typeface="Arial" pitchFamily="34" charset="0"/>
                </a:rPr>
                <a:t>	</a:t>
              </a:r>
              <a:r>
                <a:rPr lang="fr-CA" sz="2000" b="1">
                  <a:latin typeface="Arial" pitchFamily="34" charset="0"/>
                  <a:cs typeface="Arial" pitchFamily="34" charset="0"/>
                </a:rPr>
                <a:t>Effectuer la </a:t>
              </a:r>
              <a:r>
                <a:rPr lang="fr-CA" sz="2000" b="1" i="1">
                  <a:solidFill>
                    <a:srgbClr val="008000"/>
                  </a:solidFill>
                  <a:latin typeface="Arial" pitchFamily="34" charset="0"/>
                  <a:cs typeface="Arial" pitchFamily="34" charset="0"/>
                </a:rPr>
                <a:t>somme</a:t>
              </a:r>
              <a:r>
                <a:rPr lang="fr-CA" sz="2000" b="1">
                  <a:latin typeface="Arial" pitchFamily="34" charset="0"/>
                  <a:cs typeface="Arial" pitchFamily="34" charset="0"/>
                </a:rPr>
                <a:t> des éléments de chaque colonne</a:t>
              </a:r>
            </a:p>
            <a:p>
              <a:r>
                <a:rPr lang="fr-CA" sz="2000" b="1">
                  <a:latin typeface="Arial" pitchFamily="34" charset="0"/>
                  <a:cs typeface="Arial" pitchFamily="34" charset="0"/>
                </a:rPr>
                <a:t>		de </a:t>
              </a:r>
              <a:r>
                <a:rPr lang="fr-CA" sz="2000" b="1">
                  <a:solidFill>
                    <a:srgbClr val="FF3300"/>
                  </a:solidFill>
                  <a:latin typeface="Arial" pitchFamily="34" charset="0"/>
                  <a:cs typeface="Arial" pitchFamily="34" charset="0"/>
                </a:rPr>
                <a:t>A</a:t>
              </a:r>
              <a:r>
                <a:rPr lang="fr-CA" sz="2000" b="1">
                  <a:latin typeface="Arial" pitchFamily="34" charset="0"/>
                  <a:cs typeface="Arial" pitchFamily="34" charset="0"/>
                </a:rPr>
                <a:t> et fournir le résultat dans un vecteur ligne</a:t>
              </a:r>
              <a:endParaRPr lang="fr-CA" b="1">
                <a:latin typeface="Arial" pitchFamily="34" charset="0"/>
                <a:cs typeface="Arial" pitchFamily="34" charset="0"/>
              </a:endParaRPr>
            </a:p>
          </p:txBody>
        </p:sp>
        <p:sp>
          <p:nvSpPr>
            <p:cNvPr id="17418" name="Text Box 12"/>
            <p:cNvSpPr txBox="1">
              <a:spLocks noChangeArrowheads="1"/>
            </p:cNvSpPr>
            <p:nvPr/>
          </p:nvSpPr>
          <p:spPr bwMode="auto">
            <a:xfrm>
              <a:off x="2592" y="3792"/>
              <a:ext cx="428" cy="231"/>
            </a:xfrm>
            <a:prstGeom prst="rect">
              <a:avLst/>
            </a:prstGeom>
            <a:noFill/>
            <a:ln w="9525">
              <a:noFill/>
              <a:miter lim="800000"/>
              <a:headEnd/>
              <a:tailEnd/>
            </a:ln>
          </p:spPr>
          <p:txBody>
            <a:bodyPr wrap="none">
              <a:spAutoFit/>
            </a:bodyPr>
            <a:lstStyle/>
            <a:p>
              <a:r>
                <a:rPr lang="fr-CA" sz="1800" b="1">
                  <a:solidFill>
                    <a:srgbClr val="008000"/>
                  </a:solidFill>
                  <a:latin typeface="Arial" pitchFamily="34" charset="0"/>
                  <a:cs typeface="Arial" pitchFamily="34" charset="0"/>
                </a:rPr>
                <a:t>(Fin)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additive="base">
                                        <p:cTn id="7" dur="500" fill="hold"/>
                                        <p:tgtEl>
                                          <p:spTgt spid="20483"/>
                                        </p:tgtEl>
                                        <p:attrNameLst>
                                          <p:attrName>ppt_x</p:attrName>
                                        </p:attrNameLst>
                                      </p:cBhvr>
                                      <p:tavLst>
                                        <p:tav tm="0">
                                          <p:val>
                                            <p:strVal val="1+#ppt_w/2"/>
                                          </p:val>
                                        </p:tav>
                                        <p:tav tm="100000">
                                          <p:val>
                                            <p:strVal val="#ppt_x"/>
                                          </p:val>
                                        </p:tav>
                                      </p:tavLst>
                                    </p:anim>
                                    <p:anim calcmode="lin" valueType="num">
                                      <p:cBhvr additive="base">
                                        <p:cTn id="8" dur="500" fill="hold"/>
                                        <p:tgtEl>
                                          <p:spTgt spid="2048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4"/>
                                        </p:tgtEl>
                                        <p:attrNameLst>
                                          <p:attrName>style.visibility</p:attrName>
                                        </p:attrNameLst>
                                      </p:cBhvr>
                                      <p:to>
                                        <p:strVal val="visible"/>
                                      </p:to>
                                    </p:set>
                                    <p:anim calcmode="lin" valueType="num">
                                      <p:cBhvr additive="base">
                                        <p:cTn id="13" dur="500" fill="hold"/>
                                        <p:tgtEl>
                                          <p:spTgt spid="20484"/>
                                        </p:tgtEl>
                                        <p:attrNameLst>
                                          <p:attrName>ppt_x</p:attrName>
                                        </p:attrNameLst>
                                      </p:cBhvr>
                                      <p:tavLst>
                                        <p:tav tm="0">
                                          <p:val>
                                            <p:strVal val="#ppt_x"/>
                                          </p:val>
                                        </p:tav>
                                        <p:tav tm="100000">
                                          <p:val>
                                            <p:strVal val="#ppt_x"/>
                                          </p:val>
                                        </p:tav>
                                      </p:tavLst>
                                    </p:anim>
                                    <p:anim calcmode="lin" valueType="num">
                                      <p:cBhvr additive="base">
                                        <p:cTn id="14" dur="500" fill="hold"/>
                                        <p:tgtEl>
                                          <p:spTgt spid="2048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20485"/>
                                        </p:tgtEl>
                                        <p:attrNameLst>
                                          <p:attrName>style.visibility</p:attrName>
                                        </p:attrNameLst>
                                      </p:cBhvr>
                                      <p:to>
                                        <p:strVal val="visible"/>
                                      </p:to>
                                    </p:set>
                                    <p:anim calcmode="lin" valueType="num">
                                      <p:cBhvr additive="base">
                                        <p:cTn id="19" dur="500" fill="hold"/>
                                        <p:tgtEl>
                                          <p:spTgt spid="20485"/>
                                        </p:tgtEl>
                                        <p:attrNameLst>
                                          <p:attrName>ppt_x</p:attrName>
                                        </p:attrNameLst>
                                      </p:cBhvr>
                                      <p:tavLst>
                                        <p:tav tm="0">
                                          <p:val>
                                            <p:strVal val="0-#ppt_w/2"/>
                                          </p:val>
                                        </p:tav>
                                        <p:tav tm="100000">
                                          <p:val>
                                            <p:strVal val="#ppt_x"/>
                                          </p:val>
                                        </p:tav>
                                      </p:tavLst>
                                    </p:anim>
                                    <p:anim calcmode="lin" valueType="num">
                                      <p:cBhvr additive="base">
                                        <p:cTn id="20" dur="500" fill="hold"/>
                                        <p:tgtEl>
                                          <p:spTgt spid="2048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1+#ppt_w/2"/>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autoUpdateAnimBg="0"/>
      <p:bldP spid="20484" grpId="0" autoUpdateAnimBg="0"/>
      <p:bldP spid="20485"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Espace réservé du numéro de diapositive 3"/>
          <p:cNvSpPr>
            <a:spLocks noGrp="1"/>
          </p:cNvSpPr>
          <p:nvPr>
            <p:ph type="sldNum" sz="quarter" idx="12"/>
          </p:nvPr>
        </p:nvSpPr>
        <p:spPr>
          <a:noFill/>
        </p:spPr>
        <p:txBody>
          <a:bodyPr/>
          <a:lstStyle/>
          <a:p>
            <a:fld id="{6E0FCB11-19CF-4D35-8FD2-6708F0D474C7}" type="slidenum">
              <a:rPr lang="fr-CA"/>
              <a:pPr/>
              <a:t>73</a:t>
            </a:fld>
            <a:endParaRPr lang="fr-CA"/>
          </a:p>
        </p:txBody>
      </p:sp>
      <p:sp>
        <p:nvSpPr>
          <p:cNvPr id="3" name="Text Box 2"/>
          <p:cNvSpPr txBox="1">
            <a:spLocks noChangeArrowheads="1"/>
          </p:cNvSpPr>
          <p:nvPr/>
        </p:nvSpPr>
        <p:spPr bwMode="auto">
          <a:xfrm>
            <a:off x="593725" y="217488"/>
            <a:ext cx="6651625" cy="519112"/>
          </a:xfrm>
          <a:prstGeom prst="rect">
            <a:avLst/>
          </a:prstGeom>
          <a:noFill/>
          <a:ln w="9525">
            <a:noFill/>
            <a:miter lim="800000"/>
            <a:headEnd/>
            <a:tailEnd/>
          </a:ln>
          <a:effectLst/>
        </p:spPr>
        <p:txBody>
          <a:bodyPr wrap="none">
            <a:spAutoFit/>
          </a:bodyPr>
          <a:lstStyle/>
          <a:p>
            <a:pPr>
              <a:defRPr/>
            </a:pPr>
            <a:r>
              <a:rPr lang="fr-CA" sz="2800" b="1">
                <a:solidFill>
                  <a:srgbClr val="CC9900"/>
                </a:solidFill>
                <a:effectLst>
                  <a:outerShdw blurRad="38100" dist="38100" dir="2700000" algn="tl">
                    <a:srgbClr val="C0C0C0"/>
                  </a:outerShdw>
                </a:effectLst>
                <a:latin typeface="Arial" pitchFamily="34" charset="0"/>
                <a:cs typeface="Arial" pitchFamily="34" charset="0"/>
              </a:rPr>
              <a:t>Exemple (illustration des 2 produits) : </a:t>
            </a:r>
          </a:p>
        </p:txBody>
      </p:sp>
      <p:sp>
        <p:nvSpPr>
          <p:cNvPr id="24579" name="Text Box 3"/>
          <p:cNvSpPr txBox="1">
            <a:spLocks noChangeArrowheads="1"/>
          </p:cNvSpPr>
          <p:nvPr/>
        </p:nvSpPr>
        <p:spPr bwMode="auto">
          <a:xfrm>
            <a:off x="669925" y="877888"/>
            <a:ext cx="6500813" cy="1552575"/>
          </a:xfrm>
          <a:prstGeom prst="rect">
            <a:avLst/>
          </a:prstGeom>
          <a:noFill/>
          <a:ln w="9525">
            <a:noFill/>
            <a:miter lim="800000"/>
            <a:headEnd/>
            <a:tailEnd/>
          </a:ln>
        </p:spPr>
        <p:txBody>
          <a:bodyPr wrap="none">
            <a:spAutoFit/>
          </a:bodyPr>
          <a:lstStyle/>
          <a:p>
            <a:r>
              <a:rPr lang="fr-CA" b="1">
                <a:solidFill>
                  <a:schemeClr val="accent2"/>
                </a:solidFill>
                <a:latin typeface="Arial" pitchFamily="34" charset="0"/>
                <a:cs typeface="Arial" pitchFamily="34" charset="0"/>
              </a:rPr>
              <a:t>Vitesses d’un avion et durée entre escales :</a:t>
            </a:r>
          </a:p>
          <a:p>
            <a:r>
              <a:rPr lang="fr-CA" b="1">
                <a:solidFill>
                  <a:schemeClr val="accent2"/>
                </a:solidFill>
                <a:latin typeface="Arial" pitchFamily="34" charset="0"/>
                <a:cs typeface="Arial" pitchFamily="34" charset="0"/>
              </a:rPr>
              <a:t>Trajet</a:t>
            </a:r>
            <a:r>
              <a:rPr lang="fr-CA">
                <a:latin typeface="Arial" pitchFamily="34" charset="0"/>
                <a:cs typeface="Arial" pitchFamily="34" charset="0"/>
              </a:rPr>
              <a:t>			1	2	3	4</a:t>
            </a:r>
          </a:p>
          <a:p>
            <a:r>
              <a:rPr lang="fr-CA" b="1">
                <a:solidFill>
                  <a:schemeClr val="accent2"/>
                </a:solidFill>
                <a:latin typeface="Arial" pitchFamily="34" charset="0"/>
                <a:cs typeface="Arial" pitchFamily="34" charset="0"/>
              </a:rPr>
              <a:t>vitesse (mph)</a:t>
            </a:r>
            <a:r>
              <a:rPr lang="fr-CA">
                <a:latin typeface="Arial" pitchFamily="34" charset="0"/>
                <a:cs typeface="Arial" pitchFamily="34" charset="0"/>
              </a:rPr>
              <a:t>	200	250	400	300</a:t>
            </a:r>
          </a:p>
          <a:p>
            <a:r>
              <a:rPr lang="fr-CA" b="1">
                <a:solidFill>
                  <a:schemeClr val="accent2"/>
                </a:solidFill>
                <a:latin typeface="Arial" pitchFamily="34" charset="0"/>
                <a:cs typeface="Arial" pitchFamily="34" charset="0"/>
              </a:rPr>
              <a:t>durée (h)</a:t>
            </a:r>
            <a:r>
              <a:rPr lang="fr-CA">
                <a:latin typeface="Arial" pitchFamily="34" charset="0"/>
                <a:cs typeface="Arial" pitchFamily="34" charset="0"/>
              </a:rPr>
              <a:t>		2	5	3	4</a:t>
            </a:r>
          </a:p>
        </p:txBody>
      </p:sp>
      <p:sp>
        <p:nvSpPr>
          <p:cNvPr id="24580" name="Text Box 4"/>
          <p:cNvSpPr txBox="1">
            <a:spLocks noChangeArrowheads="1"/>
          </p:cNvSpPr>
          <p:nvPr/>
        </p:nvSpPr>
        <p:spPr bwMode="auto">
          <a:xfrm>
            <a:off x="762000" y="2743200"/>
            <a:ext cx="6373813" cy="2282825"/>
          </a:xfrm>
          <a:prstGeom prst="rect">
            <a:avLst/>
          </a:prstGeom>
          <a:noFill/>
          <a:ln w="9525">
            <a:noFill/>
            <a:miter lim="800000"/>
            <a:headEnd/>
            <a:tailEnd/>
          </a:ln>
        </p:spPr>
        <p:txBody>
          <a:bodyPr wrap="none">
            <a:spAutoFit/>
          </a:bodyPr>
          <a:lstStyle/>
          <a:p>
            <a:r>
              <a:rPr lang="fr-CA" b="1">
                <a:latin typeface="Arial" pitchFamily="34" charset="0"/>
                <a:cs typeface="Arial" pitchFamily="34" charset="0"/>
              </a:rPr>
              <a:t>&gt;&gt;</a:t>
            </a:r>
            <a:r>
              <a:rPr lang="fr-CA" b="1">
                <a:solidFill>
                  <a:srgbClr val="FF3300"/>
                </a:solidFill>
                <a:latin typeface="Arial" pitchFamily="34" charset="0"/>
                <a:cs typeface="Arial" pitchFamily="34" charset="0"/>
              </a:rPr>
              <a:t>v</a:t>
            </a:r>
            <a:r>
              <a:rPr lang="fr-CA" b="1">
                <a:latin typeface="Arial" pitchFamily="34" charset="0"/>
                <a:cs typeface="Arial" pitchFamily="34" charset="0"/>
              </a:rPr>
              <a:t> </a:t>
            </a:r>
            <a:r>
              <a:rPr lang="fr-CA">
                <a:latin typeface="Arial" pitchFamily="34" charset="0"/>
                <a:cs typeface="Arial" pitchFamily="34" charset="0"/>
              </a:rPr>
              <a:t>= [200, 250, 400, 300];</a:t>
            </a:r>
          </a:p>
          <a:p>
            <a:r>
              <a:rPr lang="fr-CA" b="1">
                <a:latin typeface="Arial" pitchFamily="34" charset="0"/>
                <a:cs typeface="Arial" pitchFamily="34" charset="0"/>
              </a:rPr>
              <a:t>&gt;&gt;</a:t>
            </a:r>
            <a:r>
              <a:rPr lang="fr-CA" b="1">
                <a:solidFill>
                  <a:srgbClr val="FF3300"/>
                </a:solidFill>
                <a:latin typeface="Arial" pitchFamily="34" charset="0"/>
                <a:cs typeface="Arial" pitchFamily="34" charset="0"/>
              </a:rPr>
              <a:t>t </a:t>
            </a:r>
            <a:r>
              <a:rPr lang="fr-CA">
                <a:latin typeface="Arial" pitchFamily="34" charset="0"/>
                <a:cs typeface="Arial" pitchFamily="34" charset="0"/>
              </a:rPr>
              <a:t>= [2, 5, 3, 4];</a:t>
            </a:r>
          </a:p>
          <a:p>
            <a:r>
              <a:rPr lang="fr-CA" b="1">
                <a:latin typeface="Arial" pitchFamily="34" charset="0"/>
                <a:cs typeface="Arial" pitchFamily="34" charset="0"/>
              </a:rPr>
              <a:t>&gt;&gt;</a:t>
            </a:r>
            <a:r>
              <a:rPr lang="fr-CA" b="1">
                <a:solidFill>
                  <a:srgbClr val="FF3300"/>
                </a:solidFill>
                <a:latin typeface="Arial" pitchFamily="34" charset="0"/>
                <a:cs typeface="Arial" pitchFamily="34" charset="0"/>
              </a:rPr>
              <a:t>%</a:t>
            </a:r>
            <a:r>
              <a:rPr lang="fr-CA">
                <a:latin typeface="Arial" pitchFamily="34" charset="0"/>
                <a:cs typeface="Arial" pitchFamily="34" charset="0"/>
              </a:rPr>
              <a:t> </a:t>
            </a:r>
            <a:r>
              <a:rPr lang="fr-CA">
                <a:solidFill>
                  <a:srgbClr val="008000"/>
                </a:solidFill>
                <a:latin typeface="Arial" pitchFamily="34" charset="0"/>
                <a:cs typeface="Arial" pitchFamily="34" charset="0"/>
              </a:rPr>
              <a:t>Distance parcourue entre chaque escale</a:t>
            </a:r>
          </a:p>
          <a:p>
            <a:r>
              <a:rPr lang="fr-CA" b="1">
                <a:latin typeface="Arial" pitchFamily="34" charset="0"/>
                <a:cs typeface="Arial" pitchFamily="34" charset="0"/>
              </a:rPr>
              <a:t>&gt;&gt;</a:t>
            </a:r>
            <a:r>
              <a:rPr lang="fr-CA" b="1">
                <a:solidFill>
                  <a:srgbClr val="FF3300"/>
                </a:solidFill>
                <a:latin typeface="Arial" pitchFamily="34" charset="0"/>
                <a:cs typeface="Arial" pitchFamily="34" charset="0"/>
              </a:rPr>
              <a:t>D</a:t>
            </a:r>
            <a:r>
              <a:rPr lang="fr-CA">
                <a:latin typeface="Arial" pitchFamily="34" charset="0"/>
                <a:cs typeface="Arial" pitchFamily="34" charset="0"/>
              </a:rPr>
              <a:t> = </a:t>
            </a:r>
            <a:r>
              <a:rPr lang="fr-CA" b="1">
                <a:solidFill>
                  <a:srgbClr val="FF3300"/>
                </a:solidFill>
                <a:latin typeface="Arial" pitchFamily="34" charset="0"/>
                <a:cs typeface="Arial" pitchFamily="34" charset="0"/>
              </a:rPr>
              <a:t>v</a:t>
            </a:r>
            <a:r>
              <a:rPr lang="fr-CA">
                <a:latin typeface="Arial" pitchFamily="34" charset="0"/>
                <a:cs typeface="Arial" pitchFamily="34" charset="0"/>
              </a:rPr>
              <a:t> .* </a:t>
            </a:r>
            <a:r>
              <a:rPr lang="fr-CA" b="1">
                <a:solidFill>
                  <a:srgbClr val="FF3300"/>
                </a:solidFill>
                <a:latin typeface="Arial" pitchFamily="34" charset="0"/>
                <a:cs typeface="Arial" pitchFamily="34" charset="0"/>
              </a:rPr>
              <a:t>t</a:t>
            </a:r>
            <a:endParaRPr lang="fr-CA" b="1">
              <a:latin typeface="Arial" pitchFamily="34" charset="0"/>
              <a:cs typeface="Arial" pitchFamily="34" charset="0"/>
            </a:endParaRPr>
          </a:p>
          <a:p>
            <a:r>
              <a:rPr lang="fr-CA" b="1">
                <a:latin typeface="Arial" pitchFamily="34" charset="0"/>
                <a:cs typeface="Arial" pitchFamily="34" charset="0"/>
              </a:rPr>
              <a:t>D </a:t>
            </a:r>
            <a:r>
              <a:rPr lang="fr-CA">
                <a:latin typeface="Arial" pitchFamily="34" charset="0"/>
                <a:cs typeface="Arial" pitchFamily="34" charset="0"/>
              </a:rPr>
              <a:t>=</a:t>
            </a:r>
          </a:p>
          <a:p>
            <a:r>
              <a:rPr lang="fr-CA">
                <a:latin typeface="Arial" pitchFamily="34" charset="0"/>
                <a:cs typeface="Arial" pitchFamily="34" charset="0"/>
              </a:rPr>
              <a:t>	400	1250	1200	1200</a:t>
            </a:r>
            <a:endParaRPr lang="fr-CA" b="1">
              <a:solidFill>
                <a:srgbClr val="FF3300"/>
              </a:solidFill>
              <a:latin typeface="Arial" pitchFamily="34" charset="0"/>
              <a:cs typeface="Arial" pitchFamily="34" charset="0"/>
            </a:endParaRPr>
          </a:p>
        </p:txBody>
      </p:sp>
      <p:sp>
        <p:nvSpPr>
          <p:cNvPr id="24581" name="Text Box 5"/>
          <p:cNvSpPr txBox="1">
            <a:spLocks noChangeArrowheads="1"/>
          </p:cNvSpPr>
          <p:nvPr/>
        </p:nvSpPr>
        <p:spPr bwMode="auto">
          <a:xfrm>
            <a:off x="762000" y="5065713"/>
            <a:ext cx="4371975" cy="1552575"/>
          </a:xfrm>
          <a:prstGeom prst="rect">
            <a:avLst/>
          </a:prstGeom>
          <a:noFill/>
          <a:ln w="9525">
            <a:noFill/>
            <a:miter lim="800000"/>
            <a:headEnd/>
            <a:tailEnd/>
          </a:ln>
        </p:spPr>
        <p:txBody>
          <a:bodyPr wrap="none">
            <a:spAutoFit/>
          </a:bodyPr>
          <a:lstStyle/>
          <a:p>
            <a:r>
              <a:rPr lang="fr-CA">
                <a:latin typeface="Arial" pitchFamily="34" charset="0"/>
                <a:cs typeface="Arial" pitchFamily="34" charset="0"/>
              </a:rPr>
              <a:t>&gt;&gt;</a:t>
            </a:r>
            <a:r>
              <a:rPr lang="fr-CA" b="1">
                <a:solidFill>
                  <a:srgbClr val="FF3300"/>
                </a:solidFill>
                <a:latin typeface="Arial" pitchFamily="34" charset="0"/>
                <a:cs typeface="Arial" pitchFamily="34" charset="0"/>
              </a:rPr>
              <a:t>%</a:t>
            </a:r>
            <a:r>
              <a:rPr lang="fr-CA">
                <a:latin typeface="Arial" pitchFamily="34" charset="0"/>
                <a:cs typeface="Arial" pitchFamily="34" charset="0"/>
              </a:rPr>
              <a:t> </a:t>
            </a:r>
            <a:r>
              <a:rPr lang="fr-CA">
                <a:solidFill>
                  <a:srgbClr val="008000"/>
                </a:solidFill>
                <a:latin typeface="Arial" pitchFamily="34" charset="0"/>
                <a:cs typeface="Arial" pitchFamily="34" charset="0"/>
              </a:rPr>
              <a:t>Distance totale parcourue</a:t>
            </a:r>
          </a:p>
          <a:p>
            <a:r>
              <a:rPr lang="fr-CA" b="1">
                <a:latin typeface="Arial" pitchFamily="34" charset="0"/>
                <a:cs typeface="Arial" pitchFamily="34" charset="0"/>
              </a:rPr>
              <a:t>&gt;&gt;d</a:t>
            </a:r>
            <a:r>
              <a:rPr lang="fr-CA">
                <a:latin typeface="Arial" pitchFamily="34" charset="0"/>
                <a:cs typeface="Arial" pitchFamily="34" charset="0"/>
              </a:rPr>
              <a:t> = </a:t>
            </a:r>
            <a:r>
              <a:rPr lang="fr-CA" b="1">
                <a:solidFill>
                  <a:srgbClr val="FF3300"/>
                </a:solidFill>
                <a:latin typeface="Arial" pitchFamily="34" charset="0"/>
                <a:cs typeface="Arial" pitchFamily="34" charset="0"/>
              </a:rPr>
              <a:t>v</a:t>
            </a:r>
            <a:r>
              <a:rPr lang="fr-CA">
                <a:latin typeface="Arial" pitchFamily="34" charset="0"/>
                <a:cs typeface="Arial" pitchFamily="34" charset="0"/>
              </a:rPr>
              <a:t> * </a:t>
            </a:r>
            <a:r>
              <a:rPr lang="fr-CA" b="1">
                <a:solidFill>
                  <a:srgbClr val="FF3300"/>
                </a:solidFill>
                <a:latin typeface="Arial" pitchFamily="34" charset="0"/>
                <a:cs typeface="Arial" pitchFamily="34" charset="0"/>
              </a:rPr>
              <a:t>t’</a:t>
            </a:r>
            <a:endParaRPr lang="fr-CA" b="1">
              <a:latin typeface="Arial" pitchFamily="34" charset="0"/>
              <a:cs typeface="Arial" pitchFamily="34" charset="0"/>
            </a:endParaRPr>
          </a:p>
          <a:p>
            <a:r>
              <a:rPr lang="fr-CA" b="1">
                <a:latin typeface="Arial" pitchFamily="34" charset="0"/>
                <a:cs typeface="Arial" pitchFamily="34" charset="0"/>
              </a:rPr>
              <a:t>d </a:t>
            </a:r>
            <a:r>
              <a:rPr lang="fr-CA">
                <a:latin typeface="Arial" pitchFamily="34" charset="0"/>
                <a:cs typeface="Arial" pitchFamily="34" charset="0"/>
              </a:rPr>
              <a:t>=</a:t>
            </a:r>
          </a:p>
          <a:p>
            <a:r>
              <a:rPr lang="fr-CA">
                <a:latin typeface="Arial" pitchFamily="34" charset="0"/>
                <a:cs typeface="Arial" pitchFamily="34" charset="0"/>
              </a:rPr>
              <a:t>	4050</a:t>
            </a:r>
            <a:endParaRPr lang="fr-CA" b="1">
              <a:solidFill>
                <a:srgbClr val="FF3300"/>
              </a:solidFill>
              <a:latin typeface="Arial" pitchFamily="34" charset="0"/>
              <a:cs typeface="Arial" pitchFamily="34" charset="0"/>
            </a:endParaRPr>
          </a:p>
        </p:txBody>
      </p:sp>
      <p:grpSp>
        <p:nvGrpSpPr>
          <p:cNvPr id="2" name="Group 9"/>
          <p:cNvGrpSpPr>
            <a:grpSpLocks/>
          </p:cNvGrpSpPr>
          <p:nvPr/>
        </p:nvGrpSpPr>
        <p:grpSpPr bwMode="auto">
          <a:xfrm>
            <a:off x="1524000" y="3810000"/>
            <a:ext cx="7256463" cy="762000"/>
            <a:chOff x="960" y="2400"/>
            <a:chExt cx="4571" cy="480"/>
          </a:xfrm>
        </p:grpSpPr>
        <p:sp>
          <p:nvSpPr>
            <p:cNvPr id="24584" name="Line 6"/>
            <p:cNvSpPr>
              <a:spLocks noChangeShapeType="1"/>
            </p:cNvSpPr>
            <p:nvPr/>
          </p:nvSpPr>
          <p:spPr bwMode="auto">
            <a:xfrm flipH="1" flipV="1">
              <a:off x="960" y="2400"/>
              <a:ext cx="3072" cy="336"/>
            </a:xfrm>
            <a:prstGeom prst="line">
              <a:avLst/>
            </a:prstGeom>
            <a:noFill/>
            <a:ln w="19050">
              <a:solidFill>
                <a:schemeClr val="accent2"/>
              </a:solidFill>
              <a:round/>
              <a:headEnd/>
              <a:tailEnd type="triangle" w="med" len="med"/>
            </a:ln>
          </p:spPr>
          <p:txBody>
            <a:bodyPr/>
            <a:lstStyle/>
            <a:p>
              <a:endParaRPr lang="fr-FR"/>
            </a:p>
          </p:txBody>
        </p:sp>
        <p:sp>
          <p:nvSpPr>
            <p:cNvPr id="24585" name="Text Box 7"/>
            <p:cNvSpPr txBox="1">
              <a:spLocks noChangeArrowheads="1"/>
            </p:cNvSpPr>
            <p:nvPr/>
          </p:nvSpPr>
          <p:spPr bwMode="auto">
            <a:xfrm>
              <a:off x="4080" y="2592"/>
              <a:ext cx="1451" cy="288"/>
            </a:xfrm>
            <a:prstGeom prst="rect">
              <a:avLst/>
            </a:prstGeom>
            <a:noFill/>
            <a:ln w="9525">
              <a:noFill/>
              <a:miter lim="800000"/>
              <a:headEnd/>
              <a:tailEnd/>
            </a:ln>
          </p:spPr>
          <p:txBody>
            <a:bodyPr wrap="none">
              <a:spAutoFit/>
            </a:bodyPr>
            <a:lstStyle/>
            <a:p>
              <a:r>
                <a:rPr lang="fr-CA" b="1">
                  <a:solidFill>
                    <a:schemeClr val="accent2"/>
                  </a:solidFill>
                  <a:latin typeface="Arial" pitchFamily="34" charset="0"/>
                  <a:cs typeface="Arial" pitchFamily="34" charset="0"/>
                </a:rPr>
                <a:t>Commentaires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additive="base">
                                        <p:cTn id="7" dur="500" fill="hold"/>
                                        <p:tgtEl>
                                          <p:spTgt spid="24579"/>
                                        </p:tgtEl>
                                        <p:attrNameLst>
                                          <p:attrName>ppt_x</p:attrName>
                                        </p:attrNameLst>
                                      </p:cBhvr>
                                      <p:tavLst>
                                        <p:tav tm="0">
                                          <p:val>
                                            <p:strVal val="1+#ppt_w/2"/>
                                          </p:val>
                                        </p:tav>
                                        <p:tav tm="100000">
                                          <p:val>
                                            <p:strVal val="#ppt_x"/>
                                          </p:val>
                                        </p:tav>
                                      </p:tavLst>
                                    </p:anim>
                                    <p:anim calcmode="lin" valueType="num">
                                      <p:cBhvr additive="base">
                                        <p:cTn id="8" dur="500" fill="hold"/>
                                        <p:tgtEl>
                                          <p:spTgt spid="2457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24580"/>
                                        </p:tgtEl>
                                        <p:attrNameLst>
                                          <p:attrName>style.visibility</p:attrName>
                                        </p:attrNameLst>
                                      </p:cBhvr>
                                      <p:to>
                                        <p:strVal val="visible"/>
                                      </p:to>
                                    </p:set>
                                    <p:anim calcmode="lin" valueType="num">
                                      <p:cBhvr additive="base">
                                        <p:cTn id="13" dur="500" fill="hold"/>
                                        <p:tgtEl>
                                          <p:spTgt spid="24580"/>
                                        </p:tgtEl>
                                        <p:attrNameLst>
                                          <p:attrName>ppt_x</p:attrName>
                                        </p:attrNameLst>
                                      </p:cBhvr>
                                      <p:tavLst>
                                        <p:tav tm="0">
                                          <p:val>
                                            <p:strVal val="0-#ppt_w/2"/>
                                          </p:val>
                                        </p:tav>
                                        <p:tav tm="100000">
                                          <p:val>
                                            <p:strVal val="#ppt_x"/>
                                          </p:val>
                                        </p:tav>
                                      </p:tavLst>
                                    </p:anim>
                                    <p:anim calcmode="lin" valueType="num">
                                      <p:cBhvr additive="base">
                                        <p:cTn id="14" dur="500" fill="hold"/>
                                        <p:tgtEl>
                                          <p:spTgt spid="2458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1+#ppt_w/2"/>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24581"/>
                                        </p:tgtEl>
                                        <p:attrNameLst>
                                          <p:attrName>style.visibility</p:attrName>
                                        </p:attrNameLst>
                                      </p:cBhvr>
                                      <p:to>
                                        <p:strVal val="visible"/>
                                      </p:to>
                                    </p:set>
                                    <p:anim calcmode="lin" valueType="num">
                                      <p:cBhvr additive="base">
                                        <p:cTn id="25" dur="500" fill="hold"/>
                                        <p:tgtEl>
                                          <p:spTgt spid="24581"/>
                                        </p:tgtEl>
                                        <p:attrNameLst>
                                          <p:attrName>ppt_x</p:attrName>
                                        </p:attrNameLst>
                                      </p:cBhvr>
                                      <p:tavLst>
                                        <p:tav tm="0">
                                          <p:val>
                                            <p:strVal val="1+#ppt_w/2"/>
                                          </p:val>
                                        </p:tav>
                                        <p:tav tm="100000">
                                          <p:val>
                                            <p:strVal val="#ppt_x"/>
                                          </p:val>
                                        </p:tav>
                                      </p:tavLst>
                                    </p:anim>
                                    <p:anim calcmode="lin" valueType="num">
                                      <p:cBhvr additive="base">
                                        <p:cTn id="26" dur="500" fill="hold"/>
                                        <p:tgtEl>
                                          <p:spTgt spid="245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utoUpdateAnimBg="0"/>
      <p:bldP spid="24580" grpId="0" autoUpdateAnimBg="0"/>
      <p:bldP spid="24581"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space réservé du numéro de diapositive 3"/>
          <p:cNvSpPr>
            <a:spLocks noGrp="1"/>
          </p:cNvSpPr>
          <p:nvPr>
            <p:ph type="sldNum" sz="quarter" idx="12"/>
          </p:nvPr>
        </p:nvSpPr>
        <p:spPr/>
        <p:txBody>
          <a:bodyPr/>
          <a:lstStyle/>
          <a:p>
            <a:fld id="{D1BE251C-A490-4B26-9734-D61A41C2EC34}" type="slidenum">
              <a:rPr lang="fr-CA"/>
              <a:pPr/>
              <a:t>74</a:t>
            </a:fld>
            <a:endParaRPr lang="fr-CA"/>
          </a:p>
        </p:txBody>
      </p:sp>
      <p:sp>
        <p:nvSpPr>
          <p:cNvPr id="28674" name="Text Box 2"/>
          <p:cNvSpPr txBox="1">
            <a:spLocks noChangeArrowheads="1"/>
          </p:cNvSpPr>
          <p:nvPr/>
        </p:nvSpPr>
        <p:spPr bwMode="auto">
          <a:xfrm>
            <a:off x="1571604" y="0"/>
            <a:ext cx="5386411" cy="584775"/>
          </a:xfrm>
          <a:prstGeom prst="rect">
            <a:avLst/>
          </a:prstGeom>
          <a:noFill/>
          <a:ln w="9525">
            <a:noFill/>
            <a:miter lim="800000"/>
            <a:headEnd/>
            <a:tailEnd/>
          </a:ln>
          <a:effectLst/>
        </p:spPr>
        <p:txBody>
          <a:bodyPr wrap="none">
            <a:spAutoFit/>
          </a:bodyPr>
          <a:lstStyle/>
          <a:p>
            <a:r>
              <a:rPr lang="fr-CA" sz="3200" dirty="0">
                <a:latin typeface="+mj-lt"/>
                <a:cs typeface="Arial" pitchFamily="34" charset="0"/>
              </a:rPr>
              <a:t>Création de matrices spéciales :</a:t>
            </a:r>
          </a:p>
        </p:txBody>
      </p:sp>
      <p:sp>
        <p:nvSpPr>
          <p:cNvPr id="28675" name="Text Box 3"/>
          <p:cNvSpPr txBox="1">
            <a:spLocks noChangeArrowheads="1"/>
          </p:cNvSpPr>
          <p:nvPr/>
        </p:nvSpPr>
        <p:spPr bwMode="auto">
          <a:xfrm>
            <a:off x="288925" y="954088"/>
            <a:ext cx="4603750" cy="457200"/>
          </a:xfrm>
          <a:prstGeom prst="rect">
            <a:avLst/>
          </a:prstGeom>
          <a:noFill/>
          <a:ln w="9525">
            <a:noFill/>
            <a:miter lim="800000"/>
            <a:headEnd/>
            <a:tailEnd/>
          </a:ln>
          <a:effectLst/>
        </p:spPr>
        <p:txBody>
          <a:bodyPr>
            <a:spAutoFit/>
          </a:bodyPr>
          <a:lstStyle/>
          <a:p>
            <a:r>
              <a:rPr lang="fr-CA" dirty="0">
                <a:solidFill>
                  <a:srgbClr val="008000"/>
                </a:solidFill>
                <a:latin typeface="Arial" pitchFamily="34" charset="0"/>
                <a:cs typeface="Arial" pitchFamily="34" charset="0"/>
              </a:rPr>
              <a:t>Commande		Description</a:t>
            </a:r>
            <a:endParaRPr lang="fr-CA" sz="1800" dirty="0">
              <a:latin typeface="Arial" pitchFamily="34" charset="0"/>
              <a:cs typeface="Arial" pitchFamily="34" charset="0"/>
            </a:endParaRPr>
          </a:p>
        </p:txBody>
      </p:sp>
      <p:sp>
        <p:nvSpPr>
          <p:cNvPr id="28676" name="Text Box 4"/>
          <p:cNvSpPr txBox="1">
            <a:spLocks noChangeArrowheads="1"/>
          </p:cNvSpPr>
          <p:nvPr/>
        </p:nvSpPr>
        <p:spPr bwMode="auto">
          <a:xfrm>
            <a:off x="593725" y="1792288"/>
            <a:ext cx="6494085" cy="461665"/>
          </a:xfrm>
          <a:prstGeom prst="rect">
            <a:avLst/>
          </a:prstGeom>
          <a:noFill/>
          <a:ln w="9525">
            <a:noFill/>
            <a:miter lim="800000"/>
            <a:headEnd/>
            <a:tailEnd/>
          </a:ln>
          <a:effectLst/>
        </p:spPr>
        <p:txBody>
          <a:bodyPr wrap="none">
            <a:spAutoFit/>
          </a:bodyPr>
          <a:lstStyle/>
          <a:p>
            <a:r>
              <a:rPr lang="fr-CA" dirty="0" err="1">
                <a:solidFill>
                  <a:srgbClr val="FF3300"/>
                </a:solidFill>
                <a:latin typeface="Arial" pitchFamily="34" charset="0"/>
                <a:cs typeface="Arial" pitchFamily="34" charset="0"/>
              </a:rPr>
              <a:t>eye</a:t>
            </a:r>
            <a:r>
              <a:rPr lang="fr-CA" dirty="0">
                <a:solidFill>
                  <a:srgbClr val="FF3300"/>
                </a:solidFill>
                <a:latin typeface="Arial" pitchFamily="34" charset="0"/>
                <a:cs typeface="Arial" pitchFamily="34" charset="0"/>
              </a:rPr>
              <a:t>(n</a:t>
            </a:r>
            <a:r>
              <a:rPr lang="fr-CA" dirty="0" smtClean="0">
                <a:solidFill>
                  <a:srgbClr val="FF3300"/>
                </a:solidFill>
                <a:latin typeface="Arial" pitchFamily="34" charset="0"/>
                <a:cs typeface="Arial" pitchFamily="34" charset="0"/>
              </a:rPr>
              <a:t>)</a:t>
            </a:r>
            <a:r>
              <a:rPr lang="fr-CA" dirty="0">
                <a:solidFill>
                  <a:srgbClr val="FF3300"/>
                </a:solidFill>
                <a:latin typeface="Arial" pitchFamily="34" charset="0"/>
                <a:cs typeface="Arial" pitchFamily="34" charset="0"/>
              </a:rPr>
              <a:t>	</a:t>
            </a:r>
            <a:r>
              <a:rPr lang="fr-CA" dirty="0">
                <a:latin typeface="Arial" pitchFamily="34" charset="0"/>
                <a:cs typeface="Arial" pitchFamily="34" charset="0"/>
              </a:rPr>
              <a:t>		</a:t>
            </a:r>
            <a:r>
              <a:rPr lang="fr-CA" sz="1800" dirty="0">
                <a:latin typeface="Arial" pitchFamily="34" charset="0"/>
                <a:cs typeface="Arial" pitchFamily="34" charset="0"/>
              </a:rPr>
              <a:t>Créer une </a:t>
            </a:r>
            <a:r>
              <a:rPr lang="fr-CA" sz="1800" dirty="0">
                <a:solidFill>
                  <a:schemeClr val="accent2"/>
                </a:solidFill>
                <a:latin typeface="Arial" pitchFamily="34" charset="0"/>
                <a:cs typeface="Arial" pitchFamily="34" charset="0"/>
              </a:rPr>
              <a:t>matrice identité  </a:t>
            </a:r>
            <a:r>
              <a:rPr lang="fr-CA" sz="1800" dirty="0">
                <a:solidFill>
                  <a:srgbClr val="FF3300"/>
                </a:solidFill>
                <a:latin typeface="Arial" pitchFamily="34" charset="0"/>
                <a:cs typeface="Arial" pitchFamily="34" charset="0"/>
              </a:rPr>
              <a:t>I</a:t>
            </a:r>
            <a:r>
              <a:rPr lang="fr-CA" sz="1800" dirty="0">
                <a:solidFill>
                  <a:srgbClr val="008000"/>
                </a:solidFill>
                <a:latin typeface="Arial" pitchFamily="34" charset="0"/>
                <a:cs typeface="Arial" pitchFamily="34" charset="0"/>
              </a:rPr>
              <a:t>  </a:t>
            </a:r>
            <a:r>
              <a:rPr lang="fr-CA" sz="1800" i="1" dirty="0">
                <a:solidFill>
                  <a:srgbClr val="FF3300"/>
                </a:solidFill>
                <a:latin typeface="Arial" pitchFamily="34" charset="0"/>
                <a:cs typeface="Arial" pitchFamily="34" charset="0"/>
              </a:rPr>
              <a:t>n x n</a:t>
            </a:r>
            <a:r>
              <a:rPr lang="fr-CA" sz="1800" i="1" dirty="0">
                <a:latin typeface="Arial" pitchFamily="34" charset="0"/>
                <a:cs typeface="Arial" pitchFamily="34" charset="0"/>
              </a:rPr>
              <a:t> </a:t>
            </a:r>
          </a:p>
        </p:txBody>
      </p:sp>
      <p:sp>
        <p:nvSpPr>
          <p:cNvPr id="28677" name="Text Box 5"/>
          <p:cNvSpPr txBox="1">
            <a:spLocks noChangeArrowheads="1"/>
          </p:cNvSpPr>
          <p:nvPr/>
        </p:nvSpPr>
        <p:spPr bwMode="auto">
          <a:xfrm>
            <a:off x="611188" y="2349500"/>
            <a:ext cx="8096250" cy="457200"/>
          </a:xfrm>
          <a:prstGeom prst="rect">
            <a:avLst/>
          </a:prstGeom>
          <a:noFill/>
          <a:ln w="9525">
            <a:noFill/>
            <a:miter lim="800000"/>
            <a:headEnd/>
            <a:tailEnd/>
          </a:ln>
          <a:effectLst/>
        </p:spPr>
        <p:txBody>
          <a:bodyPr wrap="none">
            <a:spAutoFit/>
          </a:bodyPr>
          <a:lstStyle/>
          <a:p>
            <a:r>
              <a:rPr lang="fr-CA" dirty="0" err="1">
                <a:solidFill>
                  <a:srgbClr val="FF3300"/>
                </a:solidFill>
                <a:latin typeface="Arial" pitchFamily="34" charset="0"/>
                <a:cs typeface="Arial" pitchFamily="34" charset="0"/>
              </a:rPr>
              <a:t>Eye</a:t>
            </a:r>
            <a:r>
              <a:rPr lang="fr-CA" dirty="0">
                <a:solidFill>
                  <a:srgbClr val="FF3300"/>
                </a:solidFill>
                <a:latin typeface="Arial" pitchFamily="34" charset="0"/>
                <a:cs typeface="Arial" pitchFamily="34" charset="0"/>
              </a:rPr>
              <a:t>(size(A))		</a:t>
            </a:r>
            <a:r>
              <a:rPr lang="fr-CA" sz="1800" dirty="0">
                <a:latin typeface="Arial" pitchFamily="34" charset="0"/>
                <a:cs typeface="Arial" pitchFamily="34" charset="0"/>
              </a:rPr>
              <a:t>Créer une matrice </a:t>
            </a:r>
            <a:r>
              <a:rPr lang="fr-CA" sz="1800" dirty="0" smtClean="0">
                <a:latin typeface="Arial" pitchFamily="34" charset="0"/>
                <a:cs typeface="Arial" pitchFamily="34" charset="0"/>
              </a:rPr>
              <a:t>nulle de </a:t>
            </a:r>
            <a:r>
              <a:rPr lang="fr-CA" sz="1800" dirty="0">
                <a:latin typeface="Arial" pitchFamily="34" charset="0"/>
                <a:cs typeface="Arial" pitchFamily="34" charset="0"/>
              </a:rPr>
              <a:t>même dimension que </a:t>
            </a:r>
            <a:r>
              <a:rPr lang="fr-CA" sz="1800" dirty="0">
                <a:solidFill>
                  <a:srgbClr val="FF3300"/>
                </a:solidFill>
                <a:latin typeface="Arial" pitchFamily="34" charset="0"/>
                <a:cs typeface="Arial" pitchFamily="34" charset="0"/>
              </a:rPr>
              <a:t>A</a:t>
            </a:r>
          </a:p>
        </p:txBody>
      </p:sp>
      <p:sp>
        <p:nvSpPr>
          <p:cNvPr id="28678" name="Text Box 6"/>
          <p:cNvSpPr txBox="1">
            <a:spLocks noChangeArrowheads="1"/>
          </p:cNvSpPr>
          <p:nvPr/>
        </p:nvSpPr>
        <p:spPr bwMode="auto">
          <a:xfrm>
            <a:off x="593725" y="3011488"/>
            <a:ext cx="6991350" cy="457200"/>
          </a:xfrm>
          <a:prstGeom prst="rect">
            <a:avLst/>
          </a:prstGeom>
          <a:noFill/>
          <a:ln w="9525">
            <a:noFill/>
            <a:miter lim="800000"/>
            <a:headEnd/>
            <a:tailEnd/>
          </a:ln>
          <a:effectLst/>
        </p:spPr>
        <p:txBody>
          <a:bodyPr wrap="none">
            <a:spAutoFit/>
          </a:bodyPr>
          <a:lstStyle/>
          <a:p>
            <a:r>
              <a:rPr lang="fr-CA" dirty="0" err="1">
                <a:solidFill>
                  <a:srgbClr val="FF3300"/>
                </a:solidFill>
                <a:latin typeface="Arial" pitchFamily="34" charset="0"/>
                <a:cs typeface="Arial" pitchFamily="34" charset="0"/>
              </a:rPr>
              <a:t>ones</a:t>
            </a:r>
            <a:r>
              <a:rPr lang="fr-CA" dirty="0">
                <a:solidFill>
                  <a:srgbClr val="FF3300"/>
                </a:solidFill>
                <a:latin typeface="Arial" pitchFamily="34" charset="0"/>
                <a:cs typeface="Arial" pitchFamily="34" charset="0"/>
              </a:rPr>
              <a:t>(n)</a:t>
            </a:r>
            <a:r>
              <a:rPr lang="fr-CA" dirty="0">
                <a:latin typeface="Arial" pitchFamily="34" charset="0"/>
                <a:cs typeface="Arial" pitchFamily="34" charset="0"/>
              </a:rPr>
              <a:t>		</a:t>
            </a:r>
            <a:r>
              <a:rPr lang="fr-CA" sz="1800" dirty="0">
                <a:latin typeface="Arial" pitchFamily="34" charset="0"/>
                <a:cs typeface="Arial" pitchFamily="34" charset="0"/>
              </a:rPr>
              <a:t>Créer une matrice  </a:t>
            </a:r>
            <a:r>
              <a:rPr lang="fr-CA" sz="1800" i="1" dirty="0">
                <a:solidFill>
                  <a:srgbClr val="FF3300"/>
                </a:solidFill>
                <a:latin typeface="Arial" pitchFamily="34" charset="0"/>
                <a:cs typeface="Arial" pitchFamily="34" charset="0"/>
              </a:rPr>
              <a:t>n x n</a:t>
            </a:r>
            <a:r>
              <a:rPr lang="fr-CA" sz="1800" dirty="0">
                <a:latin typeface="Arial" pitchFamily="34" charset="0"/>
                <a:cs typeface="Arial" pitchFamily="34" charset="0"/>
              </a:rPr>
              <a:t>  remplie de </a:t>
            </a:r>
            <a:r>
              <a:rPr lang="fr-CA" sz="1800" dirty="0">
                <a:solidFill>
                  <a:srgbClr val="FF3300"/>
                </a:solidFill>
                <a:latin typeface="Arial" pitchFamily="34" charset="0"/>
                <a:cs typeface="Arial" pitchFamily="34" charset="0"/>
              </a:rPr>
              <a:t>1</a:t>
            </a:r>
            <a:endParaRPr lang="fr-CA" dirty="0">
              <a:solidFill>
                <a:srgbClr val="FF3300"/>
              </a:solidFill>
              <a:latin typeface="Arial" pitchFamily="34" charset="0"/>
              <a:cs typeface="Arial" pitchFamily="34" charset="0"/>
            </a:endParaRPr>
          </a:p>
        </p:txBody>
      </p:sp>
      <p:sp>
        <p:nvSpPr>
          <p:cNvPr id="28679" name="Text Box 7"/>
          <p:cNvSpPr txBox="1">
            <a:spLocks noChangeArrowheads="1"/>
          </p:cNvSpPr>
          <p:nvPr/>
        </p:nvSpPr>
        <p:spPr bwMode="auto">
          <a:xfrm>
            <a:off x="593725" y="3621088"/>
            <a:ext cx="7118350" cy="457200"/>
          </a:xfrm>
          <a:prstGeom prst="rect">
            <a:avLst/>
          </a:prstGeom>
          <a:noFill/>
          <a:ln w="9525">
            <a:noFill/>
            <a:miter lim="800000"/>
            <a:headEnd/>
            <a:tailEnd/>
          </a:ln>
          <a:effectLst/>
        </p:spPr>
        <p:txBody>
          <a:bodyPr wrap="none">
            <a:spAutoFit/>
          </a:bodyPr>
          <a:lstStyle/>
          <a:p>
            <a:r>
              <a:rPr lang="fr-CA" dirty="0" err="1">
                <a:solidFill>
                  <a:srgbClr val="FF3300"/>
                </a:solidFill>
                <a:latin typeface="Arial" pitchFamily="34" charset="0"/>
                <a:cs typeface="Arial" pitchFamily="34" charset="0"/>
              </a:rPr>
              <a:t>ones</a:t>
            </a:r>
            <a:r>
              <a:rPr lang="fr-CA" dirty="0">
                <a:solidFill>
                  <a:srgbClr val="FF3300"/>
                </a:solidFill>
                <a:latin typeface="Arial" pitchFamily="34" charset="0"/>
                <a:cs typeface="Arial" pitchFamily="34" charset="0"/>
              </a:rPr>
              <a:t>(</a:t>
            </a:r>
            <a:r>
              <a:rPr lang="fr-CA" dirty="0" err="1">
                <a:solidFill>
                  <a:srgbClr val="FF3300"/>
                </a:solidFill>
                <a:latin typeface="Arial" pitchFamily="34" charset="0"/>
                <a:cs typeface="Arial" pitchFamily="34" charset="0"/>
              </a:rPr>
              <a:t>m,n</a:t>
            </a:r>
            <a:r>
              <a:rPr lang="fr-CA" dirty="0">
                <a:solidFill>
                  <a:srgbClr val="FF3300"/>
                </a:solidFill>
                <a:latin typeface="Arial" pitchFamily="34" charset="0"/>
                <a:cs typeface="Arial" pitchFamily="34" charset="0"/>
              </a:rPr>
              <a:t>)</a:t>
            </a:r>
            <a:r>
              <a:rPr lang="fr-CA" dirty="0">
                <a:latin typeface="Arial" pitchFamily="34" charset="0"/>
                <a:cs typeface="Arial" pitchFamily="34" charset="0"/>
              </a:rPr>
              <a:t>		</a:t>
            </a:r>
            <a:r>
              <a:rPr lang="fr-CA" sz="1800" dirty="0">
                <a:latin typeface="Arial" pitchFamily="34" charset="0"/>
                <a:cs typeface="Arial" pitchFamily="34" charset="0"/>
              </a:rPr>
              <a:t>Créer une matrice  </a:t>
            </a:r>
            <a:r>
              <a:rPr lang="fr-CA" sz="1800" i="1" dirty="0">
                <a:solidFill>
                  <a:srgbClr val="FF3300"/>
                </a:solidFill>
                <a:latin typeface="Arial" pitchFamily="34" charset="0"/>
                <a:cs typeface="Arial" pitchFamily="34" charset="0"/>
              </a:rPr>
              <a:t>m x n</a:t>
            </a:r>
            <a:r>
              <a:rPr lang="fr-CA" sz="1800" dirty="0">
                <a:latin typeface="Arial" pitchFamily="34" charset="0"/>
                <a:cs typeface="Arial" pitchFamily="34" charset="0"/>
              </a:rPr>
              <a:t>  remplie de </a:t>
            </a:r>
            <a:r>
              <a:rPr lang="fr-CA" sz="1800" dirty="0">
                <a:solidFill>
                  <a:srgbClr val="FF3300"/>
                </a:solidFill>
                <a:latin typeface="Arial" pitchFamily="34" charset="0"/>
                <a:cs typeface="Arial" pitchFamily="34" charset="0"/>
              </a:rPr>
              <a:t>1</a:t>
            </a:r>
            <a:r>
              <a:rPr lang="fr-CA" sz="1800" dirty="0">
                <a:latin typeface="Arial" pitchFamily="34" charset="0"/>
                <a:cs typeface="Arial" pitchFamily="34" charset="0"/>
              </a:rPr>
              <a:t> </a:t>
            </a:r>
            <a:endParaRPr lang="fr-CA" dirty="0">
              <a:latin typeface="Arial" pitchFamily="34" charset="0"/>
              <a:cs typeface="Arial" pitchFamily="34" charset="0"/>
            </a:endParaRPr>
          </a:p>
        </p:txBody>
      </p:sp>
      <p:sp>
        <p:nvSpPr>
          <p:cNvPr id="28680" name="Text Box 8"/>
          <p:cNvSpPr txBox="1">
            <a:spLocks noChangeArrowheads="1"/>
          </p:cNvSpPr>
          <p:nvPr/>
        </p:nvSpPr>
        <p:spPr bwMode="auto">
          <a:xfrm>
            <a:off x="593725" y="4230688"/>
            <a:ext cx="6712094" cy="738664"/>
          </a:xfrm>
          <a:prstGeom prst="rect">
            <a:avLst/>
          </a:prstGeom>
          <a:noFill/>
          <a:ln w="9525">
            <a:noFill/>
            <a:miter lim="800000"/>
            <a:headEnd/>
            <a:tailEnd/>
          </a:ln>
          <a:effectLst/>
        </p:spPr>
        <p:txBody>
          <a:bodyPr wrap="none">
            <a:spAutoFit/>
          </a:bodyPr>
          <a:lstStyle/>
          <a:p>
            <a:r>
              <a:rPr lang="fr-CA" dirty="0" err="1">
                <a:solidFill>
                  <a:srgbClr val="FF3300"/>
                </a:solidFill>
                <a:latin typeface="Arial" pitchFamily="34" charset="0"/>
                <a:cs typeface="Arial" pitchFamily="34" charset="0"/>
              </a:rPr>
              <a:t>ones</a:t>
            </a:r>
            <a:r>
              <a:rPr lang="fr-CA" dirty="0">
                <a:solidFill>
                  <a:srgbClr val="FF3300"/>
                </a:solidFill>
                <a:latin typeface="Arial" pitchFamily="34" charset="0"/>
                <a:cs typeface="Arial" pitchFamily="34" charset="0"/>
              </a:rPr>
              <a:t>(size(A))</a:t>
            </a:r>
            <a:r>
              <a:rPr lang="fr-CA" dirty="0">
                <a:latin typeface="Arial" pitchFamily="34" charset="0"/>
                <a:cs typeface="Arial" pitchFamily="34" charset="0"/>
              </a:rPr>
              <a:t>	</a:t>
            </a:r>
            <a:r>
              <a:rPr lang="fr-CA" dirty="0" smtClean="0">
                <a:latin typeface="Arial" pitchFamily="34" charset="0"/>
                <a:cs typeface="Arial" pitchFamily="34" charset="0"/>
              </a:rPr>
              <a:t>	</a:t>
            </a:r>
            <a:r>
              <a:rPr lang="fr-CA" sz="1800" dirty="0" smtClean="0">
                <a:latin typeface="Arial" pitchFamily="34" charset="0"/>
                <a:cs typeface="Arial" pitchFamily="34" charset="0"/>
              </a:rPr>
              <a:t>Créer </a:t>
            </a:r>
            <a:r>
              <a:rPr lang="fr-CA" sz="1800" dirty="0">
                <a:latin typeface="Arial" pitchFamily="34" charset="0"/>
                <a:cs typeface="Arial" pitchFamily="34" charset="0"/>
              </a:rPr>
              <a:t>une matrice remplie de </a:t>
            </a:r>
            <a:r>
              <a:rPr lang="fr-CA" sz="1800" dirty="0">
                <a:solidFill>
                  <a:srgbClr val="FF3300"/>
                </a:solidFill>
                <a:latin typeface="Arial" pitchFamily="34" charset="0"/>
                <a:cs typeface="Arial" pitchFamily="34" charset="0"/>
              </a:rPr>
              <a:t>1</a:t>
            </a:r>
            <a:r>
              <a:rPr lang="fr-CA" sz="1800" dirty="0">
                <a:latin typeface="Arial" pitchFamily="34" charset="0"/>
                <a:cs typeface="Arial" pitchFamily="34" charset="0"/>
              </a:rPr>
              <a:t> et de</a:t>
            </a:r>
          </a:p>
          <a:p>
            <a:r>
              <a:rPr lang="fr-CA" sz="1800" dirty="0">
                <a:latin typeface="Arial" pitchFamily="34" charset="0"/>
                <a:cs typeface="Arial" pitchFamily="34" charset="0"/>
              </a:rPr>
              <a:t>			même dimension que </a:t>
            </a:r>
            <a:r>
              <a:rPr lang="fr-CA" sz="1800" dirty="0">
                <a:solidFill>
                  <a:srgbClr val="FF3300"/>
                </a:solidFill>
                <a:latin typeface="Arial" pitchFamily="34" charset="0"/>
                <a:cs typeface="Arial" pitchFamily="34" charset="0"/>
              </a:rPr>
              <a:t>A</a:t>
            </a:r>
            <a:endParaRPr lang="fr-CA" dirty="0">
              <a:solidFill>
                <a:srgbClr val="FF3300"/>
              </a:solidFill>
              <a:latin typeface="Arial" pitchFamily="34" charset="0"/>
              <a:cs typeface="Arial" pitchFamily="34" charset="0"/>
            </a:endParaRPr>
          </a:p>
        </p:txBody>
      </p:sp>
      <p:sp>
        <p:nvSpPr>
          <p:cNvPr id="28681" name="Text Box 9"/>
          <p:cNvSpPr txBox="1">
            <a:spLocks noChangeArrowheads="1"/>
          </p:cNvSpPr>
          <p:nvPr/>
        </p:nvSpPr>
        <p:spPr bwMode="auto">
          <a:xfrm>
            <a:off x="593725" y="4916488"/>
            <a:ext cx="6927850" cy="457200"/>
          </a:xfrm>
          <a:prstGeom prst="rect">
            <a:avLst/>
          </a:prstGeom>
          <a:noFill/>
          <a:ln w="9525">
            <a:noFill/>
            <a:miter lim="800000"/>
            <a:headEnd/>
            <a:tailEnd/>
          </a:ln>
          <a:effectLst/>
        </p:spPr>
        <p:txBody>
          <a:bodyPr wrap="none">
            <a:spAutoFit/>
          </a:bodyPr>
          <a:lstStyle/>
          <a:p>
            <a:r>
              <a:rPr lang="fr-CA">
                <a:solidFill>
                  <a:srgbClr val="FF3300"/>
                </a:solidFill>
                <a:latin typeface="Arial" pitchFamily="34" charset="0"/>
                <a:cs typeface="Arial" pitchFamily="34" charset="0"/>
              </a:rPr>
              <a:t>zeros(n)</a:t>
            </a:r>
            <a:r>
              <a:rPr lang="fr-CA">
                <a:latin typeface="Arial" pitchFamily="34" charset="0"/>
                <a:cs typeface="Arial" pitchFamily="34" charset="0"/>
              </a:rPr>
              <a:t>		</a:t>
            </a:r>
            <a:r>
              <a:rPr lang="fr-CA" sz="1800">
                <a:latin typeface="Arial" pitchFamily="34" charset="0"/>
                <a:cs typeface="Arial" pitchFamily="34" charset="0"/>
              </a:rPr>
              <a:t>Créer une matrice  </a:t>
            </a:r>
            <a:r>
              <a:rPr lang="fr-CA" sz="1800" i="1">
                <a:solidFill>
                  <a:srgbClr val="FF3300"/>
                </a:solidFill>
                <a:latin typeface="Arial" pitchFamily="34" charset="0"/>
                <a:cs typeface="Arial" pitchFamily="34" charset="0"/>
              </a:rPr>
              <a:t>n x n</a:t>
            </a:r>
            <a:r>
              <a:rPr lang="fr-CA" sz="1800">
                <a:latin typeface="Arial" pitchFamily="34" charset="0"/>
                <a:cs typeface="Arial" pitchFamily="34" charset="0"/>
              </a:rPr>
              <a:t> remplie de</a:t>
            </a:r>
            <a:r>
              <a:rPr lang="fr-CA" sz="1800">
                <a:solidFill>
                  <a:srgbClr val="FF3300"/>
                </a:solidFill>
                <a:latin typeface="Arial" pitchFamily="34" charset="0"/>
                <a:cs typeface="Arial" pitchFamily="34" charset="0"/>
              </a:rPr>
              <a:t> 0</a:t>
            </a:r>
            <a:endParaRPr lang="fr-CA">
              <a:solidFill>
                <a:srgbClr val="FF3300"/>
              </a:solidFill>
              <a:latin typeface="Arial" pitchFamily="34" charset="0"/>
              <a:cs typeface="Arial" pitchFamily="34" charset="0"/>
            </a:endParaRPr>
          </a:p>
        </p:txBody>
      </p:sp>
      <p:sp>
        <p:nvSpPr>
          <p:cNvPr id="28682" name="Text Box 10"/>
          <p:cNvSpPr txBox="1">
            <a:spLocks noChangeArrowheads="1"/>
          </p:cNvSpPr>
          <p:nvPr/>
        </p:nvSpPr>
        <p:spPr bwMode="auto">
          <a:xfrm>
            <a:off x="593725" y="5373688"/>
            <a:ext cx="7007046" cy="830997"/>
          </a:xfrm>
          <a:prstGeom prst="rect">
            <a:avLst/>
          </a:prstGeom>
          <a:noFill/>
          <a:ln w="9525">
            <a:noFill/>
            <a:miter lim="800000"/>
            <a:headEnd/>
            <a:tailEnd/>
          </a:ln>
          <a:effectLst/>
        </p:spPr>
        <p:txBody>
          <a:bodyPr wrap="none">
            <a:spAutoFit/>
          </a:bodyPr>
          <a:lstStyle/>
          <a:p>
            <a:r>
              <a:rPr lang="fr-CA">
                <a:solidFill>
                  <a:srgbClr val="FF3300"/>
                </a:solidFill>
                <a:latin typeface="Arial" pitchFamily="34" charset="0"/>
                <a:cs typeface="Arial" pitchFamily="34" charset="0"/>
              </a:rPr>
              <a:t>zeros(m,n)</a:t>
            </a:r>
            <a:r>
              <a:rPr lang="fr-CA">
                <a:latin typeface="Arial" pitchFamily="34" charset="0"/>
                <a:cs typeface="Arial" pitchFamily="34" charset="0"/>
              </a:rPr>
              <a:t>		</a:t>
            </a:r>
            <a:r>
              <a:rPr lang="fr-CA" sz="1800">
                <a:latin typeface="Arial" pitchFamily="34" charset="0"/>
                <a:cs typeface="Arial" pitchFamily="34" charset="0"/>
              </a:rPr>
              <a:t>Même signification qu’avec </a:t>
            </a:r>
            <a:r>
              <a:rPr lang="fr-CA" sz="1800">
                <a:solidFill>
                  <a:srgbClr val="FF3300"/>
                </a:solidFill>
                <a:latin typeface="Arial" pitchFamily="34" charset="0"/>
                <a:cs typeface="Arial" pitchFamily="34" charset="0"/>
              </a:rPr>
              <a:t>ones(m,n</a:t>
            </a:r>
            <a:r>
              <a:rPr lang="fr-CA" sz="1800">
                <a:latin typeface="Arial" pitchFamily="34" charset="0"/>
                <a:cs typeface="Arial" pitchFamily="34" charset="0"/>
              </a:rPr>
              <a:t>) </a:t>
            </a:r>
            <a:endParaRPr lang="fr-CA">
              <a:latin typeface="Arial" pitchFamily="34" charset="0"/>
              <a:cs typeface="Arial" pitchFamily="34" charset="0"/>
            </a:endParaRPr>
          </a:p>
          <a:p>
            <a:r>
              <a:rPr lang="fr-CA">
                <a:solidFill>
                  <a:srgbClr val="FF3300"/>
                </a:solidFill>
                <a:latin typeface="Arial" pitchFamily="34" charset="0"/>
                <a:cs typeface="Arial" pitchFamily="34" charset="0"/>
              </a:rPr>
              <a:t>zeros(size(A))</a:t>
            </a:r>
            <a:r>
              <a:rPr lang="fr-CA">
                <a:latin typeface="Arial" pitchFamily="34" charset="0"/>
                <a:cs typeface="Arial" pitchFamily="34" charset="0"/>
              </a:rPr>
              <a:t>	</a:t>
            </a:r>
            <a:r>
              <a:rPr lang="fr-CA" sz="1800">
                <a:latin typeface="Arial" pitchFamily="34" charset="0"/>
                <a:cs typeface="Arial" pitchFamily="34" charset="0"/>
              </a:rPr>
              <a:t>et  </a:t>
            </a:r>
            <a:r>
              <a:rPr lang="fr-CA" sz="1800">
                <a:solidFill>
                  <a:srgbClr val="FF3300"/>
                </a:solidFill>
                <a:latin typeface="Arial" pitchFamily="34" charset="0"/>
                <a:cs typeface="Arial" pitchFamily="34" charset="0"/>
              </a:rPr>
              <a:t>ones(size(A))</a:t>
            </a:r>
            <a:r>
              <a:rPr lang="fr-CA" sz="1800">
                <a:latin typeface="Arial" pitchFamily="34" charset="0"/>
                <a:cs typeface="Arial" pitchFamily="34" charset="0"/>
              </a:rPr>
              <a:t>  sauf </a:t>
            </a:r>
            <a:r>
              <a:rPr lang="fr-CA" sz="1800">
                <a:solidFill>
                  <a:srgbClr val="FF3300"/>
                </a:solidFill>
                <a:latin typeface="Arial" pitchFamily="34" charset="0"/>
                <a:cs typeface="Arial" pitchFamily="34" charset="0"/>
              </a:rPr>
              <a:t>1</a:t>
            </a:r>
            <a:r>
              <a:rPr lang="fr-CA" sz="1800">
                <a:latin typeface="Arial" pitchFamily="34" charset="0"/>
                <a:cs typeface="Arial" pitchFamily="34" charset="0"/>
              </a:rPr>
              <a:t> remplacé par </a:t>
            </a:r>
            <a:r>
              <a:rPr lang="fr-CA" sz="1800">
                <a:solidFill>
                  <a:srgbClr val="FF3300"/>
                </a:solidFill>
                <a:latin typeface="Arial" pitchFamily="34" charset="0"/>
                <a:cs typeface="Arial" pitchFamily="34" charset="0"/>
              </a:rPr>
              <a:t>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 calcmode="lin" valueType="num">
                                      <p:cBhvr additive="base">
                                        <p:cTn id="7" dur="500" fill="hold"/>
                                        <p:tgtEl>
                                          <p:spTgt spid="28676"/>
                                        </p:tgtEl>
                                        <p:attrNameLst>
                                          <p:attrName>ppt_x</p:attrName>
                                        </p:attrNameLst>
                                      </p:cBhvr>
                                      <p:tavLst>
                                        <p:tav tm="0">
                                          <p:val>
                                            <p:strVal val="#ppt_x"/>
                                          </p:val>
                                        </p:tav>
                                        <p:tav tm="100000">
                                          <p:val>
                                            <p:strVal val="#ppt_x"/>
                                          </p:val>
                                        </p:tav>
                                      </p:tavLst>
                                    </p:anim>
                                    <p:anim calcmode="lin" valueType="num">
                                      <p:cBhvr additive="base">
                                        <p:cTn id="8" dur="500" fill="hold"/>
                                        <p:tgtEl>
                                          <p:spTgt spid="2867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77"/>
                                        </p:tgtEl>
                                        <p:attrNameLst>
                                          <p:attrName>style.visibility</p:attrName>
                                        </p:attrNameLst>
                                      </p:cBhvr>
                                      <p:to>
                                        <p:strVal val="visible"/>
                                      </p:to>
                                    </p:set>
                                    <p:anim calcmode="lin" valueType="num">
                                      <p:cBhvr additive="base">
                                        <p:cTn id="13" dur="500" fill="hold"/>
                                        <p:tgtEl>
                                          <p:spTgt spid="28677"/>
                                        </p:tgtEl>
                                        <p:attrNameLst>
                                          <p:attrName>ppt_x</p:attrName>
                                        </p:attrNameLst>
                                      </p:cBhvr>
                                      <p:tavLst>
                                        <p:tav tm="0">
                                          <p:val>
                                            <p:strVal val="#ppt_x"/>
                                          </p:val>
                                        </p:tav>
                                        <p:tav tm="100000">
                                          <p:val>
                                            <p:strVal val="#ppt_x"/>
                                          </p:val>
                                        </p:tav>
                                      </p:tavLst>
                                    </p:anim>
                                    <p:anim calcmode="lin" valueType="num">
                                      <p:cBhvr additive="base">
                                        <p:cTn id="14" dur="500" fill="hold"/>
                                        <p:tgtEl>
                                          <p:spTgt spid="2867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678"/>
                                        </p:tgtEl>
                                        <p:attrNameLst>
                                          <p:attrName>style.visibility</p:attrName>
                                        </p:attrNameLst>
                                      </p:cBhvr>
                                      <p:to>
                                        <p:strVal val="visible"/>
                                      </p:to>
                                    </p:set>
                                    <p:anim calcmode="lin" valueType="num">
                                      <p:cBhvr additive="base">
                                        <p:cTn id="19" dur="500" fill="hold"/>
                                        <p:tgtEl>
                                          <p:spTgt spid="28678"/>
                                        </p:tgtEl>
                                        <p:attrNameLst>
                                          <p:attrName>ppt_x</p:attrName>
                                        </p:attrNameLst>
                                      </p:cBhvr>
                                      <p:tavLst>
                                        <p:tav tm="0">
                                          <p:val>
                                            <p:strVal val="#ppt_x"/>
                                          </p:val>
                                        </p:tav>
                                        <p:tav tm="100000">
                                          <p:val>
                                            <p:strVal val="#ppt_x"/>
                                          </p:val>
                                        </p:tav>
                                      </p:tavLst>
                                    </p:anim>
                                    <p:anim calcmode="lin" valueType="num">
                                      <p:cBhvr additive="base">
                                        <p:cTn id="20" dur="500" fill="hold"/>
                                        <p:tgtEl>
                                          <p:spTgt spid="2867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679"/>
                                        </p:tgtEl>
                                        <p:attrNameLst>
                                          <p:attrName>style.visibility</p:attrName>
                                        </p:attrNameLst>
                                      </p:cBhvr>
                                      <p:to>
                                        <p:strVal val="visible"/>
                                      </p:to>
                                    </p:set>
                                    <p:anim calcmode="lin" valueType="num">
                                      <p:cBhvr additive="base">
                                        <p:cTn id="25" dur="500" fill="hold"/>
                                        <p:tgtEl>
                                          <p:spTgt spid="28679"/>
                                        </p:tgtEl>
                                        <p:attrNameLst>
                                          <p:attrName>ppt_x</p:attrName>
                                        </p:attrNameLst>
                                      </p:cBhvr>
                                      <p:tavLst>
                                        <p:tav tm="0">
                                          <p:val>
                                            <p:strVal val="#ppt_x"/>
                                          </p:val>
                                        </p:tav>
                                        <p:tav tm="100000">
                                          <p:val>
                                            <p:strVal val="#ppt_x"/>
                                          </p:val>
                                        </p:tav>
                                      </p:tavLst>
                                    </p:anim>
                                    <p:anim calcmode="lin" valueType="num">
                                      <p:cBhvr additive="base">
                                        <p:cTn id="26" dur="500" fill="hold"/>
                                        <p:tgtEl>
                                          <p:spTgt spid="2867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8680"/>
                                        </p:tgtEl>
                                        <p:attrNameLst>
                                          <p:attrName>style.visibility</p:attrName>
                                        </p:attrNameLst>
                                      </p:cBhvr>
                                      <p:to>
                                        <p:strVal val="visible"/>
                                      </p:to>
                                    </p:set>
                                    <p:anim calcmode="lin" valueType="num">
                                      <p:cBhvr additive="base">
                                        <p:cTn id="31" dur="500" fill="hold"/>
                                        <p:tgtEl>
                                          <p:spTgt spid="28680"/>
                                        </p:tgtEl>
                                        <p:attrNameLst>
                                          <p:attrName>ppt_x</p:attrName>
                                        </p:attrNameLst>
                                      </p:cBhvr>
                                      <p:tavLst>
                                        <p:tav tm="0">
                                          <p:val>
                                            <p:strVal val="#ppt_x"/>
                                          </p:val>
                                        </p:tav>
                                        <p:tav tm="100000">
                                          <p:val>
                                            <p:strVal val="#ppt_x"/>
                                          </p:val>
                                        </p:tav>
                                      </p:tavLst>
                                    </p:anim>
                                    <p:anim calcmode="lin" valueType="num">
                                      <p:cBhvr additive="base">
                                        <p:cTn id="32" dur="500" fill="hold"/>
                                        <p:tgtEl>
                                          <p:spTgt spid="2868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8681"/>
                                        </p:tgtEl>
                                        <p:attrNameLst>
                                          <p:attrName>style.visibility</p:attrName>
                                        </p:attrNameLst>
                                      </p:cBhvr>
                                      <p:to>
                                        <p:strVal val="visible"/>
                                      </p:to>
                                    </p:set>
                                    <p:anim calcmode="lin" valueType="num">
                                      <p:cBhvr additive="base">
                                        <p:cTn id="37" dur="500" fill="hold"/>
                                        <p:tgtEl>
                                          <p:spTgt spid="28681"/>
                                        </p:tgtEl>
                                        <p:attrNameLst>
                                          <p:attrName>ppt_x</p:attrName>
                                        </p:attrNameLst>
                                      </p:cBhvr>
                                      <p:tavLst>
                                        <p:tav tm="0">
                                          <p:val>
                                            <p:strVal val="#ppt_x"/>
                                          </p:val>
                                        </p:tav>
                                        <p:tav tm="100000">
                                          <p:val>
                                            <p:strVal val="#ppt_x"/>
                                          </p:val>
                                        </p:tav>
                                      </p:tavLst>
                                    </p:anim>
                                    <p:anim calcmode="lin" valueType="num">
                                      <p:cBhvr additive="base">
                                        <p:cTn id="38" dur="500" fill="hold"/>
                                        <p:tgtEl>
                                          <p:spTgt spid="2868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8682"/>
                                        </p:tgtEl>
                                        <p:attrNameLst>
                                          <p:attrName>style.visibility</p:attrName>
                                        </p:attrNameLst>
                                      </p:cBhvr>
                                      <p:to>
                                        <p:strVal val="visible"/>
                                      </p:to>
                                    </p:set>
                                    <p:anim calcmode="lin" valueType="num">
                                      <p:cBhvr additive="base">
                                        <p:cTn id="43" dur="500" fill="hold"/>
                                        <p:tgtEl>
                                          <p:spTgt spid="28682"/>
                                        </p:tgtEl>
                                        <p:attrNameLst>
                                          <p:attrName>ppt_x</p:attrName>
                                        </p:attrNameLst>
                                      </p:cBhvr>
                                      <p:tavLst>
                                        <p:tav tm="0">
                                          <p:val>
                                            <p:strVal val="#ppt_x"/>
                                          </p:val>
                                        </p:tav>
                                        <p:tav tm="100000">
                                          <p:val>
                                            <p:strVal val="#ppt_x"/>
                                          </p:val>
                                        </p:tav>
                                      </p:tavLst>
                                    </p:anim>
                                    <p:anim calcmode="lin" valueType="num">
                                      <p:cBhvr additive="base">
                                        <p:cTn id="44" dur="500" fill="hold"/>
                                        <p:tgtEl>
                                          <p:spTgt spid="286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autoUpdateAnimBg="0"/>
      <p:bldP spid="28677" grpId="0" autoUpdateAnimBg="0"/>
      <p:bldP spid="28678" grpId="0" autoUpdateAnimBg="0"/>
      <p:bldP spid="28679" grpId="0" autoUpdateAnimBg="0"/>
      <p:bldP spid="28680" grpId="0" autoUpdateAnimBg="0"/>
      <p:bldP spid="28681" grpId="0" autoUpdateAnimBg="0"/>
      <p:bldP spid="28682"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p:cNvPicPr>
            <a:picLocks noChangeAspect="1" noChangeArrowheads="1"/>
          </p:cNvPicPr>
          <p:nvPr/>
        </p:nvPicPr>
        <p:blipFill>
          <a:blip r:embed="rId2" cstate="print"/>
          <a:srcRect/>
          <a:stretch>
            <a:fillRect/>
          </a:stretch>
        </p:blipFill>
        <p:spPr bwMode="auto">
          <a:xfrm>
            <a:off x="542617" y="692696"/>
            <a:ext cx="8349863" cy="506992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p:cNvPicPr>
            <a:picLocks noChangeAspect="1" noChangeArrowheads="1"/>
          </p:cNvPicPr>
          <p:nvPr/>
        </p:nvPicPr>
        <p:blipFill>
          <a:blip r:embed="rId2" cstate="print"/>
          <a:srcRect/>
          <a:stretch>
            <a:fillRect/>
          </a:stretch>
        </p:blipFill>
        <p:spPr bwMode="auto">
          <a:xfrm>
            <a:off x="1162050" y="923925"/>
            <a:ext cx="6819900" cy="5010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8" name="Picture 2"/>
          <p:cNvPicPr>
            <a:picLocks noChangeAspect="1" noChangeArrowheads="1"/>
          </p:cNvPicPr>
          <p:nvPr/>
        </p:nvPicPr>
        <p:blipFill>
          <a:blip r:embed="rId2" cstate="print"/>
          <a:srcRect/>
          <a:stretch>
            <a:fillRect/>
          </a:stretch>
        </p:blipFill>
        <p:spPr bwMode="auto">
          <a:xfrm>
            <a:off x="539552" y="836712"/>
            <a:ext cx="3048000" cy="447675"/>
          </a:xfrm>
          <a:prstGeom prst="rect">
            <a:avLst/>
          </a:prstGeom>
          <a:noFill/>
          <a:ln w="9525">
            <a:noFill/>
            <a:miter lim="800000"/>
            <a:headEnd/>
            <a:tailEnd/>
          </a:ln>
        </p:spPr>
      </p:pic>
      <p:sp>
        <p:nvSpPr>
          <p:cNvPr id="3" name="Rectangle 2"/>
          <p:cNvSpPr/>
          <p:nvPr/>
        </p:nvSpPr>
        <p:spPr>
          <a:xfrm>
            <a:off x="395536" y="332656"/>
            <a:ext cx="1384161" cy="461665"/>
          </a:xfrm>
          <a:prstGeom prst="rect">
            <a:avLst/>
          </a:prstGeom>
        </p:spPr>
        <p:txBody>
          <a:bodyPr wrap="none">
            <a:spAutoFit/>
          </a:bodyPr>
          <a:lstStyle/>
          <a:p>
            <a:r>
              <a:rPr lang="fr-FR" sz="2400" b="1" dirty="0" smtClean="0"/>
              <a:t>Exemple:</a:t>
            </a:r>
            <a:endParaRPr lang="fr-FR" sz="2400" b="1" dirty="0"/>
          </a:p>
        </p:txBody>
      </p:sp>
      <p:pic>
        <p:nvPicPr>
          <p:cNvPr id="126979" name="Picture 3"/>
          <p:cNvPicPr>
            <a:picLocks noChangeAspect="1" noChangeArrowheads="1"/>
          </p:cNvPicPr>
          <p:nvPr/>
        </p:nvPicPr>
        <p:blipFill>
          <a:blip r:embed="rId3" cstate="print"/>
          <a:srcRect/>
          <a:stretch>
            <a:fillRect/>
          </a:stretch>
        </p:blipFill>
        <p:spPr bwMode="auto">
          <a:xfrm>
            <a:off x="755576" y="1412776"/>
            <a:ext cx="1295400" cy="266700"/>
          </a:xfrm>
          <a:prstGeom prst="rect">
            <a:avLst/>
          </a:prstGeom>
          <a:noFill/>
          <a:ln w="9525">
            <a:noFill/>
            <a:miter lim="800000"/>
            <a:headEnd/>
            <a:tailEnd/>
          </a:ln>
        </p:spPr>
      </p:pic>
      <p:pic>
        <p:nvPicPr>
          <p:cNvPr id="126980" name="Picture 4"/>
          <p:cNvPicPr>
            <a:picLocks noChangeAspect="1" noChangeArrowheads="1"/>
          </p:cNvPicPr>
          <p:nvPr/>
        </p:nvPicPr>
        <p:blipFill>
          <a:blip r:embed="rId4" cstate="print"/>
          <a:srcRect/>
          <a:stretch>
            <a:fillRect/>
          </a:stretch>
        </p:blipFill>
        <p:spPr bwMode="auto">
          <a:xfrm>
            <a:off x="755576" y="2132856"/>
            <a:ext cx="1076325" cy="276225"/>
          </a:xfrm>
          <a:prstGeom prst="rect">
            <a:avLst/>
          </a:prstGeom>
          <a:noFill/>
          <a:ln w="9525">
            <a:noFill/>
            <a:miter lim="800000"/>
            <a:headEnd/>
            <a:tailEnd/>
          </a:ln>
        </p:spPr>
      </p:pic>
      <p:pic>
        <p:nvPicPr>
          <p:cNvPr id="126981" name="Picture 5"/>
          <p:cNvPicPr>
            <a:picLocks noChangeAspect="1" noChangeArrowheads="1"/>
          </p:cNvPicPr>
          <p:nvPr/>
        </p:nvPicPr>
        <p:blipFill>
          <a:blip r:embed="rId5" cstate="print"/>
          <a:srcRect/>
          <a:stretch>
            <a:fillRect/>
          </a:stretch>
        </p:blipFill>
        <p:spPr bwMode="auto">
          <a:xfrm>
            <a:off x="5638750" y="692696"/>
            <a:ext cx="2533650" cy="838200"/>
          </a:xfrm>
          <a:prstGeom prst="rect">
            <a:avLst/>
          </a:prstGeom>
          <a:noFill/>
          <a:ln w="9525">
            <a:noFill/>
            <a:miter lim="800000"/>
            <a:headEnd/>
            <a:tailEnd/>
          </a:ln>
        </p:spPr>
      </p:pic>
      <p:pic>
        <p:nvPicPr>
          <p:cNvPr id="126982" name="Picture 6"/>
          <p:cNvPicPr>
            <a:picLocks noChangeAspect="1" noChangeArrowheads="1"/>
          </p:cNvPicPr>
          <p:nvPr/>
        </p:nvPicPr>
        <p:blipFill>
          <a:blip r:embed="rId6" cstate="print"/>
          <a:srcRect/>
          <a:stretch>
            <a:fillRect/>
          </a:stretch>
        </p:blipFill>
        <p:spPr bwMode="auto">
          <a:xfrm>
            <a:off x="5475709" y="1844824"/>
            <a:ext cx="752475" cy="485775"/>
          </a:xfrm>
          <a:prstGeom prst="rect">
            <a:avLst/>
          </a:prstGeom>
          <a:noFill/>
          <a:ln w="9525">
            <a:noFill/>
            <a:miter lim="800000"/>
            <a:headEnd/>
            <a:tailEnd/>
          </a:ln>
        </p:spPr>
      </p:pic>
      <p:pic>
        <p:nvPicPr>
          <p:cNvPr id="126983" name="Picture 7"/>
          <p:cNvPicPr>
            <a:picLocks noChangeAspect="1" noChangeArrowheads="1"/>
          </p:cNvPicPr>
          <p:nvPr/>
        </p:nvPicPr>
        <p:blipFill>
          <a:blip r:embed="rId7" cstate="print"/>
          <a:srcRect/>
          <a:stretch>
            <a:fillRect/>
          </a:stretch>
        </p:blipFill>
        <p:spPr bwMode="auto">
          <a:xfrm>
            <a:off x="5456634" y="2492896"/>
            <a:ext cx="2571750" cy="600075"/>
          </a:xfrm>
          <a:prstGeom prst="rect">
            <a:avLst/>
          </a:prstGeom>
          <a:noFill/>
          <a:ln w="9525">
            <a:noFill/>
            <a:miter lim="800000"/>
            <a:headEnd/>
            <a:tailEnd/>
          </a:ln>
        </p:spPr>
      </p:pic>
      <p:sp>
        <p:nvSpPr>
          <p:cNvPr id="9" name="Rectangle 8"/>
          <p:cNvSpPr/>
          <p:nvPr/>
        </p:nvSpPr>
        <p:spPr>
          <a:xfrm>
            <a:off x="683568" y="2699042"/>
            <a:ext cx="4572000" cy="3970318"/>
          </a:xfrm>
          <a:prstGeom prst="rect">
            <a:avLst/>
          </a:prstGeom>
        </p:spPr>
        <p:txBody>
          <a:bodyPr>
            <a:spAutoFit/>
          </a:bodyPr>
          <a:lstStyle/>
          <a:p>
            <a:r>
              <a:rPr lang="pt-BR" dirty="0" smtClean="0"/>
              <a:t>&gt;&gt; A([1 3 5 7])</a:t>
            </a:r>
          </a:p>
          <a:p>
            <a:r>
              <a:rPr lang="fr-FR" dirty="0" smtClean="0"/>
              <a:t>ans =</a:t>
            </a:r>
          </a:p>
          <a:p>
            <a:r>
              <a:rPr lang="fr-FR" dirty="0" smtClean="0"/>
              <a:t>1 2 3 4</a:t>
            </a:r>
          </a:p>
          <a:p>
            <a:r>
              <a:rPr lang="fr-FR" dirty="0" smtClean="0"/>
              <a:t>&gt;&gt; A(:,4)</a:t>
            </a:r>
          </a:p>
          <a:p>
            <a:r>
              <a:rPr lang="fr-FR" dirty="0" smtClean="0"/>
              <a:t>ans =</a:t>
            </a:r>
          </a:p>
          <a:p>
            <a:r>
              <a:rPr lang="fr-FR" dirty="0" smtClean="0"/>
              <a:t>4</a:t>
            </a:r>
          </a:p>
          <a:p>
            <a:r>
              <a:rPr lang="fr-FR" dirty="0" smtClean="0"/>
              <a:t>15</a:t>
            </a:r>
          </a:p>
          <a:p>
            <a:r>
              <a:rPr lang="fr-FR" dirty="0" smtClean="0"/>
              <a:t>&gt;&gt; A([1 1 1])</a:t>
            </a:r>
          </a:p>
          <a:p>
            <a:r>
              <a:rPr lang="fr-FR" dirty="0" smtClean="0"/>
              <a:t>ans =</a:t>
            </a:r>
          </a:p>
          <a:p>
            <a:r>
              <a:rPr lang="fr-FR" dirty="0" smtClean="0"/>
              <a:t>1 1 1</a:t>
            </a:r>
          </a:p>
          <a:p>
            <a:r>
              <a:rPr lang="pt-BR" dirty="0" smtClean="0"/>
              <a:t>&gt;&gt; A([1 3; 4 8])</a:t>
            </a:r>
          </a:p>
          <a:p>
            <a:r>
              <a:rPr lang="fr-FR" dirty="0" smtClean="0"/>
              <a:t>ans =</a:t>
            </a:r>
          </a:p>
          <a:p>
            <a:r>
              <a:rPr lang="fr-FR" dirty="0" smtClean="0"/>
              <a:t>1 2</a:t>
            </a:r>
          </a:p>
          <a:p>
            <a:r>
              <a:rPr lang="fr-FR" dirty="0" smtClean="0"/>
              <a:t>13 15</a:t>
            </a:r>
            <a:endParaRPr lang="fr-FR"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612845"/>
            <a:ext cx="8208912" cy="5909310"/>
          </a:xfrm>
          <a:prstGeom prst="rect">
            <a:avLst/>
          </a:prstGeom>
        </p:spPr>
        <p:txBody>
          <a:bodyPr wrap="square">
            <a:spAutoFit/>
          </a:bodyPr>
          <a:lstStyle/>
          <a:p>
            <a:r>
              <a:rPr lang="fr-FR" dirty="0" smtClean="0"/>
              <a:t>Pour modifier les éléments d’une matrice, on utilise les mêmes commandes que ci-dessus.</a:t>
            </a:r>
          </a:p>
          <a:p>
            <a:r>
              <a:rPr lang="fr-FR" dirty="0" smtClean="0"/>
              <a:t>On ajoute à la commande le signe [=] et la nouvelle valeur.</a:t>
            </a:r>
          </a:p>
          <a:p>
            <a:r>
              <a:rPr lang="fr-FR" dirty="0" smtClean="0"/>
              <a:t>&gt;&gt; A</a:t>
            </a:r>
          </a:p>
          <a:p>
            <a:r>
              <a:rPr lang="fr-FR" dirty="0" smtClean="0"/>
              <a:t>A =</a:t>
            </a:r>
          </a:p>
          <a:p>
            <a:r>
              <a:rPr lang="fr-FR" dirty="0" smtClean="0"/>
              <a:t>1 2 3 4</a:t>
            </a:r>
          </a:p>
          <a:p>
            <a:r>
              <a:rPr lang="fr-FR" dirty="0" smtClean="0"/>
              <a:t>12 13 14 15</a:t>
            </a:r>
          </a:p>
          <a:p>
            <a:endParaRPr lang="fr-FR" dirty="0" smtClean="0"/>
          </a:p>
          <a:p>
            <a:r>
              <a:rPr lang="fr-FR" dirty="0" smtClean="0"/>
              <a:t>&gt;&gt; A(2,2)=999</a:t>
            </a:r>
          </a:p>
          <a:p>
            <a:r>
              <a:rPr lang="fr-FR" dirty="0" smtClean="0"/>
              <a:t>A =</a:t>
            </a:r>
          </a:p>
          <a:p>
            <a:r>
              <a:rPr lang="fr-FR" dirty="0" smtClean="0"/>
              <a:t>1 2 3 4</a:t>
            </a:r>
          </a:p>
          <a:p>
            <a:r>
              <a:rPr lang="fr-FR" dirty="0" smtClean="0"/>
              <a:t>12 999 14 15</a:t>
            </a:r>
          </a:p>
          <a:p>
            <a:endParaRPr lang="fr-FR" dirty="0" smtClean="0"/>
          </a:p>
          <a:p>
            <a:r>
              <a:rPr lang="pt-BR" dirty="0" smtClean="0"/>
              <a:t>&gt;&gt; A([2 3 5]) = [-1 -1 -1]</a:t>
            </a:r>
          </a:p>
          <a:p>
            <a:r>
              <a:rPr lang="fr-FR" dirty="0" smtClean="0"/>
              <a:t>A =</a:t>
            </a:r>
          </a:p>
          <a:p>
            <a:r>
              <a:rPr lang="fr-FR" dirty="0" smtClean="0"/>
              <a:t>1 -1 -1 4</a:t>
            </a:r>
          </a:p>
          <a:p>
            <a:r>
              <a:rPr lang="fr-FR" dirty="0" smtClean="0"/>
              <a:t>-1 999 14 15</a:t>
            </a:r>
          </a:p>
          <a:p>
            <a:endParaRPr lang="fr-FR" dirty="0" smtClean="0"/>
          </a:p>
          <a:p>
            <a:r>
              <a:rPr lang="fr-FR" dirty="0" smtClean="0"/>
              <a:t>&gt;&gt; A(:,4)=[101 103]’</a:t>
            </a:r>
          </a:p>
          <a:p>
            <a:r>
              <a:rPr lang="fr-FR" dirty="0" smtClean="0"/>
              <a:t>A =</a:t>
            </a:r>
          </a:p>
          <a:p>
            <a:r>
              <a:rPr lang="fr-FR" dirty="0" smtClean="0"/>
              <a:t>1 -1 -1 101</a:t>
            </a:r>
          </a:p>
          <a:p>
            <a:r>
              <a:rPr lang="fr-FR" dirty="0" smtClean="0"/>
              <a:t>-1 999 14 103</a:t>
            </a:r>
            <a:endParaRPr lang="fr-FR"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90" name="Picture 2"/>
          <p:cNvPicPr>
            <a:picLocks noChangeAspect="1" noChangeArrowheads="1"/>
          </p:cNvPicPr>
          <p:nvPr/>
        </p:nvPicPr>
        <p:blipFill>
          <a:blip r:embed="rId2" cstate="print"/>
          <a:srcRect/>
          <a:stretch>
            <a:fillRect/>
          </a:stretch>
        </p:blipFill>
        <p:spPr bwMode="auto">
          <a:xfrm>
            <a:off x="1187624" y="525711"/>
            <a:ext cx="6768752" cy="580658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4" name="Picture 2"/>
          <p:cNvPicPr>
            <a:picLocks noChangeAspect="1" noChangeArrowheads="1"/>
          </p:cNvPicPr>
          <p:nvPr/>
        </p:nvPicPr>
        <p:blipFill>
          <a:blip r:embed="rId2" cstate="print"/>
          <a:srcRect/>
          <a:stretch>
            <a:fillRect/>
          </a:stretch>
        </p:blipFill>
        <p:spPr bwMode="auto">
          <a:xfrm>
            <a:off x="323528" y="260648"/>
            <a:ext cx="6148737" cy="4824536"/>
          </a:xfrm>
          <a:prstGeom prst="rect">
            <a:avLst/>
          </a:prstGeom>
          <a:noFill/>
          <a:ln w="9525">
            <a:noFill/>
            <a:miter lim="800000"/>
            <a:headEnd/>
            <a:tailEnd/>
          </a:ln>
        </p:spPr>
      </p:pic>
      <p:pic>
        <p:nvPicPr>
          <p:cNvPr id="166916" name="Picture 4"/>
          <p:cNvPicPr>
            <a:picLocks noChangeAspect="1" noChangeArrowheads="1"/>
          </p:cNvPicPr>
          <p:nvPr/>
        </p:nvPicPr>
        <p:blipFill>
          <a:blip r:embed="rId3" cstate="print"/>
          <a:srcRect/>
          <a:stretch>
            <a:fillRect/>
          </a:stretch>
        </p:blipFill>
        <p:spPr bwMode="auto">
          <a:xfrm>
            <a:off x="395535" y="5301208"/>
            <a:ext cx="5812075" cy="12241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p:cNvPicPr>
            <a:picLocks noChangeAspect="1" noChangeArrowheads="1"/>
          </p:cNvPicPr>
          <p:nvPr/>
        </p:nvPicPr>
        <p:blipFill>
          <a:blip r:embed="rId2" cstate="print"/>
          <a:srcRect/>
          <a:stretch>
            <a:fillRect/>
          </a:stretch>
        </p:blipFill>
        <p:spPr bwMode="auto">
          <a:xfrm>
            <a:off x="433008" y="332656"/>
            <a:ext cx="8479887" cy="604867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p:cNvPicPr>
            <a:picLocks noChangeAspect="1" noChangeArrowheads="1"/>
          </p:cNvPicPr>
          <p:nvPr/>
        </p:nvPicPr>
        <p:blipFill>
          <a:blip r:embed="rId2" cstate="print"/>
          <a:srcRect/>
          <a:stretch>
            <a:fillRect/>
          </a:stretch>
        </p:blipFill>
        <p:spPr bwMode="auto">
          <a:xfrm>
            <a:off x="179512" y="980728"/>
            <a:ext cx="8727207" cy="411038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78" name="Picture 2"/>
          <p:cNvPicPr>
            <a:picLocks noChangeAspect="1" noChangeArrowheads="1"/>
          </p:cNvPicPr>
          <p:nvPr/>
        </p:nvPicPr>
        <p:blipFill>
          <a:blip r:embed="rId2" cstate="print"/>
          <a:srcRect/>
          <a:stretch>
            <a:fillRect/>
          </a:stretch>
        </p:blipFill>
        <p:spPr bwMode="auto">
          <a:xfrm>
            <a:off x="611560" y="908720"/>
            <a:ext cx="7806093" cy="454910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p:cNvPicPr>
            <a:picLocks noChangeAspect="1" noChangeArrowheads="1"/>
          </p:cNvPicPr>
          <p:nvPr/>
        </p:nvPicPr>
        <p:blipFill>
          <a:blip r:embed="rId2" cstate="print"/>
          <a:srcRect/>
          <a:stretch>
            <a:fillRect/>
          </a:stretch>
        </p:blipFill>
        <p:spPr bwMode="auto">
          <a:xfrm>
            <a:off x="607594" y="476672"/>
            <a:ext cx="7708822" cy="574082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2"/>
          <p:cNvPicPr>
            <a:picLocks noChangeAspect="1" noChangeArrowheads="1"/>
          </p:cNvPicPr>
          <p:nvPr/>
        </p:nvPicPr>
        <p:blipFill>
          <a:blip r:embed="rId2" cstate="print"/>
          <a:srcRect/>
          <a:stretch>
            <a:fillRect/>
          </a:stretch>
        </p:blipFill>
        <p:spPr bwMode="auto">
          <a:xfrm>
            <a:off x="179512" y="1700809"/>
            <a:ext cx="8611668" cy="3528392"/>
          </a:xfrm>
          <a:prstGeom prst="rect">
            <a:avLst/>
          </a:prstGeom>
          <a:noFill/>
          <a:ln w="9525">
            <a:noFill/>
            <a:miter lim="800000"/>
            <a:headEnd/>
            <a:tailEnd/>
          </a:ln>
        </p:spPr>
      </p:pic>
      <p:pic>
        <p:nvPicPr>
          <p:cNvPr id="129027" name="Picture 3"/>
          <p:cNvPicPr>
            <a:picLocks noChangeAspect="1" noChangeArrowheads="1"/>
          </p:cNvPicPr>
          <p:nvPr/>
        </p:nvPicPr>
        <p:blipFill>
          <a:blip r:embed="rId3" cstate="print"/>
          <a:srcRect/>
          <a:stretch>
            <a:fillRect/>
          </a:stretch>
        </p:blipFill>
        <p:spPr bwMode="auto">
          <a:xfrm>
            <a:off x="323528" y="326933"/>
            <a:ext cx="8820472" cy="627309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29027"/>
                                        </p:tgtEl>
                                        <p:attrNameLst>
                                          <p:attrName>style.visibility</p:attrName>
                                        </p:attrNameLst>
                                      </p:cBhvr>
                                      <p:to>
                                        <p:strVal val="visible"/>
                                      </p:to>
                                    </p:set>
                                    <p:anim calcmode="lin" valueType="num">
                                      <p:cBhvr additive="base">
                                        <p:cTn id="11" dur="500" fill="hold"/>
                                        <p:tgtEl>
                                          <p:spTgt spid="129027"/>
                                        </p:tgtEl>
                                        <p:attrNameLst>
                                          <p:attrName>ppt_x</p:attrName>
                                        </p:attrNameLst>
                                      </p:cBhvr>
                                      <p:tavLst>
                                        <p:tav tm="0">
                                          <p:val>
                                            <p:strVal val="#ppt_x"/>
                                          </p:val>
                                        </p:tav>
                                        <p:tav tm="100000">
                                          <p:val>
                                            <p:strVal val="#ppt_x"/>
                                          </p:val>
                                        </p:tav>
                                      </p:tavLst>
                                    </p:anim>
                                    <p:anim calcmode="lin" valueType="num">
                                      <p:cBhvr additive="base">
                                        <p:cTn id="12" dur="500" fill="hold"/>
                                        <p:tgtEl>
                                          <p:spTgt spid="1290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p:cNvPicPr>
            <a:picLocks noChangeAspect="1" noChangeArrowheads="1"/>
          </p:cNvPicPr>
          <p:nvPr/>
        </p:nvPicPr>
        <p:blipFill>
          <a:blip r:embed="rId2" cstate="print"/>
          <a:srcRect/>
          <a:stretch>
            <a:fillRect/>
          </a:stretch>
        </p:blipFill>
        <p:spPr bwMode="auto">
          <a:xfrm>
            <a:off x="266345" y="692696"/>
            <a:ext cx="8816744" cy="3312368"/>
          </a:xfrm>
          <a:prstGeom prst="rect">
            <a:avLst/>
          </a:prstGeom>
          <a:noFill/>
          <a:ln w="9525">
            <a:noFill/>
            <a:miter lim="800000"/>
            <a:headEnd/>
            <a:tailEnd/>
          </a:ln>
        </p:spPr>
      </p:pic>
      <p:pic>
        <p:nvPicPr>
          <p:cNvPr id="130051" name="Picture 3"/>
          <p:cNvPicPr>
            <a:picLocks noChangeAspect="1" noChangeArrowheads="1"/>
          </p:cNvPicPr>
          <p:nvPr/>
        </p:nvPicPr>
        <p:blipFill>
          <a:blip r:embed="rId3" cstate="print"/>
          <a:srcRect/>
          <a:stretch>
            <a:fillRect/>
          </a:stretch>
        </p:blipFill>
        <p:spPr bwMode="auto">
          <a:xfrm>
            <a:off x="1774835" y="2570783"/>
            <a:ext cx="5226040" cy="417058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0051"/>
                                        </p:tgtEl>
                                        <p:attrNameLst>
                                          <p:attrName>style.visibility</p:attrName>
                                        </p:attrNameLst>
                                      </p:cBhvr>
                                      <p:to>
                                        <p:strVal val="visible"/>
                                      </p:to>
                                    </p:set>
                                    <p:anim calcmode="lin" valueType="num">
                                      <p:cBhvr additive="base">
                                        <p:cTn id="7" dur="500" fill="hold"/>
                                        <p:tgtEl>
                                          <p:spTgt spid="130051"/>
                                        </p:tgtEl>
                                        <p:attrNameLst>
                                          <p:attrName>ppt_x</p:attrName>
                                        </p:attrNameLst>
                                      </p:cBhvr>
                                      <p:tavLst>
                                        <p:tav tm="0">
                                          <p:val>
                                            <p:strVal val="#ppt_x"/>
                                          </p:val>
                                        </p:tav>
                                        <p:tav tm="100000">
                                          <p:val>
                                            <p:strVal val="#ppt_x"/>
                                          </p:val>
                                        </p:tav>
                                      </p:tavLst>
                                    </p:anim>
                                    <p:anim calcmode="lin" valueType="num">
                                      <p:cBhvr additive="base">
                                        <p:cTn id="8" dur="500" fill="hold"/>
                                        <p:tgtEl>
                                          <p:spTgt spid="1300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4" name="Picture 2"/>
          <p:cNvPicPr>
            <a:picLocks noChangeAspect="1" noChangeArrowheads="1"/>
          </p:cNvPicPr>
          <p:nvPr/>
        </p:nvPicPr>
        <p:blipFill>
          <a:blip r:embed="rId2" cstate="print"/>
          <a:srcRect/>
          <a:stretch>
            <a:fillRect/>
          </a:stretch>
        </p:blipFill>
        <p:spPr bwMode="auto">
          <a:xfrm>
            <a:off x="1133252" y="692696"/>
            <a:ext cx="6439123" cy="3505745"/>
          </a:xfrm>
          <a:prstGeom prst="rect">
            <a:avLst/>
          </a:prstGeom>
          <a:noFill/>
          <a:ln w="9525">
            <a:noFill/>
            <a:miter lim="800000"/>
            <a:headEnd/>
            <a:tailEnd/>
          </a:ln>
        </p:spPr>
      </p:pic>
      <p:sp>
        <p:nvSpPr>
          <p:cNvPr id="3" name="Rectangle 2"/>
          <p:cNvSpPr/>
          <p:nvPr/>
        </p:nvSpPr>
        <p:spPr>
          <a:xfrm>
            <a:off x="611560" y="4437112"/>
            <a:ext cx="8315546" cy="1200329"/>
          </a:xfrm>
          <a:prstGeom prst="rect">
            <a:avLst/>
          </a:prstGeom>
        </p:spPr>
        <p:txBody>
          <a:bodyPr wrap="none">
            <a:spAutoFit/>
          </a:bodyPr>
          <a:lstStyle/>
          <a:p>
            <a:pPr>
              <a:buFont typeface="Arial" pitchFamily="34" charset="0"/>
              <a:buChar char="•"/>
            </a:pPr>
            <a:r>
              <a:rPr lang="fr-FR" dirty="0" smtClean="0"/>
              <a:t> Voir les images comme une matrice ou un tableau à 2 dimensions ,dont chaque case à une valeur.</a:t>
            </a:r>
          </a:p>
          <a:p>
            <a:pPr>
              <a:buFont typeface="Arial" pitchFamily="34" charset="0"/>
              <a:buChar char="•"/>
            </a:pPr>
            <a:r>
              <a:rPr lang="fr-FR" dirty="0" smtClean="0"/>
              <a:t> Les éléments ou cases NOIRE sont codés avec 0 et celles en BLANC  sont codés en 1 </a:t>
            </a:r>
          </a:p>
          <a:p>
            <a:pPr>
              <a:buFont typeface="Arial" pitchFamily="34" charset="0"/>
              <a:buChar char="•"/>
            </a:pPr>
            <a:r>
              <a:rPr lang="fr-FR" dirty="0" smtClean="0"/>
              <a:t>Ceci permet de restituer les images.</a:t>
            </a:r>
          </a:p>
          <a:p>
            <a:pPr>
              <a:buFont typeface="Arial" pitchFamily="34" charset="0"/>
              <a:buChar char="•"/>
            </a:pPr>
            <a:endParaRPr lang="fr-FR"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11560" y="4255928"/>
            <a:ext cx="8136904" cy="1477328"/>
          </a:xfrm>
          <a:prstGeom prst="rect">
            <a:avLst/>
          </a:prstGeom>
        </p:spPr>
        <p:txBody>
          <a:bodyPr wrap="square">
            <a:spAutoFit/>
          </a:bodyPr>
          <a:lstStyle/>
          <a:p>
            <a:pPr>
              <a:buFont typeface="Arial" pitchFamily="34" charset="0"/>
              <a:buChar char="•"/>
            </a:pPr>
            <a:r>
              <a:rPr lang="fr-FR" dirty="0" smtClean="0"/>
              <a:t> Pour les images en couleur, on peut les voir  comme des matrices à 2 dimensions ,et chaque matrice représente une couleur.</a:t>
            </a:r>
          </a:p>
          <a:p>
            <a:pPr>
              <a:buFont typeface="Arial" pitchFamily="34" charset="0"/>
              <a:buChar char="•"/>
            </a:pPr>
            <a:r>
              <a:rPr lang="fr-FR" dirty="0" smtClean="0"/>
              <a:t> l’enchainement et la superposition de ces 3 matrices permet de reconstituer l’image.</a:t>
            </a:r>
          </a:p>
          <a:p>
            <a:pPr>
              <a:buFont typeface="Arial" pitchFamily="34" charset="0"/>
              <a:buChar char="•"/>
            </a:pPr>
            <a:r>
              <a:rPr lang="fr-FR" dirty="0" smtClean="0"/>
              <a:t>L’image en hauts est le résultat des matrices qui ont la même taille dont chaque  case a une valeur  de 1 à 255.</a:t>
            </a:r>
          </a:p>
        </p:txBody>
      </p:sp>
      <p:pic>
        <p:nvPicPr>
          <p:cNvPr id="132100" name="Picture 4"/>
          <p:cNvPicPr>
            <a:picLocks noChangeAspect="1" noChangeArrowheads="1"/>
          </p:cNvPicPr>
          <p:nvPr/>
        </p:nvPicPr>
        <p:blipFill>
          <a:blip r:embed="rId2" cstate="print"/>
          <a:srcRect/>
          <a:stretch>
            <a:fillRect/>
          </a:stretch>
        </p:blipFill>
        <p:spPr bwMode="auto">
          <a:xfrm>
            <a:off x="251520" y="166142"/>
            <a:ext cx="8675166" cy="39829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203848" y="2276872"/>
            <a:ext cx="2990755" cy="584775"/>
          </a:xfrm>
          <a:prstGeom prst="rect">
            <a:avLst/>
          </a:prstGeom>
          <a:noFill/>
        </p:spPr>
        <p:txBody>
          <a:bodyPr wrap="none" rtlCol="0">
            <a:spAutoFit/>
          </a:bodyPr>
          <a:lstStyle/>
          <a:p>
            <a:r>
              <a:rPr lang="fr-FR" sz="3200" b="1" u="sng" dirty="0" smtClean="0">
                <a:solidFill>
                  <a:schemeClr val="tx2">
                    <a:lumMod val="75000"/>
                  </a:schemeClr>
                </a:solidFill>
                <a:cs typeface="Aharoni" pitchFamily="2" charset="-79"/>
              </a:rPr>
              <a:t>Fichiers   M-File</a:t>
            </a:r>
            <a:endParaRPr lang="fr-FR" sz="3200" b="1" u="sng" dirty="0">
              <a:solidFill>
                <a:schemeClr val="tx2">
                  <a:lumMod val="75000"/>
                </a:schemeClr>
              </a:solidFill>
              <a:cs typeface="Aharoni" pitchFamily="2" charset="-79"/>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ChangeArrowheads="1"/>
          </p:cNvSpPr>
          <p:nvPr/>
        </p:nvSpPr>
        <p:spPr bwMode="auto">
          <a:xfrm>
            <a:off x="0" y="232358"/>
            <a:ext cx="9613529" cy="49859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2400" b="1" i="0" u="none" strike="noStrike" cap="none" normalizeH="0" baseline="0" dirty="0" smtClean="0">
                <a:ln>
                  <a:noFill/>
                </a:ln>
                <a:solidFill>
                  <a:srgbClr val="FF0000"/>
                </a:solidFill>
                <a:effectLst/>
                <a:latin typeface="Times New Roman" pitchFamily="18" charset="0"/>
                <a:cs typeface="Times New Roman" pitchFamily="18" charset="0"/>
              </a:rPr>
              <a:t>Scripts et fonctions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2400" b="1" i="0" u="none" strike="noStrike" cap="none" normalizeH="0" baseline="0" dirty="0" smtClean="0">
              <a:ln>
                <a:noFill/>
              </a:ln>
              <a:solidFill>
                <a:srgbClr val="FF000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	Il est possible d'enregistrer une séquence d'instructions dans un fichier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(appelé un </a:t>
            </a:r>
            <a:r>
              <a:rPr kumimoji="0" lang="fr-FR" b="0" i="1" u="none" strike="noStrike" cap="none" normalizeH="0" baseline="0" dirty="0" smtClean="0">
                <a:ln>
                  <a:noFill/>
                </a:ln>
                <a:solidFill>
                  <a:srgbClr val="8000FF"/>
                </a:solidFill>
                <a:effectLst/>
                <a:latin typeface="Times New Roman" pitchFamily="18" charset="0"/>
                <a:cs typeface="Times New Roman" pitchFamily="18" charset="0"/>
              </a:rPr>
              <a:t>M-file</a:t>
            </a: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  ) et de les faire exécuter par MATLAB.</a:t>
            </a:r>
            <a:endParaRPr lang="fr-FR" dirty="0" smtClean="0">
              <a:solidFill>
                <a:srgbClr val="000000"/>
              </a:solidFill>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 Un tel fichier doit </a:t>
            </a:r>
            <a:r>
              <a:rPr kumimoji="0" lang="fr-FR" b="1" i="0" u="none" strike="noStrike" cap="none" normalizeH="0" baseline="0" dirty="0" smtClean="0">
                <a:ln>
                  <a:noFill/>
                </a:ln>
                <a:solidFill>
                  <a:srgbClr val="8000FF"/>
                </a:solidFill>
                <a:effectLst/>
                <a:latin typeface="Times New Roman" pitchFamily="18" charset="0"/>
                <a:cs typeface="Times New Roman" pitchFamily="18" charset="0"/>
              </a:rPr>
              <a:t>obligatoirement</a:t>
            </a: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 avoir une extension de la forme </a:t>
            </a:r>
            <a:r>
              <a:rPr kumimoji="0" lang="fr-FR" b="0" i="0" u="none" strike="noStrike" cap="none" normalizeH="0" baseline="0" dirty="0" smtClean="0">
                <a:ln>
                  <a:noFill/>
                </a:ln>
                <a:solidFill>
                  <a:srgbClr val="8000FF"/>
                </a:solidFill>
                <a:effectLst/>
                <a:latin typeface="Arial Unicode MS" pitchFamily="34" charset="-128"/>
                <a:cs typeface="Arial" pitchFamily="34" charset="0"/>
              </a:rPr>
              <a:t>.m</a:t>
            </a: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 (d'où le nom M-file)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pour être considéré par MATLAB comme un fichier d'instructions.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On distingue 2 types de M-file,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les </a:t>
            </a:r>
            <a:r>
              <a:rPr kumimoji="0" lang="fr-FR" b="0" i="0" u="none" strike="noStrike" cap="none" normalizeH="0" baseline="0" dirty="0" smtClean="0">
                <a:ln>
                  <a:noFill/>
                </a:ln>
                <a:solidFill>
                  <a:srgbClr val="8000FF"/>
                </a:solidFill>
                <a:effectLst/>
                <a:latin typeface="Times New Roman" pitchFamily="18" charset="0"/>
                <a:cs typeface="Times New Roman" pitchFamily="18" charset="0"/>
              </a:rPr>
              <a:t>fichiers de scripts</a:t>
            </a: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 et les </a:t>
            </a:r>
            <a:r>
              <a:rPr kumimoji="0" lang="fr-FR" b="0" i="0" u="none" strike="noStrike" cap="none" normalizeH="0" baseline="0" dirty="0" smtClean="0">
                <a:ln>
                  <a:noFill/>
                </a:ln>
                <a:solidFill>
                  <a:srgbClr val="8000FF"/>
                </a:solidFill>
                <a:effectLst/>
                <a:latin typeface="Times New Roman" pitchFamily="18" charset="0"/>
                <a:cs typeface="Times New Roman" pitchFamily="18" charset="0"/>
              </a:rPr>
              <a:t>fichiers de fonctions</a:t>
            </a: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 </a:t>
            </a:r>
          </a:p>
          <a:p>
            <a:pPr lvl="0" eaLnBrk="0" fontAlgn="base" hangingPunct="0">
              <a:spcBef>
                <a:spcPct val="0"/>
              </a:spcBef>
              <a:spcAft>
                <a:spcPct val="0"/>
              </a:spcAft>
            </a:pP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1-  </a:t>
            </a:r>
            <a:r>
              <a:rPr kumimoji="0" lang="fr-FR" b="1" i="0" u="none" strike="noStrike" cap="none" normalizeH="0" baseline="0" dirty="0" smtClean="0">
                <a:ln>
                  <a:noFill/>
                </a:ln>
                <a:solidFill>
                  <a:srgbClr val="000000"/>
                </a:solidFill>
                <a:effectLst/>
                <a:latin typeface="Times New Roman" pitchFamily="18" charset="0"/>
                <a:cs typeface="Times New Roman" pitchFamily="18" charset="0"/>
              </a:rPr>
              <a:t> Les </a:t>
            </a:r>
            <a:r>
              <a:rPr lang="fr-FR" b="1" dirty="0" smtClean="0">
                <a:solidFill>
                  <a:srgbClr val="8000FF"/>
                </a:solidFill>
                <a:latin typeface="Times New Roman" pitchFamily="18" charset="0"/>
                <a:cs typeface="Times New Roman" pitchFamily="18" charset="0"/>
              </a:rPr>
              <a:t>fichiers de scripts:</a:t>
            </a:r>
            <a:r>
              <a:rPr lang="fr-FR" dirty="0" smtClean="0">
                <a:solidFill>
                  <a:srgbClr val="8000FF"/>
                </a:solidFill>
                <a:latin typeface="Times New Roman" pitchFamily="18" charset="0"/>
                <a:cs typeface="Times New Roman" pitchFamily="18" charset="0"/>
              </a:rPr>
              <a:t> </a:t>
            </a:r>
          </a:p>
          <a:p>
            <a:pPr lvl="0" eaLnBrk="0" fontAlgn="base" hangingPunct="0">
              <a:spcBef>
                <a:spcPct val="0"/>
              </a:spcBef>
              <a:spcAft>
                <a:spcPct val="0"/>
              </a:spcAft>
            </a:pP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Un script est un ensemble d'instructions MATLAB qui joue le rôle de programme principal.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Si le script est écrit dans le fichier de nom </a:t>
            </a:r>
            <a:r>
              <a:rPr kumimoji="0" lang="fr-FR" b="0" i="0" u="none" strike="noStrike" cap="none" normalizeH="0" baseline="0" dirty="0" err="1" smtClean="0">
                <a:ln>
                  <a:noFill/>
                </a:ln>
                <a:solidFill>
                  <a:srgbClr val="8000FF"/>
                </a:solidFill>
                <a:effectLst/>
                <a:latin typeface="Arial Unicode MS" pitchFamily="34" charset="-128"/>
                <a:cs typeface="Arial" pitchFamily="34" charset="0"/>
              </a:rPr>
              <a:t>nom</a:t>
            </a:r>
            <a:r>
              <a:rPr kumimoji="0" lang="fr-FR" b="0" i="0" u="none" strike="noStrike" cap="none" normalizeH="0" baseline="0" dirty="0" smtClean="0">
                <a:ln>
                  <a:noFill/>
                </a:ln>
                <a:solidFill>
                  <a:srgbClr val="8000FF"/>
                </a:solidFill>
                <a:effectLst/>
                <a:latin typeface="Arial Unicode MS" pitchFamily="34" charset="-128"/>
                <a:cs typeface="Arial" pitchFamily="34" charset="0"/>
              </a:rPr>
              <a:t>.m</a:t>
            </a: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 on l'exécute dans la fenêtre MATLAB</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 en tapant </a:t>
            </a:r>
            <a:r>
              <a:rPr kumimoji="0" lang="fr-FR" b="0" i="0" u="none" strike="noStrike" cap="none" normalizeH="0" baseline="0" dirty="0" smtClean="0">
                <a:ln>
                  <a:noFill/>
                </a:ln>
                <a:solidFill>
                  <a:srgbClr val="FF0000"/>
                </a:solidFill>
                <a:effectLst/>
                <a:latin typeface="Arial Unicode MS" pitchFamily="34" charset="-128"/>
                <a:cs typeface="Arial" pitchFamily="34" charset="0"/>
              </a:rPr>
              <a:t>nom</a:t>
            </a: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Même si l'on ne souhaite pas à proprement parler écrire de programme, utiliser un script est très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utile. Il est en effet beaucoup plus simple de modifier des instructions dans un fichier à l'aide d'un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éditeur de texte que de retaper un ensemble d'instructions MATLAB dans la fenêtre de commande.</a:t>
            </a:r>
            <a:r>
              <a:rPr kumimoji="0" lang="fr-FR" b="0" i="0" u="none" strike="noStrike" cap="none" normalizeH="0" baseline="0" dirty="0" smtClean="0">
                <a:ln>
                  <a:noFill/>
                </a:ln>
                <a:solidFill>
                  <a:schemeClr val="tx1"/>
                </a:solidFill>
                <a:effectLst/>
                <a:latin typeface="Arial" pitchFamily="34" charset="0"/>
                <a:cs typeface="Arial" pitchFamily="34" charset="0"/>
              </a:rPr>
              <a:t/>
            </a:r>
            <a:br>
              <a:rPr kumimoji="0" lang="fr-FR" b="0" i="0" u="none" strike="noStrike" cap="none" normalizeH="0" baseline="0" dirty="0" smtClean="0">
                <a:ln>
                  <a:noFill/>
                </a:ln>
                <a:solidFill>
                  <a:schemeClr val="tx1"/>
                </a:solidFill>
                <a:effectLst/>
                <a:latin typeface="Arial" pitchFamily="34" charset="0"/>
                <a:cs typeface="Arial" pitchFamily="34" charset="0"/>
              </a:rPr>
            </a:br>
            <a:endParaRPr kumimoji="0" lang="fr-FR"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5786" y="357166"/>
            <a:ext cx="7358114" cy="6247864"/>
          </a:xfrm>
          <a:prstGeom prst="rect">
            <a:avLst/>
          </a:prstGeom>
        </p:spPr>
        <p:txBody>
          <a:bodyPr wrap="square">
            <a:spAutoFit/>
          </a:bodyPr>
          <a:lstStyle/>
          <a:p>
            <a:r>
              <a:rPr lang="fr-FR" sz="2000" b="1" dirty="0" smtClean="0"/>
              <a:t>Exemple de fichier Script (M-file) pour tracer les graphes de deux fonctions dans la même figure:</a:t>
            </a:r>
          </a:p>
          <a:p>
            <a:r>
              <a:rPr lang="fr-FR" sz="2000" dirty="0" smtClean="0"/>
              <a:t>x=[-2*pi:0.05: 2*pi] ;        </a:t>
            </a:r>
            <a:r>
              <a:rPr lang="fr-FR" sz="2000" dirty="0" smtClean="0">
                <a:solidFill>
                  <a:srgbClr val="00B050"/>
                </a:solidFill>
              </a:rPr>
              <a:t>%</a:t>
            </a:r>
            <a:r>
              <a:rPr lang="fr-FR" sz="2000" dirty="0" err="1" smtClean="0">
                <a:solidFill>
                  <a:srgbClr val="00B050"/>
                </a:solidFill>
              </a:rPr>
              <a:t>definir</a:t>
            </a:r>
            <a:r>
              <a:rPr lang="fr-FR" sz="2000" dirty="0" smtClean="0">
                <a:solidFill>
                  <a:srgbClr val="00B050"/>
                </a:solidFill>
              </a:rPr>
              <a:t> le vecteur x</a:t>
            </a:r>
          </a:p>
          <a:p>
            <a:r>
              <a:rPr lang="fr-FR" sz="2000" dirty="0" smtClean="0"/>
              <a:t> f=sin((pi /4)*x) ;             </a:t>
            </a:r>
            <a:r>
              <a:rPr lang="fr-FR" sz="2000" dirty="0" smtClean="0">
                <a:solidFill>
                  <a:srgbClr val="00B050"/>
                </a:solidFill>
              </a:rPr>
              <a:t>%</a:t>
            </a:r>
            <a:r>
              <a:rPr lang="fr-FR" sz="2000" dirty="0" err="1" smtClean="0">
                <a:solidFill>
                  <a:srgbClr val="00B050"/>
                </a:solidFill>
              </a:rPr>
              <a:t>definir</a:t>
            </a:r>
            <a:r>
              <a:rPr lang="fr-FR" sz="2000" dirty="0" smtClean="0">
                <a:solidFill>
                  <a:srgbClr val="00B050"/>
                </a:solidFill>
              </a:rPr>
              <a:t> la fonction f</a:t>
            </a:r>
          </a:p>
          <a:p>
            <a:r>
              <a:rPr lang="fr-FR" sz="2000" dirty="0" smtClean="0"/>
              <a:t> g=cos((pi /4)*x) ;            </a:t>
            </a:r>
            <a:r>
              <a:rPr lang="fr-FR" sz="2000" dirty="0" smtClean="0">
                <a:solidFill>
                  <a:srgbClr val="00B050"/>
                </a:solidFill>
              </a:rPr>
              <a:t>%</a:t>
            </a:r>
            <a:r>
              <a:rPr lang="fr-FR" sz="2000" dirty="0" err="1" smtClean="0">
                <a:solidFill>
                  <a:srgbClr val="00B050"/>
                </a:solidFill>
              </a:rPr>
              <a:t>definir</a:t>
            </a:r>
            <a:r>
              <a:rPr lang="fr-FR" sz="2000" dirty="0" smtClean="0">
                <a:solidFill>
                  <a:srgbClr val="00B050"/>
                </a:solidFill>
              </a:rPr>
              <a:t> la fonction g</a:t>
            </a:r>
          </a:p>
          <a:p>
            <a:r>
              <a:rPr lang="fr-FR" sz="2000" dirty="0" smtClean="0"/>
              <a:t> figure(1) ;                          </a:t>
            </a:r>
            <a:r>
              <a:rPr lang="fr-FR" sz="2000" dirty="0" smtClean="0">
                <a:solidFill>
                  <a:srgbClr val="00B050"/>
                </a:solidFill>
              </a:rPr>
              <a:t>%donner un </a:t>
            </a:r>
            <a:r>
              <a:rPr lang="fr-FR" sz="2000" dirty="0" err="1" smtClean="0">
                <a:solidFill>
                  <a:srgbClr val="00B050"/>
                </a:solidFill>
              </a:rPr>
              <a:t>numero</a:t>
            </a:r>
            <a:r>
              <a:rPr lang="fr-FR" sz="2000" dirty="0" smtClean="0">
                <a:solidFill>
                  <a:srgbClr val="00B050"/>
                </a:solidFill>
              </a:rPr>
              <a:t> a la figure</a:t>
            </a:r>
          </a:p>
          <a:p>
            <a:r>
              <a:rPr lang="fr-FR" sz="2000" dirty="0" smtClean="0"/>
              <a:t> plot(</a:t>
            </a:r>
            <a:r>
              <a:rPr lang="fr-FR" sz="2000" dirty="0" err="1" smtClean="0"/>
              <a:t>x,f</a:t>
            </a:r>
            <a:r>
              <a:rPr lang="fr-FR" sz="2000" dirty="0" smtClean="0"/>
              <a:t>,'r')                          </a:t>
            </a:r>
            <a:r>
              <a:rPr lang="fr-FR" sz="2000" dirty="0" smtClean="0">
                <a:solidFill>
                  <a:srgbClr val="00B050"/>
                </a:solidFill>
              </a:rPr>
              <a:t>%</a:t>
            </a:r>
            <a:r>
              <a:rPr lang="fr-FR" sz="2000" dirty="0" err="1" smtClean="0">
                <a:solidFill>
                  <a:srgbClr val="00B050"/>
                </a:solidFill>
              </a:rPr>
              <a:t>representer</a:t>
            </a:r>
            <a:r>
              <a:rPr lang="fr-FR" sz="2000" dirty="0" smtClean="0">
                <a:solidFill>
                  <a:srgbClr val="00B050"/>
                </a:solidFill>
              </a:rPr>
              <a:t> f en fonction de x</a:t>
            </a:r>
          </a:p>
          <a:p>
            <a:r>
              <a:rPr lang="fr-FR" sz="2000" dirty="0" smtClean="0">
                <a:solidFill>
                  <a:srgbClr val="00B050"/>
                </a:solidFill>
              </a:rPr>
              <a:t>                                          %en utilisant la couleur rouge</a:t>
            </a:r>
          </a:p>
          <a:p>
            <a:r>
              <a:rPr lang="fr-FR" sz="2000" dirty="0" smtClean="0"/>
              <a:t> </a:t>
            </a:r>
            <a:r>
              <a:rPr lang="fr-FR" sz="2000" dirty="0" err="1" smtClean="0"/>
              <a:t>hold</a:t>
            </a:r>
            <a:r>
              <a:rPr lang="fr-FR" sz="2000" dirty="0" smtClean="0"/>
              <a:t> on       </a:t>
            </a:r>
            <a:r>
              <a:rPr lang="fr-FR" sz="2000" dirty="0" smtClean="0">
                <a:solidFill>
                  <a:srgbClr val="00B050"/>
                </a:solidFill>
              </a:rPr>
              <a:t>%geler la figure pour ajouter un</a:t>
            </a:r>
          </a:p>
          <a:p>
            <a:r>
              <a:rPr lang="fr-FR" sz="2000" dirty="0" smtClean="0">
                <a:solidFill>
                  <a:srgbClr val="00B050"/>
                </a:solidFill>
              </a:rPr>
              <a:t>                      %autre graphe</a:t>
            </a:r>
          </a:p>
          <a:p>
            <a:r>
              <a:rPr lang="fr-FR" sz="2000" dirty="0" smtClean="0"/>
              <a:t>  plot(</a:t>
            </a:r>
            <a:r>
              <a:rPr lang="fr-FR" sz="2000" dirty="0" err="1" smtClean="0"/>
              <a:t>x,g</a:t>
            </a:r>
            <a:r>
              <a:rPr lang="fr-FR" sz="2000" dirty="0" smtClean="0"/>
              <a:t>,'b')          </a:t>
            </a:r>
            <a:r>
              <a:rPr lang="fr-FR" sz="2000" dirty="0" smtClean="0">
                <a:solidFill>
                  <a:srgbClr val="00B050"/>
                </a:solidFill>
              </a:rPr>
              <a:t>%</a:t>
            </a:r>
            <a:r>
              <a:rPr lang="fr-FR" sz="2000" dirty="0" err="1" smtClean="0">
                <a:solidFill>
                  <a:srgbClr val="00B050"/>
                </a:solidFill>
              </a:rPr>
              <a:t>representer</a:t>
            </a:r>
            <a:r>
              <a:rPr lang="fr-FR" sz="2000" dirty="0" smtClean="0">
                <a:solidFill>
                  <a:srgbClr val="00B050"/>
                </a:solidFill>
              </a:rPr>
              <a:t> g(x) en bleu</a:t>
            </a:r>
          </a:p>
          <a:p>
            <a:r>
              <a:rPr lang="fr-FR" sz="2000" dirty="0" smtClean="0"/>
              <a:t> </a:t>
            </a:r>
            <a:r>
              <a:rPr lang="fr-FR" sz="2000" dirty="0" err="1" smtClean="0"/>
              <a:t>legend</a:t>
            </a:r>
            <a:r>
              <a:rPr lang="fr-FR" sz="2000" dirty="0" smtClean="0"/>
              <a:t>('Sin(x)','Cos(x)')            </a:t>
            </a:r>
            <a:r>
              <a:rPr lang="fr-FR" sz="2000" dirty="0" smtClean="0">
                <a:solidFill>
                  <a:srgbClr val="00B050"/>
                </a:solidFill>
              </a:rPr>
              <a:t>%ajouter une </a:t>
            </a:r>
            <a:r>
              <a:rPr lang="fr-FR" sz="2000" dirty="0" err="1" smtClean="0">
                <a:solidFill>
                  <a:srgbClr val="00B050"/>
                </a:solidFill>
              </a:rPr>
              <a:t>legend</a:t>
            </a:r>
            <a:endParaRPr lang="fr-FR" sz="2000" dirty="0" smtClean="0">
              <a:solidFill>
                <a:srgbClr val="00B050"/>
              </a:solidFill>
            </a:endParaRPr>
          </a:p>
          <a:p>
            <a:r>
              <a:rPr lang="fr-FR" sz="2000" dirty="0" smtClean="0">
                <a:solidFill>
                  <a:srgbClr val="00B050"/>
                </a:solidFill>
              </a:rPr>
              <a:t>                                                    %pour chaque graphe</a:t>
            </a:r>
          </a:p>
          <a:p>
            <a:r>
              <a:rPr lang="fr-FR" sz="2000" dirty="0" smtClean="0"/>
              <a:t>  </a:t>
            </a:r>
            <a:r>
              <a:rPr lang="fr-FR" sz="2000" dirty="0" err="1" smtClean="0"/>
              <a:t>title</a:t>
            </a:r>
            <a:r>
              <a:rPr lang="fr-FR" sz="2000" dirty="0" smtClean="0"/>
              <a:t> ( 'Variation de Sinus et Cosinus ')      </a:t>
            </a:r>
            <a:r>
              <a:rPr lang="fr-FR" sz="2000" dirty="0" smtClean="0">
                <a:solidFill>
                  <a:srgbClr val="00B050"/>
                </a:solidFill>
              </a:rPr>
              <a:t>%le titre</a:t>
            </a:r>
          </a:p>
          <a:p>
            <a:r>
              <a:rPr lang="fr-FR" sz="2000" dirty="0" smtClean="0"/>
              <a:t>  </a:t>
            </a:r>
            <a:r>
              <a:rPr lang="fr-FR" sz="2000" dirty="0" err="1" smtClean="0"/>
              <a:t>xlabel</a:t>
            </a:r>
            <a:r>
              <a:rPr lang="fr-FR" sz="2000" dirty="0" smtClean="0"/>
              <a:t> ('axes des x')                    </a:t>
            </a:r>
            <a:r>
              <a:rPr lang="fr-FR" sz="2000" dirty="0" smtClean="0">
                <a:solidFill>
                  <a:srgbClr val="00B050"/>
                </a:solidFill>
              </a:rPr>
              <a:t>%l’</a:t>
            </a:r>
            <a:r>
              <a:rPr lang="fr-FR" sz="2000" dirty="0" err="1" smtClean="0">
                <a:solidFill>
                  <a:srgbClr val="00B050"/>
                </a:solidFill>
              </a:rPr>
              <a:t>etiquette</a:t>
            </a:r>
            <a:r>
              <a:rPr lang="fr-FR" sz="2000" dirty="0" smtClean="0">
                <a:solidFill>
                  <a:srgbClr val="00B050"/>
                </a:solidFill>
              </a:rPr>
              <a:t> des abscisses</a:t>
            </a:r>
          </a:p>
          <a:p>
            <a:r>
              <a:rPr lang="fr-FR" sz="2000" dirty="0" smtClean="0"/>
              <a:t>  </a:t>
            </a:r>
            <a:r>
              <a:rPr lang="fr-FR" sz="2000" dirty="0" err="1" smtClean="0"/>
              <a:t>ylabel</a:t>
            </a:r>
            <a:r>
              <a:rPr lang="fr-FR" sz="2000" dirty="0" smtClean="0"/>
              <a:t> ('axes des y')                   </a:t>
            </a:r>
            <a:r>
              <a:rPr lang="fr-FR" sz="2000" dirty="0" smtClean="0">
                <a:solidFill>
                  <a:srgbClr val="00B050"/>
                </a:solidFill>
              </a:rPr>
              <a:t> %l’</a:t>
            </a:r>
            <a:r>
              <a:rPr lang="fr-FR" sz="2000" dirty="0" err="1" smtClean="0">
                <a:solidFill>
                  <a:srgbClr val="00B050"/>
                </a:solidFill>
              </a:rPr>
              <a:t>etiquete</a:t>
            </a:r>
            <a:r>
              <a:rPr lang="fr-FR" sz="2000" dirty="0" smtClean="0">
                <a:solidFill>
                  <a:srgbClr val="00B050"/>
                </a:solidFill>
              </a:rPr>
              <a:t> des ordonnées</a:t>
            </a:r>
          </a:p>
          <a:p>
            <a:r>
              <a:rPr lang="fr-FR" sz="2000" dirty="0" smtClean="0"/>
              <a:t>  </a:t>
            </a:r>
            <a:r>
              <a:rPr lang="fr-FR" sz="2000" dirty="0" err="1" smtClean="0"/>
              <a:t>grid</a:t>
            </a:r>
            <a:r>
              <a:rPr lang="fr-FR" sz="2000" dirty="0" smtClean="0"/>
              <a:t>     </a:t>
            </a:r>
            <a:r>
              <a:rPr lang="fr-FR" sz="2000" dirty="0" smtClean="0">
                <a:solidFill>
                  <a:srgbClr val="00B050"/>
                </a:solidFill>
              </a:rPr>
              <a:t>                                     %fait apparaitre la grille</a:t>
            </a:r>
          </a:p>
          <a:p>
            <a:endParaRPr lang="fr-FR" sz="2000" dirty="0" smtClean="0"/>
          </a:p>
          <a:p>
            <a:r>
              <a:rPr lang="fr-FR" sz="2000" dirty="0" smtClean="0"/>
              <a:t>Save as : Graph_2D.m</a:t>
            </a:r>
          </a:p>
          <a:p>
            <a:endParaRPr lang="fr-FR" sz="2000" dirty="0" smtClean="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683568" y="548680"/>
            <a:ext cx="7597946" cy="406809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357166"/>
            <a:ext cx="8143932" cy="2585323"/>
          </a:xfrm>
          <a:prstGeom prst="rect">
            <a:avLst/>
          </a:prstGeom>
        </p:spPr>
        <p:txBody>
          <a:bodyPr wrap="square">
            <a:spAutoFit/>
          </a:bodyPr>
          <a:lstStyle/>
          <a:p>
            <a:pPr fontAlgn="base"/>
            <a:r>
              <a:rPr lang="fr-FR" b="1" dirty="0" smtClean="0">
                <a:solidFill>
                  <a:srgbClr val="000000"/>
                </a:solidFill>
                <a:latin typeface="Times New Roman" pitchFamily="18" charset="0"/>
                <a:cs typeface="Times New Roman" pitchFamily="18" charset="0"/>
              </a:rPr>
              <a:t>Les </a:t>
            </a:r>
            <a:r>
              <a:rPr lang="fr-FR" b="1" dirty="0" smtClean="0">
                <a:solidFill>
                  <a:srgbClr val="8000FF"/>
                </a:solidFill>
                <a:latin typeface="Times New Roman" pitchFamily="18" charset="0"/>
                <a:cs typeface="Times New Roman" pitchFamily="18" charset="0"/>
              </a:rPr>
              <a:t>fichiers de fonctions: </a:t>
            </a:r>
          </a:p>
          <a:p>
            <a:pPr fontAlgn="base"/>
            <a:r>
              <a:rPr lang="fr-FR" dirty="0" smtClean="0">
                <a:latin typeface="Times New Roman" pitchFamily="18" charset="0"/>
                <a:cs typeface="Times New Roman" pitchFamily="18" charset="0"/>
              </a:rPr>
              <a:t>Les fichiers de fonctions ont deux rôles. Ils permettent à l’utilisateur de définir des fonctions qui ne figurent pas parmi les </a:t>
            </a:r>
            <a:r>
              <a:rPr lang="fr-FR" dirty="0" smtClean="0">
                <a:latin typeface="Times New Roman" pitchFamily="18" charset="0"/>
                <a:cs typeface="Times New Roman" pitchFamily="18" charset="0"/>
                <a:hlinkClick r:id="rId2"/>
              </a:rPr>
              <a:t>fonctions incorporées</a:t>
            </a:r>
            <a:r>
              <a:rPr lang="fr-FR" dirty="0" smtClean="0">
                <a:latin typeface="Times New Roman" pitchFamily="18" charset="0"/>
                <a:cs typeface="Times New Roman" pitchFamily="18" charset="0"/>
              </a:rPr>
              <a:t> de MATLAB (&lt;&lt; </a:t>
            </a:r>
            <a:r>
              <a:rPr lang="fr-FR" dirty="0" err="1" smtClean="0">
                <a:latin typeface="Times New Roman" pitchFamily="18" charset="0"/>
                <a:cs typeface="Times New Roman" pitchFamily="18" charset="0"/>
              </a:rPr>
              <a:t>built</a:t>
            </a:r>
            <a:r>
              <a:rPr lang="fr-FR" dirty="0" smtClean="0">
                <a:latin typeface="Times New Roman" pitchFamily="18" charset="0"/>
                <a:cs typeface="Times New Roman" pitchFamily="18" charset="0"/>
              </a:rPr>
              <a:t>-in </a:t>
            </a:r>
            <a:r>
              <a:rPr lang="fr-FR" dirty="0" err="1" smtClean="0">
                <a:latin typeface="Times New Roman" pitchFamily="18" charset="0"/>
                <a:cs typeface="Times New Roman" pitchFamily="18" charset="0"/>
              </a:rPr>
              <a:t>functions</a:t>
            </a:r>
            <a:r>
              <a:rPr lang="fr-FR" dirty="0" smtClean="0">
                <a:latin typeface="Times New Roman" pitchFamily="18" charset="0"/>
                <a:cs typeface="Times New Roman" pitchFamily="18" charset="0"/>
              </a:rPr>
              <a:t> &gt;&gt;) et de les utiliser de la même manière que ces dernières (ces fonctions sont nommées fonctions utilisateur).   Ils sont également un élément important dans la programmation d’applications où les fonctions jouent le rôle des fonctions et procédures des langages de programmation usuels.</a:t>
            </a:r>
          </a:p>
          <a:p>
            <a:r>
              <a:rPr lang="fr-FR" dirty="0" smtClean="0"/>
              <a:t/>
            </a:r>
            <a:br>
              <a:rPr lang="fr-FR" dirty="0" smtClean="0"/>
            </a:br>
            <a:endParaRPr lang="fr-FR" dirty="0"/>
          </a:p>
        </p:txBody>
      </p:sp>
      <p:sp>
        <p:nvSpPr>
          <p:cNvPr id="4" name="ZoneTexte 3"/>
          <p:cNvSpPr txBox="1"/>
          <p:nvPr/>
        </p:nvSpPr>
        <p:spPr>
          <a:xfrm>
            <a:off x="428596" y="2857496"/>
            <a:ext cx="8358246" cy="3139321"/>
          </a:xfrm>
          <a:prstGeom prst="rect">
            <a:avLst/>
          </a:prstGeom>
          <a:noFill/>
        </p:spPr>
        <p:txBody>
          <a:bodyPr wrap="square" rtlCol="0">
            <a:spAutoFit/>
          </a:bodyPr>
          <a:lstStyle/>
          <a:p>
            <a:pPr lvl="0" fontAlgn="base">
              <a:spcBef>
                <a:spcPct val="0"/>
              </a:spcBef>
              <a:spcAft>
                <a:spcPct val="0"/>
              </a:spcAft>
            </a:pPr>
            <a:r>
              <a:rPr lang="fr-FR" dirty="0" smtClean="0">
                <a:solidFill>
                  <a:srgbClr val="000000"/>
                </a:solidFill>
                <a:latin typeface="Times New Roman" pitchFamily="18" charset="0"/>
                <a:cs typeface="Times New Roman" pitchFamily="18" charset="0"/>
              </a:rPr>
              <a:t>On définit la fonction </a:t>
            </a:r>
            <a:r>
              <a:rPr lang="fr-FR" dirty="0" err="1" smtClean="0">
                <a:solidFill>
                  <a:srgbClr val="8000FF"/>
                </a:solidFill>
                <a:latin typeface="Times New Roman" pitchFamily="18" charset="0"/>
                <a:cs typeface="Times New Roman" pitchFamily="18" charset="0"/>
              </a:rPr>
              <a:t>fonc</a:t>
            </a:r>
            <a:r>
              <a:rPr lang="fr-FR" dirty="0" smtClean="0">
                <a:solidFill>
                  <a:srgbClr val="000000"/>
                </a:solidFill>
                <a:latin typeface="Times New Roman" pitchFamily="18" charset="0"/>
                <a:cs typeface="Times New Roman" pitchFamily="18" charset="0"/>
              </a:rPr>
              <a:t> de la manière suivante:</a:t>
            </a:r>
          </a:p>
          <a:p>
            <a:pPr lvl="0" eaLnBrk="0" fontAlgn="base" hangingPunct="0">
              <a:spcBef>
                <a:spcPct val="0"/>
              </a:spcBef>
              <a:spcAft>
                <a:spcPct val="0"/>
              </a:spcAft>
            </a:pPr>
            <a:endParaRPr lang="fr-FR" b="1" dirty="0" smtClean="0">
              <a:solidFill>
                <a:srgbClr val="FF0000"/>
              </a:solidFill>
              <a:latin typeface="Times New Roman" pitchFamily="18" charset="0"/>
              <a:cs typeface="Times New Roman" pitchFamily="18" charset="0"/>
            </a:endParaRPr>
          </a:p>
          <a:p>
            <a:pPr lvl="0" eaLnBrk="0" fontAlgn="base" hangingPunct="0">
              <a:spcBef>
                <a:spcPct val="0"/>
              </a:spcBef>
              <a:spcAft>
                <a:spcPct val="0"/>
              </a:spcAft>
            </a:pPr>
            <a:r>
              <a:rPr lang="fr-FR" b="1" dirty="0" err="1" smtClean="0">
                <a:solidFill>
                  <a:srgbClr val="FF0000"/>
                </a:solidFill>
                <a:latin typeface="Times New Roman" pitchFamily="18" charset="0"/>
                <a:cs typeface="Times New Roman" pitchFamily="18" charset="0"/>
              </a:rPr>
              <a:t>function</a:t>
            </a:r>
            <a:r>
              <a:rPr lang="fr-FR" b="1" dirty="0" smtClean="0">
                <a:solidFill>
                  <a:srgbClr val="FF0000"/>
                </a:solidFill>
                <a:latin typeface="Times New Roman" pitchFamily="18" charset="0"/>
                <a:cs typeface="Times New Roman" pitchFamily="18" charset="0"/>
              </a:rPr>
              <a:t> [</a:t>
            </a:r>
            <a:r>
              <a:rPr lang="fr-FR" i="1" dirty="0" smtClean="0">
                <a:solidFill>
                  <a:srgbClr val="008000"/>
                </a:solidFill>
                <a:latin typeface="Times New Roman" pitchFamily="18" charset="0"/>
                <a:cs typeface="Times New Roman" pitchFamily="18" charset="0"/>
              </a:rPr>
              <a:t>vars</a:t>
            </a:r>
            <a:r>
              <a:rPr lang="fr-FR" i="1" baseline="-30000" dirty="0" smtClean="0">
                <a:solidFill>
                  <a:srgbClr val="008000"/>
                </a:solidFill>
                <a:latin typeface="Times New Roman" pitchFamily="18" charset="0"/>
                <a:cs typeface="Times New Roman" pitchFamily="18" charset="0"/>
              </a:rPr>
              <a:t>1</a:t>
            </a:r>
            <a:r>
              <a:rPr lang="fr-FR" i="1" dirty="0" smtClean="0">
                <a:solidFill>
                  <a:srgbClr val="FF0000"/>
                </a:solidFill>
                <a:latin typeface="Times New Roman" pitchFamily="18" charset="0"/>
                <a:cs typeface="Times New Roman" pitchFamily="18" charset="0"/>
              </a:rPr>
              <a:t>,</a:t>
            </a:r>
            <a:r>
              <a:rPr lang="fr-FR" dirty="0" smtClean="0">
                <a:solidFill>
                  <a:srgbClr val="000000"/>
                </a:solidFill>
                <a:latin typeface="Times New Roman" pitchFamily="18" charset="0"/>
                <a:cs typeface="Times New Roman" pitchFamily="18" charset="0"/>
              </a:rPr>
              <a:t> ...</a:t>
            </a:r>
            <a:r>
              <a:rPr lang="fr-FR" i="1" dirty="0" smtClean="0">
                <a:solidFill>
                  <a:srgbClr val="FF0000"/>
                </a:solidFill>
                <a:latin typeface="Times New Roman" pitchFamily="18" charset="0"/>
                <a:cs typeface="Times New Roman" pitchFamily="18" charset="0"/>
              </a:rPr>
              <a:t>,</a:t>
            </a:r>
            <a:r>
              <a:rPr lang="fr-FR" dirty="0" smtClean="0">
                <a:solidFill>
                  <a:srgbClr val="000000"/>
                </a:solidFill>
                <a:latin typeface="Times New Roman" pitchFamily="18" charset="0"/>
                <a:cs typeface="Times New Roman" pitchFamily="18" charset="0"/>
              </a:rPr>
              <a:t> </a:t>
            </a:r>
            <a:r>
              <a:rPr lang="fr-FR" i="1" dirty="0" err="1" smtClean="0">
                <a:solidFill>
                  <a:srgbClr val="008000"/>
                </a:solidFill>
                <a:latin typeface="Times New Roman" pitchFamily="18" charset="0"/>
                <a:cs typeface="Times New Roman" pitchFamily="18" charset="0"/>
              </a:rPr>
              <a:t>vars</a:t>
            </a:r>
            <a:r>
              <a:rPr lang="fr-FR" i="1" baseline="-30000" dirty="0" err="1" smtClean="0">
                <a:solidFill>
                  <a:srgbClr val="008000"/>
                </a:solidFill>
                <a:latin typeface="Times New Roman" pitchFamily="18" charset="0"/>
                <a:cs typeface="Times New Roman" pitchFamily="18" charset="0"/>
              </a:rPr>
              <a:t>m</a:t>
            </a:r>
            <a:r>
              <a:rPr lang="fr-FR" b="1" dirty="0" smtClean="0">
                <a:solidFill>
                  <a:srgbClr val="FF0000"/>
                </a:solidFill>
                <a:latin typeface="Times New Roman" pitchFamily="18" charset="0"/>
                <a:cs typeface="Times New Roman" pitchFamily="18" charset="0"/>
              </a:rPr>
              <a:t>] = </a:t>
            </a:r>
            <a:r>
              <a:rPr lang="fr-FR" b="1" dirty="0" err="1" smtClean="0">
                <a:solidFill>
                  <a:srgbClr val="8000FF"/>
                </a:solidFill>
                <a:latin typeface="Times New Roman" pitchFamily="18" charset="0"/>
                <a:cs typeface="Times New Roman" pitchFamily="18" charset="0"/>
              </a:rPr>
              <a:t>fonc</a:t>
            </a:r>
            <a:r>
              <a:rPr lang="fr-FR" b="1" dirty="0" smtClean="0">
                <a:solidFill>
                  <a:srgbClr val="8000FF"/>
                </a:solidFill>
                <a:latin typeface="Times New Roman" pitchFamily="18" charset="0"/>
                <a:cs typeface="Times New Roman" pitchFamily="18" charset="0"/>
              </a:rPr>
              <a:t> </a:t>
            </a:r>
            <a:r>
              <a:rPr lang="fr-FR" b="1" dirty="0" smtClean="0">
                <a:solidFill>
                  <a:srgbClr val="FF0000"/>
                </a:solidFill>
                <a:latin typeface="Times New Roman" pitchFamily="18" charset="0"/>
                <a:cs typeface="Times New Roman" pitchFamily="18" charset="0"/>
              </a:rPr>
              <a:t>(</a:t>
            </a:r>
            <a:r>
              <a:rPr lang="fr-FR" i="1" dirty="0" smtClean="0">
                <a:solidFill>
                  <a:srgbClr val="008000"/>
                </a:solidFill>
                <a:latin typeface="Times New Roman" pitchFamily="18" charset="0"/>
                <a:cs typeface="Times New Roman" pitchFamily="18" charset="0"/>
              </a:rPr>
              <a:t>vare</a:t>
            </a:r>
            <a:r>
              <a:rPr lang="fr-FR" i="1" baseline="-30000" dirty="0" smtClean="0">
                <a:solidFill>
                  <a:srgbClr val="008000"/>
                </a:solidFill>
                <a:latin typeface="Times New Roman" pitchFamily="18" charset="0"/>
                <a:cs typeface="Times New Roman" pitchFamily="18" charset="0"/>
              </a:rPr>
              <a:t>1</a:t>
            </a:r>
            <a:r>
              <a:rPr lang="fr-FR" i="1" dirty="0" smtClean="0">
                <a:solidFill>
                  <a:srgbClr val="FF0000"/>
                </a:solidFill>
                <a:latin typeface="Times New Roman" pitchFamily="18" charset="0"/>
                <a:cs typeface="Times New Roman" pitchFamily="18" charset="0"/>
              </a:rPr>
              <a:t>,</a:t>
            </a:r>
            <a:r>
              <a:rPr lang="fr-FR" dirty="0" smtClean="0">
                <a:solidFill>
                  <a:srgbClr val="000000"/>
                </a:solidFill>
                <a:latin typeface="Times New Roman" pitchFamily="18" charset="0"/>
                <a:cs typeface="Times New Roman" pitchFamily="18" charset="0"/>
              </a:rPr>
              <a:t> ...</a:t>
            </a:r>
            <a:r>
              <a:rPr lang="fr-FR" i="1" dirty="0" smtClean="0">
                <a:solidFill>
                  <a:srgbClr val="FF0000"/>
                </a:solidFill>
                <a:latin typeface="Times New Roman" pitchFamily="18" charset="0"/>
                <a:cs typeface="Times New Roman" pitchFamily="18" charset="0"/>
              </a:rPr>
              <a:t>,</a:t>
            </a:r>
            <a:r>
              <a:rPr lang="fr-FR" dirty="0" smtClean="0">
                <a:solidFill>
                  <a:srgbClr val="000000"/>
                </a:solidFill>
                <a:latin typeface="Times New Roman" pitchFamily="18" charset="0"/>
                <a:cs typeface="Times New Roman" pitchFamily="18" charset="0"/>
              </a:rPr>
              <a:t> </a:t>
            </a:r>
            <a:r>
              <a:rPr lang="fr-FR" i="1" dirty="0" err="1" smtClean="0">
                <a:solidFill>
                  <a:srgbClr val="008000"/>
                </a:solidFill>
                <a:latin typeface="Times New Roman" pitchFamily="18" charset="0"/>
                <a:cs typeface="Times New Roman" pitchFamily="18" charset="0"/>
              </a:rPr>
              <a:t>vare</a:t>
            </a:r>
            <a:r>
              <a:rPr lang="fr-FR" i="1" baseline="-30000" dirty="0" err="1" smtClean="0">
                <a:solidFill>
                  <a:srgbClr val="008000"/>
                </a:solidFill>
                <a:latin typeface="Times New Roman" pitchFamily="18" charset="0"/>
                <a:cs typeface="Times New Roman" pitchFamily="18" charset="0"/>
              </a:rPr>
              <a:t>n</a:t>
            </a:r>
            <a:r>
              <a:rPr lang="fr-FR" b="1" dirty="0" smtClean="0">
                <a:solidFill>
                  <a:srgbClr val="FF0000"/>
                </a:solidFill>
                <a:latin typeface="Times New Roman" pitchFamily="18" charset="0"/>
                <a:cs typeface="Times New Roman" pitchFamily="18" charset="0"/>
              </a:rPr>
              <a:t>)</a:t>
            </a:r>
            <a:endParaRPr lang="fr-FR" dirty="0" smtClean="0">
              <a:solidFill>
                <a:srgbClr val="000000"/>
              </a:solidFill>
              <a:latin typeface="Times New Roman" pitchFamily="18" charset="0"/>
              <a:cs typeface="Times New Roman" pitchFamily="18" charset="0"/>
            </a:endParaRPr>
          </a:p>
          <a:p>
            <a:pPr lvl="0" eaLnBrk="0" fontAlgn="base" hangingPunct="0">
              <a:spcBef>
                <a:spcPct val="0"/>
              </a:spcBef>
              <a:spcAft>
                <a:spcPct val="0"/>
              </a:spcAft>
            </a:pPr>
            <a:r>
              <a:rPr lang="fr-FR" i="1" dirty="0" smtClean="0">
                <a:solidFill>
                  <a:srgbClr val="008000"/>
                </a:solidFill>
                <a:latin typeface="Times New Roman" pitchFamily="18" charset="0"/>
                <a:cs typeface="Times New Roman" pitchFamily="18" charset="0"/>
              </a:rPr>
              <a:t>séquence d'instructions</a:t>
            </a:r>
            <a:endParaRPr lang="fr-FR" dirty="0" smtClean="0">
              <a:solidFill>
                <a:srgbClr val="000000"/>
              </a:solidFill>
              <a:latin typeface="Times New Roman" pitchFamily="18" charset="0"/>
              <a:cs typeface="Times New Roman" pitchFamily="18" charset="0"/>
            </a:endParaRPr>
          </a:p>
          <a:p>
            <a:pPr lvl="0" eaLnBrk="0" fontAlgn="base" hangingPunct="0">
              <a:spcBef>
                <a:spcPct val="0"/>
              </a:spcBef>
              <a:spcAft>
                <a:spcPct val="0"/>
              </a:spcAft>
            </a:pPr>
            <a:endParaRPr lang="fr-FR" dirty="0" smtClean="0">
              <a:solidFill>
                <a:srgbClr val="000000"/>
              </a:solidFill>
              <a:latin typeface="Times New Roman" pitchFamily="18" charset="0"/>
              <a:cs typeface="Times New Roman" pitchFamily="18" charset="0"/>
            </a:endParaRPr>
          </a:p>
          <a:p>
            <a:pPr lvl="0" eaLnBrk="0" fontAlgn="base" hangingPunct="0">
              <a:spcBef>
                <a:spcPct val="0"/>
              </a:spcBef>
              <a:spcAft>
                <a:spcPct val="0"/>
              </a:spcAft>
            </a:pPr>
            <a:r>
              <a:rPr lang="fr-FR" dirty="0" smtClean="0">
                <a:solidFill>
                  <a:srgbClr val="000000"/>
                </a:solidFill>
                <a:latin typeface="Times New Roman" pitchFamily="18" charset="0"/>
                <a:cs typeface="Times New Roman" pitchFamily="18" charset="0"/>
              </a:rPr>
              <a:t>où</a:t>
            </a:r>
            <a:endParaRPr lang="fr-FR" dirty="0" smtClean="0">
              <a:latin typeface="Times New Roman" pitchFamily="18" charset="0"/>
              <a:cs typeface="Times New Roman" pitchFamily="18" charset="0"/>
            </a:endParaRPr>
          </a:p>
          <a:p>
            <a:pPr lvl="0" eaLnBrk="0" fontAlgn="base" hangingPunct="0">
              <a:spcBef>
                <a:spcPct val="0"/>
              </a:spcBef>
              <a:spcAft>
                <a:spcPct val="0"/>
              </a:spcAft>
              <a:buFontTx/>
              <a:buChar char="•"/>
            </a:pPr>
            <a:r>
              <a:rPr lang="fr-FR" i="1" dirty="0" smtClean="0">
                <a:solidFill>
                  <a:srgbClr val="008000"/>
                </a:solidFill>
                <a:latin typeface="Times New Roman" pitchFamily="18" charset="0"/>
                <a:cs typeface="Times New Roman" pitchFamily="18" charset="0"/>
              </a:rPr>
              <a:t>vars</a:t>
            </a:r>
            <a:r>
              <a:rPr lang="fr-FR" i="1" baseline="-30000" dirty="0" smtClean="0">
                <a:solidFill>
                  <a:srgbClr val="008000"/>
                </a:solidFill>
                <a:latin typeface="Times New Roman" pitchFamily="18" charset="0"/>
                <a:cs typeface="Times New Roman" pitchFamily="18" charset="0"/>
              </a:rPr>
              <a:t>1</a:t>
            </a:r>
            <a:r>
              <a:rPr lang="fr-FR" i="1" dirty="0" smtClean="0">
                <a:solidFill>
                  <a:srgbClr val="008000"/>
                </a:solidFill>
                <a:latin typeface="Times New Roman" pitchFamily="18" charset="0"/>
                <a:cs typeface="Times New Roman" pitchFamily="18" charset="0"/>
              </a:rPr>
              <a:t>, ..., </a:t>
            </a:r>
            <a:r>
              <a:rPr lang="fr-FR" i="1" dirty="0" err="1" smtClean="0">
                <a:solidFill>
                  <a:srgbClr val="008000"/>
                </a:solidFill>
                <a:latin typeface="Times New Roman" pitchFamily="18" charset="0"/>
                <a:cs typeface="Times New Roman" pitchFamily="18" charset="0"/>
              </a:rPr>
              <a:t>vars</a:t>
            </a:r>
            <a:r>
              <a:rPr lang="fr-FR" i="1" baseline="-30000" dirty="0" err="1" smtClean="0">
                <a:solidFill>
                  <a:srgbClr val="008000"/>
                </a:solidFill>
                <a:latin typeface="Times New Roman" pitchFamily="18" charset="0"/>
                <a:cs typeface="Times New Roman" pitchFamily="18" charset="0"/>
              </a:rPr>
              <a:t>m</a:t>
            </a:r>
            <a:r>
              <a:rPr lang="fr-FR" i="1" dirty="0" smtClean="0">
                <a:solidFill>
                  <a:srgbClr val="008000"/>
                </a:solidFill>
                <a:latin typeface="Times New Roman" pitchFamily="18" charset="0"/>
                <a:cs typeface="Times New Roman" pitchFamily="18" charset="0"/>
              </a:rPr>
              <a:t> </a:t>
            </a:r>
            <a:r>
              <a:rPr lang="fr-FR" dirty="0" smtClean="0">
                <a:solidFill>
                  <a:srgbClr val="000000"/>
                </a:solidFill>
                <a:latin typeface="Times New Roman" pitchFamily="18" charset="0"/>
                <a:cs typeface="Times New Roman" pitchFamily="18" charset="0"/>
              </a:rPr>
              <a:t>sont les variables de sortie de la fonction;</a:t>
            </a:r>
          </a:p>
          <a:p>
            <a:pPr lvl="0" eaLnBrk="0" fontAlgn="base" hangingPunct="0">
              <a:spcBef>
                <a:spcPct val="0"/>
              </a:spcBef>
              <a:spcAft>
                <a:spcPct val="0"/>
              </a:spcAft>
              <a:buFontTx/>
              <a:buChar char="•"/>
            </a:pPr>
            <a:r>
              <a:rPr lang="fr-FR" i="1" dirty="0" smtClean="0">
                <a:solidFill>
                  <a:srgbClr val="008000"/>
                </a:solidFill>
                <a:latin typeface="Times New Roman" pitchFamily="18" charset="0"/>
                <a:cs typeface="Times New Roman" pitchFamily="18" charset="0"/>
              </a:rPr>
              <a:t>vare</a:t>
            </a:r>
            <a:r>
              <a:rPr lang="fr-FR" i="1" baseline="-30000" dirty="0" smtClean="0">
                <a:solidFill>
                  <a:srgbClr val="008000"/>
                </a:solidFill>
                <a:latin typeface="Times New Roman" pitchFamily="18" charset="0"/>
                <a:cs typeface="Times New Roman" pitchFamily="18" charset="0"/>
              </a:rPr>
              <a:t>1</a:t>
            </a:r>
            <a:r>
              <a:rPr lang="fr-FR" i="1" dirty="0" smtClean="0">
                <a:solidFill>
                  <a:srgbClr val="008000"/>
                </a:solidFill>
                <a:latin typeface="Times New Roman" pitchFamily="18" charset="0"/>
                <a:cs typeface="Times New Roman" pitchFamily="18" charset="0"/>
              </a:rPr>
              <a:t>, ..., </a:t>
            </a:r>
            <a:r>
              <a:rPr lang="fr-FR" i="1" dirty="0" err="1" smtClean="0">
                <a:solidFill>
                  <a:srgbClr val="008000"/>
                </a:solidFill>
                <a:latin typeface="Times New Roman" pitchFamily="18" charset="0"/>
                <a:cs typeface="Times New Roman" pitchFamily="18" charset="0"/>
              </a:rPr>
              <a:t>vare</a:t>
            </a:r>
            <a:r>
              <a:rPr lang="fr-FR" i="1" baseline="-30000" dirty="0" err="1" smtClean="0">
                <a:solidFill>
                  <a:srgbClr val="008000"/>
                </a:solidFill>
                <a:latin typeface="Times New Roman" pitchFamily="18" charset="0"/>
                <a:cs typeface="Times New Roman" pitchFamily="18" charset="0"/>
              </a:rPr>
              <a:t>n</a:t>
            </a:r>
            <a:r>
              <a:rPr lang="fr-FR" i="1" dirty="0" smtClean="0">
                <a:solidFill>
                  <a:srgbClr val="008000"/>
                </a:solidFill>
                <a:latin typeface="Times New Roman" pitchFamily="18" charset="0"/>
                <a:cs typeface="Times New Roman" pitchFamily="18" charset="0"/>
              </a:rPr>
              <a:t> </a:t>
            </a:r>
            <a:r>
              <a:rPr lang="fr-FR" dirty="0" smtClean="0">
                <a:solidFill>
                  <a:srgbClr val="000000"/>
                </a:solidFill>
                <a:latin typeface="Times New Roman" pitchFamily="18" charset="0"/>
                <a:cs typeface="Times New Roman" pitchFamily="18" charset="0"/>
              </a:rPr>
              <a:t>sont les variables d'entrée de la fonction;</a:t>
            </a:r>
          </a:p>
          <a:p>
            <a:pPr lvl="0" eaLnBrk="0" fontAlgn="base" hangingPunct="0">
              <a:spcBef>
                <a:spcPct val="0"/>
              </a:spcBef>
              <a:spcAft>
                <a:spcPct val="0"/>
              </a:spcAft>
              <a:buFontTx/>
              <a:buChar char="•"/>
            </a:pPr>
            <a:r>
              <a:rPr lang="fr-FR" i="1" dirty="0" smtClean="0">
                <a:solidFill>
                  <a:srgbClr val="008000"/>
                </a:solidFill>
                <a:latin typeface="Times New Roman" pitchFamily="18" charset="0"/>
                <a:cs typeface="Times New Roman" pitchFamily="18" charset="0"/>
              </a:rPr>
              <a:t>séquence d'instructions</a:t>
            </a:r>
            <a:r>
              <a:rPr lang="fr-FR" dirty="0" smtClean="0">
                <a:solidFill>
                  <a:srgbClr val="000000"/>
                </a:solidFill>
                <a:latin typeface="Times New Roman" pitchFamily="18" charset="0"/>
                <a:cs typeface="Times New Roman" pitchFamily="18" charset="0"/>
              </a:rPr>
              <a:t> est le corps de la fonction.</a:t>
            </a:r>
          </a:p>
          <a:p>
            <a:pPr lvl="0" eaLnBrk="0" fontAlgn="base" hangingPunct="0">
              <a:spcBef>
                <a:spcPct val="0"/>
              </a:spcBef>
              <a:spcAft>
                <a:spcPct val="0"/>
              </a:spcAft>
            </a:pPr>
            <a:r>
              <a:rPr lang="fr-FR" dirty="0" smtClean="0">
                <a:latin typeface="Arial" pitchFamily="34" charset="0"/>
                <a:cs typeface="Arial" pitchFamily="34" charset="0"/>
              </a:rPr>
              <a:t/>
            </a:r>
            <a:br>
              <a:rPr lang="fr-FR" dirty="0" smtClean="0">
                <a:latin typeface="Arial" pitchFamily="34" charset="0"/>
                <a:cs typeface="Arial" pitchFamily="34" charset="0"/>
              </a:rPr>
            </a:br>
            <a:endParaRPr lang="fr-FR"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ChangeArrowheads="1"/>
          </p:cNvSpPr>
          <p:nvPr/>
        </p:nvSpPr>
        <p:spPr bwMode="auto">
          <a:xfrm>
            <a:off x="827584" y="548680"/>
            <a:ext cx="7596336" cy="313932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fr-FR" sz="2000" dirty="0" smtClean="0">
                <a:solidFill>
                  <a:srgbClr val="000000"/>
                </a:solidFill>
                <a:latin typeface="Times New Roman" pitchFamily="18" charset="0"/>
                <a:cs typeface="Times New Roman" pitchFamily="18" charset="0"/>
              </a:rPr>
              <a:t> </a:t>
            </a:r>
            <a:endParaRPr lang="fr-FR" sz="2000" b="1" dirty="0" smtClean="0">
              <a:solidFill>
                <a:srgbClr val="8000FF"/>
              </a:solidFill>
              <a:latin typeface="Times New Roman" pitchFamily="18" charset="0"/>
              <a:cs typeface="Times New Roman" pitchFamily="18" charset="0"/>
            </a:endParaRPr>
          </a:p>
          <a:p>
            <a:pPr lvl="0" fontAlgn="base">
              <a:spcBef>
                <a:spcPct val="0"/>
              </a:spcBef>
              <a:spcAft>
                <a:spcPct val="0"/>
              </a:spcAft>
            </a:pPr>
            <a:r>
              <a:rPr kumimoji="0" lang="fr-FR" sz="2000" b="0" i="0" u="none" strike="noStrike" cap="none" normalizeH="0" baseline="0" dirty="0" smtClean="0">
                <a:ln>
                  <a:noFill/>
                </a:ln>
                <a:solidFill>
                  <a:srgbClr val="000000"/>
                </a:solidFill>
                <a:effectLst/>
                <a:latin typeface="Times New Roman" pitchFamily="18" charset="0"/>
                <a:cs typeface="Times New Roman" pitchFamily="18" charset="0"/>
              </a:rPr>
              <a:t>Le fichier doit impérativement commencer par le mot-clé </a:t>
            </a:r>
            <a:r>
              <a:rPr kumimoji="0" lang="fr-FR" sz="2000" b="1" i="0" u="none" strike="noStrike" cap="none" normalizeH="0" baseline="0" dirty="0" err="1" smtClean="0">
                <a:ln>
                  <a:noFill/>
                </a:ln>
                <a:solidFill>
                  <a:srgbClr val="FF0000"/>
                </a:solidFill>
                <a:effectLst/>
                <a:latin typeface="Times New Roman" pitchFamily="18" charset="0"/>
                <a:cs typeface="Times New Roman" pitchFamily="18" charset="0"/>
              </a:rPr>
              <a:t>function</a:t>
            </a:r>
            <a:r>
              <a:rPr kumimoji="0" lang="fr-FR" sz="2000" b="0" i="0" u="none" strike="noStrike" cap="none" normalizeH="0" baseline="0" dirty="0" smtClean="0">
                <a:ln>
                  <a:noFill/>
                </a:ln>
                <a:solidFill>
                  <a:srgbClr val="000000"/>
                </a:solidFill>
                <a:effectLst/>
                <a:latin typeface="Times New Roman" pitchFamily="18" charset="0"/>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dirty="0" smtClean="0">
                <a:ln>
                  <a:noFill/>
                </a:ln>
                <a:solidFill>
                  <a:srgbClr val="000000"/>
                </a:solidFill>
                <a:effectLst/>
                <a:latin typeface="Times New Roman" pitchFamily="18" charset="0"/>
                <a:cs typeface="Times New Roman" pitchFamily="18" charset="0"/>
              </a:rPr>
              <a:t>Suit entre crochets les variables de sortie de la fonction,</a:t>
            </a:r>
          </a:p>
          <a:p>
            <a:pPr marL="0" marR="0" lvl="0" indent="0" algn="l" defTabSz="9144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dirty="0" smtClean="0">
                <a:ln>
                  <a:noFill/>
                </a:ln>
                <a:solidFill>
                  <a:srgbClr val="000000"/>
                </a:solidFill>
                <a:effectLst/>
                <a:latin typeface="Times New Roman" pitchFamily="18" charset="0"/>
                <a:cs typeface="Times New Roman" pitchFamily="18" charset="0"/>
              </a:rPr>
              <a:t> le symbole </a:t>
            </a:r>
            <a:r>
              <a:rPr kumimoji="0" lang="fr-FR" sz="2000" b="1" i="0" u="none" strike="noStrike" cap="none" normalizeH="0" baseline="0" dirty="0" smtClean="0">
                <a:ln>
                  <a:noFill/>
                </a:ln>
                <a:solidFill>
                  <a:srgbClr val="FF0000"/>
                </a:solidFill>
                <a:effectLst/>
                <a:latin typeface="Times New Roman" pitchFamily="18" charset="0"/>
                <a:cs typeface="Times New Roman" pitchFamily="18" charset="0"/>
              </a:rPr>
              <a:t>=</a:t>
            </a:r>
            <a:r>
              <a:rPr kumimoji="0" lang="fr-FR" sz="2000" b="0" i="0" u="none" strike="noStrike" cap="none" normalizeH="0" baseline="0" dirty="0" smtClean="0">
                <a:ln>
                  <a:noFill/>
                </a:ln>
                <a:solidFill>
                  <a:srgbClr val="000000"/>
                </a:solidFill>
                <a:effectLst/>
                <a:latin typeface="Times New Roman" pitchFamily="18" charset="0"/>
                <a:cs typeface="Times New Roman" pitchFamily="18" charset="0"/>
              </a:rPr>
              <a:t>, le nom de la fonction et enfin les variables d'entrée entre parenthèses. Si la fonction ne possède qu'une seule variable de sortie, les crochets sont inutiles. </a:t>
            </a:r>
          </a:p>
          <a:p>
            <a:pPr marL="0" marR="0" lvl="0" indent="0" algn="l" defTabSz="9144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dirty="0" smtClean="0">
                <a:ln>
                  <a:noFill/>
                </a:ln>
                <a:solidFill>
                  <a:srgbClr val="000000"/>
                </a:solidFill>
                <a:effectLst/>
                <a:latin typeface="Times New Roman" pitchFamily="18" charset="0"/>
                <a:cs typeface="Times New Roman" pitchFamily="18" charset="0"/>
              </a:rPr>
              <a:t>Il est impératif que la fonction ayant pour nom </a:t>
            </a:r>
            <a:r>
              <a:rPr kumimoji="0" lang="fr-FR" sz="2000" b="1" i="0" u="none" strike="noStrike" cap="none" normalizeH="0" baseline="0" dirty="0" err="1" smtClean="0">
                <a:ln>
                  <a:noFill/>
                </a:ln>
                <a:solidFill>
                  <a:srgbClr val="8000FF"/>
                </a:solidFill>
                <a:effectLst/>
                <a:latin typeface="Times New Roman" pitchFamily="18" charset="0"/>
                <a:cs typeface="Times New Roman" pitchFamily="18" charset="0"/>
              </a:rPr>
              <a:t>fonc</a:t>
            </a:r>
            <a:r>
              <a:rPr kumimoji="0" lang="fr-FR" sz="2000" b="0" i="0" u="none" strike="noStrike" cap="none" normalizeH="0" baseline="0" dirty="0" smtClean="0">
                <a:ln>
                  <a:noFill/>
                </a:ln>
                <a:solidFill>
                  <a:srgbClr val="000000"/>
                </a:solidFill>
                <a:effectLst/>
                <a:latin typeface="Times New Roman" pitchFamily="18" charset="0"/>
                <a:cs typeface="Times New Roman" pitchFamily="18" charset="0"/>
              </a:rPr>
              <a:t> soit enregistrée dans un fichier de nom </a:t>
            </a:r>
            <a:r>
              <a:rPr kumimoji="0" lang="fr-FR" sz="2000" b="1" i="0" u="none" strike="noStrike" cap="none" normalizeH="0" baseline="0" dirty="0" err="1" smtClean="0">
                <a:ln>
                  <a:noFill/>
                </a:ln>
                <a:solidFill>
                  <a:srgbClr val="8000FF"/>
                </a:solidFill>
                <a:effectLst/>
                <a:latin typeface="Times New Roman" pitchFamily="18" charset="0"/>
                <a:cs typeface="Times New Roman" pitchFamily="18" charset="0"/>
              </a:rPr>
              <a:t>fonc.m</a:t>
            </a:r>
            <a:r>
              <a:rPr kumimoji="0" lang="fr-FR" sz="2000" b="0" i="0" u="none" strike="noStrike" cap="none" normalizeH="0" baseline="0" dirty="0" smtClean="0">
                <a:ln>
                  <a:noFill/>
                </a:ln>
                <a:solidFill>
                  <a:srgbClr val="000000"/>
                </a:solidFill>
                <a:effectLst/>
                <a:latin typeface="Times New Roman" pitchFamily="18" charset="0"/>
                <a:cs typeface="Times New Roman" pitchFamily="18" charset="0"/>
              </a:rPr>
              <a:t> sans quoi cette fonction ne sera pas &lt;&lt; visible &gt;&gt; par  MATLAB.</a:t>
            </a:r>
            <a:r>
              <a:rPr kumimoji="0" lang="fr-FR" b="0" i="0" u="none" strike="noStrike" cap="none" normalizeH="0" baseline="0" dirty="0" smtClean="0">
                <a:ln>
                  <a:noFill/>
                </a:ln>
                <a:solidFill>
                  <a:schemeClr val="tx1"/>
                </a:solidFill>
                <a:effectLst/>
                <a:latin typeface="Times New Roman" pitchFamily="18" charset="0"/>
                <a:cs typeface="Times New Roman" pitchFamily="18" charset="0"/>
              </a:rPr>
              <a:t/>
            </a:r>
            <a:br>
              <a:rPr kumimoji="0" lang="fr-FR" b="0" i="0" u="none" strike="noStrike" cap="none" normalizeH="0" baseline="0" dirty="0" smtClean="0">
                <a:ln>
                  <a:noFill/>
                </a:ln>
                <a:solidFill>
                  <a:schemeClr val="tx1"/>
                </a:solidFill>
                <a:effectLst/>
                <a:latin typeface="Times New Roman" pitchFamily="18" charset="0"/>
                <a:cs typeface="Times New Roman" pitchFamily="18" charset="0"/>
              </a:rPr>
            </a:br>
            <a:r>
              <a:rPr kumimoji="0" lang="fr-FR" b="0" i="0" u="none" strike="noStrike" cap="none" normalizeH="0" baseline="0" dirty="0" smtClean="0">
                <a:ln>
                  <a:noFill/>
                </a:ln>
                <a:solidFill>
                  <a:srgbClr val="000000"/>
                </a:solidFill>
                <a:effectLst/>
                <a:latin typeface="Times New Roman" pitchFamily="18" charset="0"/>
                <a:cs typeface="Times New Roman" pitchFamily="18" charset="0"/>
              </a:rPr>
              <a:t> </a:t>
            </a:r>
            <a:r>
              <a:rPr kumimoji="0" lang="fr-FR" b="0" i="0" u="none" strike="noStrike" cap="none" normalizeH="0" baseline="0" dirty="0" smtClean="0">
                <a:ln>
                  <a:noFill/>
                </a:ln>
                <a:solidFill>
                  <a:schemeClr val="tx1"/>
                </a:solidFill>
                <a:effectLst/>
                <a:latin typeface="Times New Roman" pitchFamily="18" charset="0"/>
                <a:cs typeface="Times New Roman" pitchFamily="18" charset="0"/>
              </a:rPr>
              <a:t> </a:t>
            </a:r>
          </a:p>
        </p:txBody>
      </p:sp>
      <p:sp>
        <p:nvSpPr>
          <p:cNvPr id="3" name="Rectangle 2"/>
          <p:cNvSpPr/>
          <p:nvPr/>
        </p:nvSpPr>
        <p:spPr>
          <a:xfrm>
            <a:off x="899592" y="4005064"/>
            <a:ext cx="6480720" cy="369332"/>
          </a:xfrm>
          <a:prstGeom prst="rect">
            <a:avLst/>
          </a:prstGeom>
        </p:spPr>
        <p:txBody>
          <a:bodyPr wrap="square">
            <a:spAutoFit/>
          </a:bodyPr>
          <a:lstStyle/>
          <a:p>
            <a:r>
              <a:rPr lang="fr-FR" dirty="0" smtClean="0">
                <a:solidFill>
                  <a:srgbClr val="000000"/>
                </a:solidFill>
                <a:latin typeface="Times New Roman" pitchFamily="18" charset="0"/>
                <a:cs typeface="Times New Roman" pitchFamily="18" charset="0"/>
              </a:rPr>
              <a:t>Ecrire une fonction qui calcule :  </a:t>
            </a:r>
            <a:endParaRPr lang="fr-FR" dirty="0"/>
          </a:p>
        </p:txBody>
      </p:sp>
      <p:pic>
        <p:nvPicPr>
          <p:cNvPr id="1026" name="Picture 2"/>
          <p:cNvPicPr>
            <a:picLocks noChangeAspect="1" noChangeArrowheads="1"/>
          </p:cNvPicPr>
          <p:nvPr/>
        </p:nvPicPr>
        <p:blipFill>
          <a:blip r:embed="rId2" cstate="print"/>
          <a:srcRect/>
          <a:stretch>
            <a:fillRect/>
          </a:stretch>
        </p:blipFill>
        <p:spPr bwMode="auto">
          <a:xfrm>
            <a:off x="2123728" y="4797152"/>
            <a:ext cx="4597602" cy="10801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81785" y="1268761"/>
            <a:ext cx="8231650" cy="5400599"/>
          </a:xfrm>
          <a:prstGeom prst="rect">
            <a:avLst/>
          </a:prstGeom>
          <a:noFill/>
          <a:ln w="9525">
            <a:noFill/>
            <a:miter lim="800000"/>
            <a:headEnd/>
            <a:tailEnd/>
          </a:ln>
        </p:spPr>
      </p:pic>
      <p:sp>
        <p:nvSpPr>
          <p:cNvPr id="3" name="Rectangle 2"/>
          <p:cNvSpPr/>
          <p:nvPr/>
        </p:nvSpPr>
        <p:spPr>
          <a:xfrm>
            <a:off x="360040" y="260648"/>
            <a:ext cx="8244408" cy="646331"/>
          </a:xfrm>
          <a:prstGeom prst="rect">
            <a:avLst/>
          </a:prstGeom>
        </p:spPr>
        <p:txBody>
          <a:bodyPr wrap="square">
            <a:spAutoFit/>
          </a:bodyPr>
          <a:lstStyle/>
          <a:p>
            <a:pPr algn="ctr"/>
            <a:r>
              <a:rPr lang="fr-FR" dirty="0" err="1" smtClean="0">
                <a:solidFill>
                  <a:srgbClr val="FF0000"/>
                </a:solidFill>
              </a:rPr>
              <a:t>Rq</a:t>
            </a:r>
            <a:r>
              <a:rPr lang="fr-FR" dirty="0" smtClean="0">
                <a:solidFill>
                  <a:srgbClr val="FF0000"/>
                </a:solidFill>
              </a:rPr>
              <a:t>: </a:t>
            </a:r>
            <a:r>
              <a:rPr lang="fr-FR" dirty="0" err="1" smtClean="0">
                <a:solidFill>
                  <a:srgbClr val="FF0000"/>
                </a:solidFill>
              </a:rPr>
              <a:t>Méme</a:t>
            </a:r>
            <a:r>
              <a:rPr lang="fr-FR" dirty="0" smtClean="0">
                <a:solidFill>
                  <a:srgbClr val="FF0000"/>
                </a:solidFill>
              </a:rPr>
              <a:t> exercice du diapositive 10 mais cette fois en utilisant  M-fichier(M-file) et </a:t>
            </a:r>
          </a:p>
          <a:p>
            <a:pPr algn="ctr"/>
            <a:r>
              <a:rPr lang="fr-FR" dirty="0" smtClean="0">
                <a:solidFill>
                  <a:srgbClr val="FF0000"/>
                </a:solidFill>
              </a:rPr>
              <a:t>en créant la fonction degre2(</a:t>
            </a:r>
            <a:r>
              <a:rPr lang="fr-FR" dirty="0" err="1" smtClean="0">
                <a:solidFill>
                  <a:srgbClr val="FF0000"/>
                </a:solidFill>
              </a:rPr>
              <a:t>a,b,c</a:t>
            </a:r>
            <a:r>
              <a:rPr lang="fr-FR" dirty="0" smtClean="0">
                <a:solidFill>
                  <a:srgbClr val="FF0000"/>
                </a:solidFill>
              </a:rPr>
              <a:t>)</a:t>
            </a:r>
            <a:endParaRPr lang="fr-FR"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anim calcmode="lin" valueType="num">
                                      <p:cBhvr additive="base">
                                        <p:cTn id="11" dur="500" fill="hold"/>
                                        <p:tgtEl>
                                          <p:spTgt spid="2050"/>
                                        </p:tgtEl>
                                        <p:attrNameLst>
                                          <p:attrName>ppt_x</p:attrName>
                                        </p:attrNameLst>
                                      </p:cBhvr>
                                      <p:tavLst>
                                        <p:tav tm="0">
                                          <p:val>
                                            <p:strVal val="#ppt_x"/>
                                          </p:val>
                                        </p:tav>
                                        <p:tav tm="100000">
                                          <p:val>
                                            <p:strVal val="#ppt_x"/>
                                          </p:val>
                                        </p:tav>
                                      </p:tavLst>
                                    </p:anim>
                                    <p:anim calcmode="lin" valueType="num">
                                      <p:cBhvr additive="base">
                                        <p:cTn id="12"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357422" y="251937"/>
            <a:ext cx="5117683" cy="584775"/>
          </a:xfrm>
          <a:prstGeom prst="rect">
            <a:avLst/>
          </a:prstGeom>
        </p:spPr>
        <p:txBody>
          <a:bodyPr wrap="none">
            <a:spAutoFit/>
          </a:bodyPr>
          <a:lstStyle/>
          <a:p>
            <a:r>
              <a:rPr lang="fr-FR" sz="3200" b="1" dirty="0" smtClean="0"/>
              <a:t>Programmation: Les Boucles</a:t>
            </a:r>
            <a:endParaRPr lang="fr-FR" sz="3200" b="1" dirty="0"/>
          </a:p>
        </p:txBody>
      </p:sp>
      <p:sp>
        <p:nvSpPr>
          <p:cNvPr id="4" name="Rectangle 3"/>
          <p:cNvSpPr/>
          <p:nvPr/>
        </p:nvSpPr>
        <p:spPr>
          <a:xfrm>
            <a:off x="611560" y="1142984"/>
            <a:ext cx="4572000" cy="2308324"/>
          </a:xfrm>
          <a:prstGeom prst="rect">
            <a:avLst/>
          </a:prstGeom>
        </p:spPr>
        <p:txBody>
          <a:bodyPr>
            <a:spAutoFit/>
          </a:bodyPr>
          <a:lstStyle/>
          <a:p>
            <a:r>
              <a:rPr lang="fr-FR" b="1" u="sng" dirty="0" smtClean="0"/>
              <a:t>Boucle for</a:t>
            </a:r>
          </a:p>
          <a:p>
            <a:endParaRPr lang="fr-FR" dirty="0" smtClean="0"/>
          </a:p>
          <a:p>
            <a:r>
              <a:rPr lang="fr-FR" dirty="0" smtClean="0">
                <a:solidFill>
                  <a:srgbClr val="FF3300"/>
                </a:solidFill>
              </a:rPr>
              <a:t>for</a:t>
            </a:r>
            <a:r>
              <a:rPr lang="fr-FR" dirty="0" smtClean="0"/>
              <a:t> </a:t>
            </a:r>
            <a:r>
              <a:rPr lang="fr-FR" dirty="0" smtClean="0">
                <a:solidFill>
                  <a:schemeClr val="accent2"/>
                </a:solidFill>
              </a:rPr>
              <a:t>indice=borne </a:t>
            </a:r>
            <a:r>
              <a:rPr lang="fr-FR" dirty="0" err="1" smtClean="0">
                <a:solidFill>
                  <a:schemeClr val="accent2"/>
                </a:solidFill>
              </a:rPr>
              <a:t>inf</a:t>
            </a:r>
            <a:r>
              <a:rPr lang="fr-FR" dirty="0" smtClean="0">
                <a:solidFill>
                  <a:schemeClr val="accent2"/>
                </a:solidFill>
              </a:rPr>
              <a:t> </a:t>
            </a:r>
            <a:r>
              <a:rPr lang="fr-FR" dirty="0" smtClean="0">
                <a:solidFill>
                  <a:srgbClr val="FF0000"/>
                </a:solidFill>
              </a:rPr>
              <a:t>: </a:t>
            </a:r>
            <a:r>
              <a:rPr lang="fr-FR" dirty="0" smtClean="0">
                <a:solidFill>
                  <a:schemeClr val="accent2"/>
                </a:solidFill>
              </a:rPr>
              <a:t>borne sup</a:t>
            </a:r>
          </a:p>
          <a:p>
            <a:r>
              <a:rPr lang="fr-FR" dirty="0" smtClean="0">
                <a:solidFill>
                  <a:schemeClr val="accent2"/>
                </a:solidFill>
              </a:rPr>
              <a:t>…….</a:t>
            </a:r>
          </a:p>
          <a:p>
            <a:r>
              <a:rPr lang="fr-FR" dirty="0" smtClean="0">
                <a:solidFill>
                  <a:schemeClr val="accent2"/>
                </a:solidFill>
              </a:rPr>
              <a:t>Instructions</a:t>
            </a:r>
          </a:p>
          <a:p>
            <a:r>
              <a:rPr lang="fr-FR" dirty="0" smtClean="0">
                <a:solidFill>
                  <a:schemeClr val="accent2"/>
                </a:solidFill>
              </a:rPr>
              <a:t>…..</a:t>
            </a:r>
          </a:p>
          <a:p>
            <a:r>
              <a:rPr lang="fr-FR" dirty="0" smtClean="0">
                <a:solidFill>
                  <a:srgbClr val="FF3300"/>
                </a:solidFill>
              </a:rPr>
              <a:t>End</a:t>
            </a:r>
          </a:p>
          <a:p>
            <a:endParaRPr lang="fr-FR" dirty="0" smtClean="0">
              <a:solidFill>
                <a:srgbClr val="FF3300"/>
              </a:solidFill>
            </a:endParaRPr>
          </a:p>
        </p:txBody>
      </p:sp>
      <p:sp>
        <p:nvSpPr>
          <p:cNvPr id="5" name="Rectangle 4"/>
          <p:cNvSpPr/>
          <p:nvPr/>
        </p:nvSpPr>
        <p:spPr>
          <a:xfrm>
            <a:off x="755576" y="4077072"/>
            <a:ext cx="4572000" cy="1754326"/>
          </a:xfrm>
          <a:prstGeom prst="rect">
            <a:avLst/>
          </a:prstGeom>
        </p:spPr>
        <p:txBody>
          <a:bodyPr>
            <a:spAutoFit/>
          </a:bodyPr>
          <a:lstStyle/>
          <a:p>
            <a:r>
              <a:rPr lang="fr-FR" b="1" dirty="0" smtClean="0"/>
              <a:t>Exemple:</a:t>
            </a:r>
          </a:p>
          <a:p>
            <a:endParaRPr lang="fr-FR" dirty="0" smtClean="0"/>
          </a:p>
          <a:p>
            <a:r>
              <a:rPr lang="fr-FR" dirty="0" smtClean="0"/>
              <a:t>x=1;</a:t>
            </a:r>
          </a:p>
          <a:p>
            <a:r>
              <a:rPr lang="fr-FR" dirty="0" smtClean="0"/>
              <a:t>for n=1:10</a:t>
            </a:r>
          </a:p>
          <a:p>
            <a:r>
              <a:rPr lang="fr-FR" dirty="0" smtClean="0"/>
              <a:t>x=x*n;</a:t>
            </a:r>
          </a:p>
          <a:p>
            <a:r>
              <a:rPr lang="fr-FR" dirty="0" smtClean="0"/>
              <a:t>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23728" y="251937"/>
            <a:ext cx="5328062" cy="584775"/>
          </a:xfrm>
          <a:prstGeom prst="rect">
            <a:avLst/>
          </a:prstGeom>
        </p:spPr>
        <p:txBody>
          <a:bodyPr wrap="none">
            <a:spAutoFit/>
          </a:bodyPr>
          <a:lstStyle/>
          <a:p>
            <a:r>
              <a:rPr lang="fr-FR" sz="3200" b="1" dirty="0" smtClean="0"/>
              <a:t>Programmation- Les Boucles</a:t>
            </a:r>
            <a:endParaRPr lang="fr-FR" sz="3200" b="1" dirty="0"/>
          </a:p>
        </p:txBody>
      </p:sp>
      <p:sp>
        <p:nvSpPr>
          <p:cNvPr id="4" name="Rectangle 3"/>
          <p:cNvSpPr/>
          <p:nvPr/>
        </p:nvSpPr>
        <p:spPr>
          <a:xfrm>
            <a:off x="642910" y="1142984"/>
            <a:ext cx="4572000" cy="2585323"/>
          </a:xfrm>
          <a:prstGeom prst="rect">
            <a:avLst/>
          </a:prstGeom>
        </p:spPr>
        <p:txBody>
          <a:bodyPr>
            <a:spAutoFit/>
          </a:bodyPr>
          <a:lstStyle/>
          <a:p>
            <a:r>
              <a:rPr lang="fr-FR" b="1" u="sng" dirty="0" smtClean="0"/>
              <a:t>Boucle </a:t>
            </a:r>
            <a:r>
              <a:rPr lang="fr-FR" b="1" u="sng" dirty="0" err="1" smtClean="0"/>
              <a:t>while</a:t>
            </a:r>
            <a:endParaRPr lang="fr-FR" b="1" u="sng" dirty="0" smtClean="0"/>
          </a:p>
          <a:p>
            <a:endParaRPr lang="fr-FR" dirty="0" smtClean="0"/>
          </a:p>
          <a:p>
            <a:r>
              <a:rPr lang="fr-FR" dirty="0" err="1">
                <a:solidFill>
                  <a:srgbClr val="FF0000"/>
                </a:solidFill>
              </a:rPr>
              <a:t>while</a:t>
            </a:r>
            <a:r>
              <a:rPr lang="fr-FR" dirty="0"/>
              <a:t> </a:t>
            </a:r>
            <a:r>
              <a:rPr lang="fr-FR" dirty="0" smtClean="0">
                <a:solidFill>
                  <a:schemeClr val="accent2"/>
                </a:solidFill>
              </a:rPr>
              <a:t>condition </a:t>
            </a:r>
            <a:r>
              <a:rPr lang="fr-FR" dirty="0">
                <a:solidFill>
                  <a:schemeClr val="accent2"/>
                </a:solidFill>
              </a:rPr>
              <a:t>logique</a:t>
            </a:r>
          </a:p>
          <a:p>
            <a:r>
              <a:rPr lang="fr-FR" dirty="0" smtClean="0">
                <a:solidFill>
                  <a:schemeClr val="accent2"/>
                </a:solidFill>
              </a:rPr>
              <a:t>Instructions</a:t>
            </a:r>
          </a:p>
          <a:p>
            <a:r>
              <a:rPr lang="fr-FR" dirty="0" smtClean="0">
                <a:solidFill>
                  <a:schemeClr val="accent2"/>
                </a:solidFill>
              </a:rPr>
              <a:t>……</a:t>
            </a:r>
          </a:p>
          <a:p>
            <a:r>
              <a:rPr lang="fr-FR" dirty="0" smtClean="0">
                <a:solidFill>
                  <a:schemeClr val="accent2"/>
                </a:solidFill>
              </a:rPr>
              <a:t>……</a:t>
            </a:r>
            <a:endParaRPr lang="fr-FR" dirty="0">
              <a:solidFill>
                <a:schemeClr val="accent2"/>
              </a:solidFill>
            </a:endParaRPr>
          </a:p>
          <a:p>
            <a:r>
              <a:rPr lang="fr-FR" dirty="0">
                <a:solidFill>
                  <a:srgbClr val="FF0000"/>
                </a:solidFill>
              </a:rPr>
              <a:t>end</a:t>
            </a:r>
            <a:endParaRPr lang="fr-FR" dirty="0" smtClean="0">
              <a:solidFill>
                <a:srgbClr val="FF0000"/>
              </a:solidFill>
            </a:endParaRPr>
          </a:p>
          <a:p>
            <a:endParaRPr lang="fr-FR" dirty="0" smtClean="0">
              <a:solidFill>
                <a:srgbClr val="FF3300"/>
              </a:solidFill>
            </a:endParaRPr>
          </a:p>
          <a:p>
            <a:endParaRPr lang="fr-FR" dirty="0" smtClean="0">
              <a:solidFill>
                <a:srgbClr val="FF0000"/>
              </a:solidFill>
            </a:endParaRPr>
          </a:p>
        </p:txBody>
      </p:sp>
      <p:pic>
        <p:nvPicPr>
          <p:cNvPr id="6" name="Picture 2"/>
          <p:cNvPicPr>
            <a:picLocks noChangeAspect="1" noChangeArrowheads="1"/>
          </p:cNvPicPr>
          <p:nvPr/>
        </p:nvPicPr>
        <p:blipFill>
          <a:blip r:embed="rId2" cstate="print"/>
          <a:srcRect/>
          <a:stretch>
            <a:fillRect/>
          </a:stretch>
        </p:blipFill>
        <p:spPr bwMode="auto">
          <a:xfrm>
            <a:off x="3851920" y="1628800"/>
            <a:ext cx="3776692" cy="928489"/>
          </a:xfrm>
          <a:prstGeom prst="rect">
            <a:avLst/>
          </a:prstGeom>
          <a:noFill/>
          <a:ln w="9525">
            <a:noFill/>
            <a:miter lim="800000"/>
            <a:headEnd/>
            <a:tailEnd/>
          </a:ln>
        </p:spPr>
      </p:pic>
      <p:sp>
        <p:nvSpPr>
          <p:cNvPr id="7" name="Rectangle 6"/>
          <p:cNvSpPr/>
          <p:nvPr/>
        </p:nvSpPr>
        <p:spPr>
          <a:xfrm>
            <a:off x="899592" y="4149080"/>
            <a:ext cx="4572000" cy="2031325"/>
          </a:xfrm>
          <a:prstGeom prst="rect">
            <a:avLst/>
          </a:prstGeom>
        </p:spPr>
        <p:txBody>
          <a:bodyPr>
            <a:spAutoFit/>
          </a:bodyPr>
          <a:lstStyle/>
          <a:p>
            <a:r>
              <a:rPr lang="fr-FR" b="1" dirty="0" smtClean="0"/>
              <a:t>Exemple:</a:t>
            </a:r>
          </a:p>
          <a:p>
            <a:r>
              <a:rPr lang="fr-FR" dirty="0" smtClean="0"/>
              <a:t>x=1;</a:t>
            </a:r>
          </a:p>
          <a:p>
            <a:r>
              <a:rPr lang="fr-FR" dirty="0" smtClean="0"/>
              <a:t>n=0;</a:t>
            </a:r>
          </a:p>
          <a:p>
            <a:r>
              <a:rPr lang="fr-FR" dirty="0" err="1" smtClean="0">
                <a:solidFill>
                  <a:srgbClr val="FF0000"/>
                </a:solidFill>
              </a:rPr>
              <a:t>while</a:t>
            </a:r>
            <a:r>
              <a:rPr lang="fr-FR" dirty="0" smtClean="0"/>
              <a:t>  n&lt;10</a:t>
            </a:r>
          </a:p>
          <a:p>
            <a:r>
              <a:rPr lang="fr-FR" dirty="0" smtClean="0"/>
              <a:t>n=n+1;</a:t>
            </a:r>
          </a:p>
          <a:p>
            <a:r>
              <a:rPr lang="fr-FR" dirty="0" smtClean="0"/>
              <a:t>x=x*n;</a:t>
            </a:r>
          </a:p>
          <a:p>
            <a:r>
              <a:rPr lang="fr-FR" dirty="0" smtClean="0">
                <a:solidFill>
                  <a:srgbClr val="FF0000"/>
                </a:solidFill>
              </a:rPr>
              <a:t>end</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75656" y="323945"/>
            <a:ext cx="7069692" cy="584775"/>
          </a:xfrm>
          <a:prstGeom prst="rect">
            <a:avLst/>
          </a:prstGeom>
        </p:spPr>
        <p:txBody>
          <a:bodyPr wrap="none">
            <a:spAutoFit/>
          </a:bodyPr>
          <a:lstStyle/>
          <a:p>
            <a:r>
              <a:rPr lang="fr-FR" sz="3200" b="1" dirty="0" smtClean="0"/>
              <a:t>Programmation-- </a:t>
            </a:r>
            <a:r>
              <a:rPr lang="fr-FR" sz="3200" b="1" dirty="0"/>
              <a:t>Les </a:t>
            </a:r>
            <a:r>
              <a:rPr lang="fr-FR" sz="3200" b="1" dirty="0" smtClean="0"/>
              <a:t>Tests (Conditions)</a:t>
            </a:r>
            <a:endParaRPr lang="fr-FR" sz="3200" b="1" dirty="0"/>
          </a:p>
        </p:txBody>
      </p:sp>
      <p:sp>
        <p:nvSpPr>
          <p:cNvPr id="6" name="Rectangle 5"/>
          <p:cNvSpPr/>
          <p:nvPr/>
        </p:nvSpPr>
        <p:spPr>
          <a:xfrm>
            <a:off x="611560" y="1340768"/>
            <a:ext cx="4572000" cy="2031325"/>
          </a:xfrm>
          <a:prstGeom prst="rect">
            <a:avLst/>
          </a:prstGeom>
        </p:spPr>
        <p:txBody>
          <a:bodyPr>
            <a:spAutoFit/>
          </a:bodyPr>
          <a:lstStyle/>
          <a:p>
            <a:r>
              <a:rPr lang="fr-FR" b="1" u="sng" dirty="0" smtClean="0"/>
              <a:t>Test simple</a:t>
            </a:r>
          </a:p>
          <a:p>
            <a:endParaRPr lang="fr-FR" dirty="0" smtClean="0"/>
          </a:p>
          <a:p>
            <a:r>
              <a:rPr lang="fr-FR" dirty="0" smtClean="0">
                <a:solidFill>
                  <a:srgbClr val="FF0000"/>
                </a:solidFill>
              </a:rPr>
              <a:t>if</a:t>
            </a:r>
            <a:r>
              <a:rPr lang="fr-FR" dirty="0" smtClean="0"/>
              <a:t> </a:t>
            </a:r>
            <a:r>
              <a:rPr lang="fr-FR" dirty="0" smtClean="0">
                <a:solidFill>
                  <a:schemeClr val="accent2"/>
                </a:solidFill>
              </a:rPr>
              <a:t>condition logique</a:t>
            </a:r>
          </a:p>
          <a:p>
            <a:r>
              <a:rPr lang="fr-FR" dirty="0" smtClean="0">
                <a:solidFill>
                  <a:schemeClr val="accent2"/>
                </a:solidFill>
              </a:rPr>
              <a:t>Instructions</a:t>
            </a:r>
          </a:p>
          <a:p>
            <a:r>
              <a:rPr lang="fr-FR" dirty="0" smtClean="0">
                <a:solidFill>
                  <a:schemeClr val="accent2"/>
                </a:solidFill>
              </a:rPr>
              <a:t>……</a:t>
            </a:r>
          </a:p>
          <a:p>
            <a:r>
              <a:rPr lang="fr-FR" dirty="0" smtClean="0">
                <a:solidFill>
                  <a:schemeClr val="accent2"/>
                </a:solidFill>
              </a:rPr>
              <a:t>…..</a:t>
            </a:r>
          </a:p>
          <a:p>
            <a:r>
              <a:rPr lang="fr-FR" dirty="0" smtClean="0">
                <a:solidFill>
                  <a:srgbClr val="FF0000"/>
                </a:solidFill>
              </a:rPr>
              <a:t>End</a:t>
            </a:r>
          </a:p>
        </p:txBody>
      </p:sp>
      <p:sp>
        <p:nvSpPr>
          <p:cNvPr id="7" name="Rectangle 6"/>
          <p:cNvSpPr/>
          <p:nvPr/>
        </p:nvSpPr>
        <p:spPr>
          <a:xfrm>
            <a:off x="827584" y="4221088"/>
            <a:ext cx="4572000" cy="1477328"/>
          </a:xfrm>
          <a:prstGeom prst="rect">
            <a:avLst/>
          </a:prstGeom>
        </p:spPr>
        <p:txBody>
          <a:bodyPr>
            <a:spAutoFit/>
          </a:bodyPr>
          <a:lstStyle/>
          <a:p>
            <a:r>
              <a:rPr lang="fr-FR" b="1" dirty="0" smtClean="0"/>
              <a:t>Exemple:</a:t>
            </a:r>
          </a:p>
          <a:p>
            <a:r>
              <a:rPr lang="fr-FR" dirty="0" smtClean="0"/>
              <a:t>n=10;</a:t>
            </a:r>
          </a:p>
          <a:p>
            <a:r>
              <a:rPr lang="fr-FR" dirty="0" smtClean="0">
                <a:solidFill>
                  <a:srgbClr val="FF0000"/>
                </a:solidFill>
              </a:rPr>
              <a:t>if</a:t>
            </a:r>
            <a:r>
              <a:rPr lang="fr-FR" dirty="0" smtClean="0"/>
              <a:t> n&lt;11</a:t>
            </a:r>
          </a:p>
          <a:p>
            <a:r>
              <a:rPr lang="fr-FR" dirty="0" smtClean="0"/>
              <a:t>x=</a:t>
            </a:r>
            <a:r>
              <a:rPr lang="fr-FR" dirty="0" err="1" smtClean="0"/>
              <a:t>factorial</a:t>
            </a:r>
            <a:r>
              <a:rPr lang="fr-FR" dirty="0" smtClean="0"/>
              <a:t>(n);</a:t>
            </a:r>
          </a:p>
          <a:p>
            <a:r>
              <a:rPr lang="fr-FR" dirty="0" smtClean="0">
                <a:solidFill>
                  <a:srgbClr val="FF0000"/>
                </a:solidFill>
              </a:rPr>
              <a:t>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357422" y="251937"/>
            <a:ext cx="4530984" cy="584775"/>
          </a:xfrm>
          <a:prstGeom prst="rect">
            <a:avLst/>
          </a:prstGeom>
        </p:spPr>
        <p:txBody>
          <a:bodyPr wrap="none">
            <a:spAutoFit/>
          </a:bodyPr>
          <a:lstStyle/>
          <a:p>
            <a:r>
              <a:rPr lang="fr-FR" sz="3200" b="1" dirty="0" smtClean="0"/>
              <a:t>Programmation: </a:t>
            </a:r>
            <a:r>
              <a:rPr lang="fr-FR" sz="3200" b="1" dirty="0"/>
              <a:t>Les </a:t>
            </a:r>
            <a:r>
              <a:rPr lang="fr-FR" sz="3200" b="1" dirty="0" smtClean="0"/>
              <a:t>Tests</a:t>
            </a:r>
            <a:endParaRPr lang="fr-FR" sz="3200" b="1" dirty="0"/>
          </a:p>
        </p:txBody>
      </p:sp>
      <p:sp>
        <p:nvSpPr>
          <p:cNvPr id="4" name="Rectangle 3"/>
          <p:cNvSpPr/>
          <p:nvPr/>
        </p:nvSpPr>
        <p:spPr>
          <a:xfrm>
            <a:off x="539552" y="1142984"/>
            <a:ext cx="4572000" cy="3416320"/>
          </a:xfrm>
          <a:prstGeom prst="rect">
            <a:avLst/>
          </a:prstGeom>
        </p:spPr>
        <p:txBody>
          <a:bodyPr>
            <a:spAutoFit/>
          </a:bodyPr>
          <a:lstStyle/>
          <a:p>
            <a:r>
              <a:rPr lang="fr-FR" b="1" u="sng" dirty="0"/>
              <a:t>Tests </a:t>
            </a:r>
            <a:r>
              <a:rPr lang="fr-FR" b="1" u="sng" dirty="0" smtClean="0"/>
              <a:t>multiples</a:t>
            </a:r>
          </a:p>
          <a:p>
            <a:endParaRPr lang="fr-FR" dirty="0"/>
          </a:p>
          <a:p>
            <a:r>
              <a:rPr lang="fr-FR" dirty="0">
                <a:solidFill>
                  <a:srgbClr val="FF3300"/>
                </a:solidFill>
              </a:rPr>
              <a:t>if</a:t>
            </a:r>
            <a:r>
              <a:rPr lang="fr-FR" dirty="0"/>
              <a:t> </a:t>
            </a:r>
            <a:r>
              <a:rPr lang="fr-FR" dirty="0" smtClean="0">
                <a:solidFill>
                  <a:schemeClr val="accent2"/>
                </a:solidFill>
              </a:rPr>
              <a:t>condition logique </a:t>
            </a:r>
            <a:r>
              <a:rPr lang="fr-FR" dirty="0">
                <a:solidFill>
                  <a:schemeClr val="accent2"/>
                </a:solidFill>
              </a:rPr>
              <a:t>1</a:t>
            </a:r>
          </a:p>
          <a:p>
            <a:r>
              <a:rPr lang="fr-FR" dirty="0">
                <a:solidFill>
                  <a:schemeClr val="accent2"/>
                </a:solidFill>
              </a:rPr>
              <a:t>instructions </a:t>
            </a:r>
            <a:r>
              <a:rPr lang="fr-FR" dirty="0" smtClean="0">
                <a:solidFill>
                  <a:schemeClr val="accent2"/>
                </a:solidFill>
              </a:rPr>
              <a:t>1</a:t>
            </a:r>
          </a:p>
          <a:p>
            <a:r>
              <a:rPr lang="fr-FR" dirty="0" smtClean="0">
                <a:solidFill>
                  <a:schemeClr val="accent2"/>
                </a:solidFill>
              </a:rPr>
              <a:t>…….</a:t>
            </a:r>
            <a:endParaRPr lang="fr-FR" dirty="0">
              <a:solidFill>
                <a:schemeClr val="accent2"/>
              </a:solidFill>
            </a:endParaRPr>
          </a:p>
          <a:p>
            <a:r>
              <a:rPr lang="fr-FR" dirty="0" err="1">
                <a:solidFill>
                  <a:srgbClr val="FF3300"/>
                </a:solidFill>
              </a:rPr>
              <a:t>elseif</a:t>
            </a:r>
            <a:r>
              <a:rPr lang="fr-FR" dirty="0"/>
              <a:t> </a:t>
            </a:r>
            <a:r>
              <a:rPr lang="fr-FR" dirty="0" smtClean="0">
                <a:solidFill>
                  <a:schemeClr val="accent2"/>
                </a:solidFill>
              </a:rPr>
              <a:t>condition logique </a:t>
            </a:r>
            <a:r>
              <a:rPr lang="fr-FR" dirty="0">
                <a:solidFill>
                  <a:schemeClr val="accent2"/>
                </a:solidFill>
              </a:rPr>
              <a:t>2</a:t>
            </a:r>
          </a:p>
          <a:p>
            <a:r>
              <a:rPr lang="fr-FR" dirty="0">
                <a:solidFill>
                  <a:schemeClr val="accent2"/>
                </a:solidFill>
              </a:rPr>
              <a:t>instructions </a:t>
            </a:r>
            <a:r>
              <a:rPr lang="fr-FR" dirty="0" smtClean="0">
                <a:solidFill>
                  <a:schemeClr val="accent2"/>
                </a:solidFill>
              </a:rPr>
              <a:t>2</a:t>
            </a:r>
          </a:p>
          <a:p>
            <a:r>
              <a:rPr lang="fr-FR" dirty="0" smtClean="0">
                <a:solidFill>
                  <a:schemeClr val="accent2"/>
                </a:solidFill>
              </a:rPr>
              <a:t>……</a:t>
            </a:r>
            <a:endParaRPr lang="fr-FR" dirty="0">
              <a:solidFill>
                <a:schemeClr val="accent2"/>
              </a:solidFill>
            </a:endParaRPr>
          </a:p>
          <a:p>
            <a:r>
              <a:rPr lang="fr-FR" dirty="0" err="1">
                <a:solidFill>
                  <a:srgbClr val="FF3300"/>
                </a:solidFill>
              </a:rPr>
              <a:t>else</a:t>
            </a:r>
            <a:endParaRPr lang="fr-FR" dirty="0">
              <a:solidFill>
                <a:srgbClr val="FF3300"/>
              </a:solidFill>
            </a:endParaRPr>
          </a:p>
          <a:p>
            <a:r>
              <a:rPr lang="fr-FR" dirty="0">
                <a:solidFill>
                  <a:schemeClr val="accent2"/>
                </a:solidFill>
              </a:rPr>
              <a:t>instructions </a:t>
            </a:r>
            <a:r>
              <a:rPr lang="fr-FR" dirty="0" smtClean="0">
                <a:solidFill>
                  <a:schemeClr val="accent2"/>
                </a:solidFill>
              </a:rPr>
              <a:t>3</a:t>
            </a:r>
          </a:p>
          <a:p>
            <a:r>
              <a:rPr lang="fr-FR" dirty="0" smtClean="0">
                <a:solidFill>
                  <a:schemeClr val="accent2"/>
                </a:solidFill>
              </a:rPr>
              <a:t>……</a:t>
            </a:r>
            <a:endParaRPr lang="fr-FR" dirty="0">
              <a:solidFill>
                <a:schemeClr val="accent2"/>
              </a:solidFill>
            </a:endParaRPr>
          </a:p>
          <a:p>
            <a:r>
              <a:rPr lang="fr-FR" dirty="0">
                <a:solidFill>
                  <a:srgbClr val="FF3300"/>
                </a:solidFill>
              </a:rPr>
              <a:t>end</a:t>
            </a:r>
            <a:endParaRPr lang="fr-FR" dirty="0" smtClean="0">
              <a:solidFill>
                <a:srgbClr val="FF3300"/>
              </a:solidFill>
            </a:endParaRPr>
          </a:p>
        </p:txBody>
      </p:sp>
      <p:sp>
        <p:nvSpPr>
          <p:cNvPr id="5" name="Rectangle 4"/>
          <p:cNvSpPr/>
          <p:nvPr/>
        </p:nvSpPr>
        <p:spPr>
          <a:xfrm>
            <a:off x="3635896" y="3280916"/>
            <a:ext cx="4572000" cy="2308324"/>
          </a:xfrm>
          <a:prstGeom prst="rect">
            <a:avLst/>
          </a:prstGeom>
        </p:spPr>
        <p:txBody>
          <a:bodyPr wrap="square">
            <a:spAutoFit/>
          </a:bodyPr>
          <a:lstStyle/>
          <a:p>
            <a:r>
              <a:rPr lang="fr-FR" b="1" dirty="0" smtClean="0"/>
              <a:t>Exemple:</a:t>
            </a:r>
            <a:endParaRPr lang="fr-FR" b="1" dirty="0"/>
          </a:p>
          <a:p>
            <a:r>
              <a:rPr lang="fr-FR" dirty="0" smtClean="0">
                <a:solidFill>
                  <a:srgbClr val="FF3300"/>
                </a:solidFill>
              </a:rPr>
              <a:t>if</a:t>
            </a:r>
            <a:r>
              <a:rPr lang="fr-FR" dirty="0" smtClean="0"/>
              <a:t> </a:t>
            </a:r>
            <a:r>
              <a:rPr lang="fr-FR" dirty="0" smtClean="0">
                <a:solidFill>
                  <a:schemeClr val="accent2"/>
                </a:solidFill>
              </a:rPr>
              <a:t>n&gt;0</a:t>
            </a:r>
            <a:endParaRPr lang="fr-FR" dirty="0">
              <a:solidFill>
                <a:schemeClr val="accent2"/>
              </a:solidFill>
            </a:endParaRPr>
          </a:p>
          <a:p>
            <a:r>
              <a:rPr lang="fr-FR" dirty="0" smtClean="0">
                <a:solidFill>
                  <a:schemeClr val="accent2"/>
                </a:solidFill>
              </a:rPr>
              <a:t>x=x+1;</a:t>
            </a:r>
          </a:p>
          <a:p>
            <a:r>
              <a:rPr lang="fr-FR" dirty="0" err="1" smtClean="0">
                <a:solidFill>
                  <a:srgbClr val="FF3300"/>
                </a:solidFill>
              </a:rPr>
              <a:t>elseif</a:t>
            </a:r>
            <a:r>
              <a:rPr lang="fr-FR" dirty="0" smtClean="0"/>
              <a:t> </a:t>
            </a:r>
            <a:r>
              <a:rPr lang="fr-FR" dirty="0" smtClean="0">
                <a:solidFill>
                  <a:schemeClr val="accent2"/>
                </a:solidFill>
              </a:rPr>
              <a:t>n==0</a:t>
            </a:r>
            <a:endParaRPr lang="fr-FR" dirty="0">
              <a:solidFill>
                <a:schemeClr val="accent2"/>
              </a:solidFill>
            </a:endParaRPr>
          </a:p>
          <a:p>
            <a:r>
              <a:rPr lang="fr-FR" dirty="0" smtClean="0">
                <a:solidFill>
                  <a:schemeClr val="accent2"/>
                </a:solidFill>
              </a:rPr>
              <a:t>x=x; </a:t>
            </a:r>
          </a:p>
          <a:p>
            <a:r>
              <a:rPr lang="fr-FR" dirty="0" err="1" smtClean="0">
                <a:solidFill>
                  <a:srgbClr val="FF3300"/>
                </a:solidFill>
              </a:rPr>
              <a:t>else</a:t>
            </a:r>
            <a:endParaRPr lang="fr-FR" dirty="0">
              <a:solidFill>
                <a:srgbClr val="FF3300"/>
              </a:solidFill>
            </a:endParaRPr>
          </a:p>
          <a:p>
            <a:r>
              <a:rPr lang="fr-FR" dirty="0" smtClean="0">
                <a:solidFill>
                  <a:schemeClr val="accent2"/>
                </a:solidFill>
              </a:rPr>
              <a:t>x=x-1;</a:t>
            </a:r>
            <a:endParaRPr lang="fr-FR" dirty="0">
              <a:solidFill>
                <a:schemeClr val="accent2"/>
              </a:solidFill>
            </a:endParaRPr>
          </a:p>
          <a:p>
            <a:r>
              <a:rPr lang="fr-FR" dirty="0">
                <a:solidFill>
                  <a:srgbClr val="FF3300"/>
                </a:solidFill>
              </a:rPr>
              <a:t>end</a:t>
            </a:r>
            <a:endParaRPr lang="fr-FR" dirty="0" smtClean="0">
              <a:solidFill>
                <a:srgbClr val="FF3300"/>
              </a:solidFill>
            </a:endParaRPr>
          </a:p>
        </p:txBody>
      </p:sp>
      <p:pic>
        <p:nvPicPr>
          <p:cNvPr id="126978" name="Picture 2"/>
          <p:cNvPicPr>
            <a:picLocks noChangeAspect="1" noChangeArrowheads="1"/>
          </p:cNvPicPr>
          <p:nvPr/>
        </p:nvPicPr>
        <p:blipFill>
          <a:blip r:embed="rId2" cstate="print"/>
          <a:srcRect/>
          <a:stretch>
            <a:fillRect/>
          </a:stretch>
        </p:blipFill>
        <p:spPr bwMode="auto">
          <a:xfrm>
            <a:off x="4355975" y="1268760"/>
            <a:ext cx="3402219" cy="124891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26978"/>
                                        </p:tgtEl>
                                        <p:attrNameLst>
                                          <p:attrName>style.visibility</p:attrName>
                                        </p:attrNameLst>
                                      </p:cBhvr>
                                      <p:to>
                                        <p:strVal val="visible"/>
                                      </p:to>
                                    </p:set>
                                    <p:animEffect transition="in" filter="fade">
                                      <p:cBhvr>
                                        <p:cTn id="10" dur="2000"/>
                                        <p:tgtEl>
                                          <p:spTgt spid="12697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p:cNvPicPr>
            <a:picLocks noChangeAspect="1" noChangeArrowheads="1"/>
          </p:cNvPicPr>
          <p:nvPr/>
        </p:nvPicPr>
        <p:blipFill>
          <a:blip r:embed="rId2" cstate="print"/>
          <a:srcRect/>
          <a:stretch>
            <a:fillRect/>
          </a:stretch>
        </p:blipFill>
        <p:spPr bwMode="auto">
          <a:xfrm>
            <a:off x="611560" y="188640"/>
            <a:ext cx="6254432" cy="1870695"/>
          </a:xfrm>
          <a:prstGeom prst="rect">
            <a:avLst/>
          </a:prstGeom>
          <a:noFill/>
          <a:ln w="9525">
            <a:noFill/>
            <a:miter lim="800000"/>
            <a:headEnd/>
            <a:tailEnd/>
          </a:ln>
        </p:spPr>
      </p:pic>
      <p:pic>
        <p:nvPicPr>
          <p:cNvPr id="124931" name="Picture 3"/>
          <p:cNvPicPr>
            <a:picLocks noChangeAspect="1" noChangeArrowheads="1"/>
          </p:cNvPicPr>
          <p:nvPr/>
        </p:nvPicPr>
        <p:blipFill>
          <a:blip r:embed="rId3" cstate="print"/>
          <a:srcRect/>
          <a:stretch>
            <a:fillRect/>
          </a:stretch>
        </p:blipFill>
        <p:spPr bwMode="auto">
          <a:xfrm>
            <a:off x="539552" y="2060848"/>
            <a:ext cx="6115788" cy="459958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24931"/>
                                        </p:tgtEl>
                                        <p:attrNameLst>
                                          <p:attrName>style.visibility</p:attrName>
                                        </p:attrNameLst>
                                      </p:cBhvr>
                                      <p:to>
                                        <p:strVal val="visible"/>
                                      </p:to>
                                    </p:set>
                                    <p:anim calcmode="lin" valueType="num">
                                      <p:cBhvr>
                                        <p:cTn id="7" dur="5000" fill="hold"/>
                                        <p:tgtEl>
                                          <p:spTgt spid="124931"/>
                                        </p:tgtEl>
                                        <p:attrNameLst>
                                          <p:attrName>ppt_w</p:attrName>
                                        </p:attrNameLst>
                                      </p:cBhvr>
                                      <p:tavLst>
                                        <p:tav tm="0">
                                          <p:val>
                                            <p:strVal val="#ppt_w*0.70"/>
                                          </p:val>
                                        </p:tav>
                                        <p:tav tm="100000">
                                          <p:val>
                                            <p:strVal val="#ppt_w"/>
                                          </p:val>
                                        </p:tav>
                                      </p:tavLst>
                                    </p:anim>
                                    <p:anim calcmode="lin" valueType="num">
                                      <p:cBhvr>
                                        <p:cTn id="8" dur="5000" fill="hold"/>
                                        <p:tgtEl>
                                          <p:spTgt spid="124931"/>
                                        </p:tgtEl>
                                        <p:attrNameLst>
                                          <p:attrName>ppt_h</p:attrName>
                                        </p:attrNameLst>
                                      </p:cBhvr>
                                      <p:tavLst>
                                        <p:tav tm="0">
                                          <p:val>
                                            <p:strVal val="#ppt_h"/>
                                          </p:val>
                                        </p:tav>
                                        <p:tav tm="100000">
                                          <p:val>
                                            <p:strVal val="#ppt_h"/>
                                          </p:val>
                                        </p:tav>
                                      </p:tavLst>
                                    </p:anim>
                                    <p:animEffect transition="in" filter="fade">
                                      <p:cBhvr>
                                        <p:cTn id="9" dur="5000"/>
                                        <p:tgtEl>
                                          <p:spTgt spid="124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p:cNvPicPr>
            <a:picLocks noChangeAspect="1" noChangeArrowheads="1"/>
          </p:cNvPicPr>
          <p:nvPr/>
        </p:nvPicPr>
        <p:blipFill>
          <a:blip r:embed="rId2" cstate="print"/>
          <a:srcRect/>
          <a:stretch>
            <a:fillRect/>
          </a:stretch>
        </p:blipFill>
        <p:spPr bwMode="auto">
          <a:xfrm>
            <a:off x="394686" y="404664"/>
            <a:ext cx="8497794" cy="670173"/>
          </a:xfrm>
          <a:prstGeom prst="rect">
            <a:avLst/>
          </a:prstGeom>
          <a:noFill/>
          <a:ln w="9525">
            <a:noFill/>
            <a:miter lim="800000"/>
            <a:headEnd/>
            <a:tailEnd/>
          </a:ln>
        </p:spPr>
      </p:pic>
      <p:pic>
        <p:nvPicPr>
          <p:cNvPr id="130051" name="Picture 3"/>
          <p:cNvPicPr>
            <a:picLocks noChangeAspect="1" noChangeArrowheads="1"/>
          </p:cNvPicPr>
          <p:nvPr/>
        </p:nvPicPr>
        <p:blipFill>
          <a:blip r:embed="rId3" cstate="print"/>
          <a:srcRect/>
          <a:stretch>
            <a:fillRect/>
          </a:stretch>
        </p:blipFill>
        <p:spPr bwMode="auto">
          <a:xfrm>
            <a:off x="611560" y="1196752"/>
            <a:ext cx="4423941" cy="2534102"/>
          </a:xfrm>
          <a:prstGeom prst="rect">
            <a:avLst/>
          </a:prstGeom>
          <a:noFill/>
          <a:ln w="9525">
            <a:noFill/>
            <a:miter lim="800000"/>
            <a:headEnd/>
            <a:tailEnd/>
          </a:ln>
        </p:spPr>
      </p:pic>
      <p:pic>
        <p:nvPicPr>
          <p:cNvPr id="130052" name="Picture 4"/>
          <p:cNvPicPr>
            <a:picLocks noChangeAspect="1" noChangeArrowheads="1"/>
          </p:cNvPicPr>
          <p:nvPr/>
        </p:nvPicPr>
        <p:blipFill>
          <a:blip r:embed="rId4" cstate="print"/>
          <a:srcRect/>
          <a:stretch>
            <a:fillRect/>
          </a:stretch>
        </p:blipFill>
        <p:spPr bwMode="auto">
          <a:xfrm>
            <a:off x="4716016" y="1484784"/>
            <a:ext cx="2232248" cy="298581"/>
          </a:xfrm>
          <a:prstGeom prst="rect">
            <a:avLst/>
          </a:prstGeom>
          <a:noFill/>
          <a:ln w="9525">
            <a:noFill/>
            <a:miter lim="800000"/>
            <a:headEnd/>
            <a:tailEnd/>
          </a:ln>
        </p:spPr>
      </p:pic>
      <p:sp>
        <p:nvSpPr>
          <p:cNvPr id="5" name="Double flèche horizontale 4"/>
          <p:cNvSpPr/>
          <p:nvPr/>
        </p:nvSpPr>
        <p:spPr>
          <a:xfrm>
            <a:off x="2555776" y="1556792"/>
            <a:ext cx="2088232" cy="14401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0053" name="Picture 5"/>
          <p:cNvPicPr>
            <a:picLocks noChangeAspect="1" noChangeArrowheads="1"/>
          </p:cNvPicPr>
          <p:nvPr/>
        </p:nvPicPr>
        <p:blipFill>
          <a:blip r:embed="rId5" cstate="print"/>
          <a:srcRect/>
          <a:stretch>
            <a:fillRect/>
          </a:stretch>
        </p:blipFill>
        <p:spPr bwMode="auto">
          <a:xfrm>
            <a:off x="549750" y="4193846"/>
            <a:ext cx="6830562" cy="146740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03648" y="1340768"/>
            <a:ext cx="5454352" cy="4524315"/>
          </a:xfrm>
          <a:prstGeom prst="rect">
            <a:avLst/>
          </a:prstGeom>
        </p:spPr>
        <p:txBody>
          <a:bodyPr wrap="square">
            <a:spAutoFit/>
          </a:bodyPr>
          <a:lstStyle/>
          <a:p>
            <a:r>
              <a:rPr lang="fr-FR" sz="2400" dirty="0" err="1" smtClean="0"/>
              <a:t>switch</a:t>
            </a:r>
            <a:r>
              <a:rPr lang="fr-FR" sz="2400" dirty="0" smtClean="0"/>
              <a:t> var</a:t>
            </a:r>
          </a:p>
          <a:p>
            <a:r>
              <a:rPr lang="fr-FR" sz="2400" dirty="0" smtClean="0"/>
              <a:t>case 1</a:t>
            </a:r>
          </a:p>
          <a:p>
            <a:r>
              <a:rPr lang="fr-FR" sz="2400" dirty="0" smtClean="0"/>
              <a:t>         instructions_1</a:t>
            </a:r>
          </a:p>
          <a:p>
            <a:r>
              <a:rPr lang="fr-FR" sz="2400" dirty="0" smtClean="0"/>
              <a:t>case 2</a:t>
            </a:r>
          </a:p>
          <a:p>
            <a:r>
              <a:rPr lang="fr-FR" sz="2400" dirty="0" smtClean="0"/>
              <a:t>          instructions 2</a:t>
            </a:r>
          </a:p>
          <a:p>
            <a:r>
              <a:rPr lang="fr-FR" sz="2400" dirty="0" smtClean="0"/>
              <a:t>..............................</a:t>
            </a:r>
          </a:p>
          <a:p>
            <a:r>
              <a:rPr lang="fr-FR" sz="2400" dirty="0" smtClean="0"/>
              <a:t>..............................</a:t>
            </a:r>
          </a:p>
          <a:p>
            <a:r>
              <a:rPr lang="fr-FR" sz="2400" dirty="0" smtClean="0"/>
              <a:t>case n</a:t>
            </a:r>
          </a:p>
          <a:p>
            <a:r>
              <a:rPr lang="fr-FR" sz="2400" dirty="0" smtClean="0"/>
              <a:t>        instructions n</a:t>
            </a:r>
          </a:p>
          <a:p>
            <a:r>
              <a:rPr lang="fr-FR" sz="2400" dirty="0" err="1" smtClean="0"/>
              <a:t>otherwise</a:t>
            </a:r>
            <a:endParaRPr lang="fr-FR" sz="2400" dirty="0" smtClean="0"/>
          </a:p>
          <a:p>
            <a:r>
              <a:rPr lang="fr-FR" sz="2400" dirty="0" smtClean="0"/>
              <a:t>             instructions par défaut</a:t>
            </a:r>
          </a:p>
          <a:p>
            <a:r>
              <a:rPr lang="fr-FR" sz="2400" dirty="0" smtClean="0"/>
              <a:t>end</a:t>
            </a:r>
            <a:endParaRPr lang="fr-FR" sz="2400" dirty="0"/>
          </a:p>
        </p:txBody>
      </p:sp>
      <p:sp>
        <p:nvSpPr>
          <p:cNvPr id="3" name="Rectangle 2"/>
          <p:cNvSpPr/>
          <p:nvPr/>
        </p:nvSpPr>
        <p:spPr>
          <a:xfrm>
            <a:off x="3131840" y="476672"/>
            <a:ext cx="3672408" cy="461665"/>
          </a:xfrm>
          <a:prstGeom prst="rect">
            <a:avLst/>
          </a:prstGeom>
        </p:spPr>
        <p:txBody>
          <a:bodyPr wrap="square">
            <a:spAutoFit/>
          </a:bodyPr>
          <a:lstStyle/>
          <a:p>
            <a:r>
              <a:rPr lang="fr-FR" sz="2400" b="1" u="sng" dirty="0" smtClean="0"/>
              <a:t>Instruction </a:t>
            </a:r>
            <a:r>
              <a:rPr lang="fr-FR" sz="2400" b="1" u="sng" dirty="0" err="1" smtClean="0"/>
              <a:t>switch</a:t>
            </a:r>
            <a:r>
              <a:rPr lang="fr-FR" sz="2400" b="1" u="sng" dirty="0" smtClean="0"/>
              <a:t>-case</a:t>
            </a:r>
            <a:endParaRPr lang="fr-FR" sz="2400" b="1" u="sng"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p:cNvPicPr>
            <a:picLocks noChangeAspect="1" noChangeArrowheads="1"/>
          </p:cNvPicPr>
          <p:nvPr/>
        </p:nvPicPr>
        <p:blipFill>
          <a:blip r:embed="rId2" cstate="print"/>
          <a:srcRect/>
          <a:stretch>
            <a:fillRect/>
          </a:stretch>
        </p:blipFill>
        <p:spPr bwMode="auto">
          <a:xfrm>
            <a:off x="1023938" y="1095375"/>
            <a:ext cx="7096125" cy="4667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1" name="Picture 3"/>
          <p:cNvPicPr>
            <a:picLocks noChangeAspect="1" noChangeArrowheads="1"/>
          </p:cNvPicPr>
          <p:nvPr/>
        </p:nvPicPr>
        <p:blipFill>
          <a:blip r:embed="rId2" cstate="print"/>
          <a:srcRect/>
          <a:stretch>
            <a:fillRect/>
          </a:stretch>
        </p:blipFill>
        <p:spPr bwMode="auto">
          <a:xfrm>
            <a:off x="260852" y="1772816"/>
            <a:ext cx="8487612" cy="4824537"/>
          </a:xfrm>
          <a:prstGeom prst="rect">
            <a:avLst/>
          </a:prstGeom>
          <a:noFill/>
          <a:ln w="9525">
            <a:noFill/>
            <a:miter lim="800000"/>
            <a:headEnd/>
            <a:tailEnd/>
          </a:ln>
        </p:spPr>
      </p:pic>
      <p:pic>
        <p:nvPicPr>
          <p:cNvPr id="124933" name="Picture 5"/>
          <p:cNvPicPr>
            <a:picLocks noChangeAspect="1" noChangeArrowheads="1"/>
          </p:cNvPicPr>
          <p:nvPr/>
        </p:nvPicPr>
        <p:blipFill>
          <a:blip r:embed="rId3" cstate="print"/>
          <a:srcRect/>
          <a:stretch>
            <a:fillRect/>
          </a:stretch>
        </p:blipFill>
        <p:spPr bwMode="auto">
          <a:xfrm>
            <a:off x="251520" y="515182"/>
            <a:ext cx="8712968" cy="1185625"/>
          </a:xfrm>
          <a:prstGeom prst="rect">
            <a:avLst/>
          </a:prstGeom>
          <a:noFill/>
          <a:ln w="9525">
            <a:noFill/>
            <a:miter lim="800000"/>
            <a:headEnd/>
            <a:tailEnd/>
          </a:ln>
        </p:spPr>
      </p:pic>
      <p:pic>
        <p:nvPicPr>
          <p:cNvPr id="124934" name="Picture 6"/>
          <p:cNvPicPr>
            <a:picLocks noChangeAspect="1" noChangeArrowheads="1"/>
          </p:cNvPicPr>
          <p:nvPr/>
        </p:nvPicPr>
        <p:blipFill>
          <a:blip r:embed="rId4" cstate="print"/>
          <a:srcRect/>
          <a:stretch>
            <a:fillRect/>
          </a:stretch>
        </p:blipFill>
        <p:spPr bwMode="auto">
          <a:xfrm>
            <a:off x="5715008" y="1462958"/>
            <a:ext cx="3474119" cy="49664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4933"/>
                                        </p:tgtEl>
                                        <p:attrNameLst>
                                          <p:attrName>style.visibility</p:attrName>
                                        </p:attrNameLst>
                                      </p:cBhvr>
                                      <p:to>
                                        <p:strVal val="visible"/>
                                      </p:to>
                                    </p:set>
                                    <p:animEffect transition="in" filter="fade">
                                      <p:cBhvr>
                                        <p:cTn id="7" dur="2000"/>
                                        <p:tgtEl>
                                          <p:spTgt spid="12493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4931"/>
                                        </p:tgtEl>
                                        <p:attrNameLst>
                                          <p:attrName>style.visibility</p:attrName>
                                        </p:attrNameLst>
                                      </p:cBhvr>
                                      <p:to>
                                        <p:strVal val="visible"/>
                                      </p:to>
                                    </p:set>
                                    <p:anim calcmode="lin" valueType="num">
                                      <p:cBhvr additive="base">
                                        <p:cTn id="12" dur="500" fill="hold"/>
                                        <p:tgtEl>
                                          <p:spTgt spid="124931"/>
                                        </p:tgtEl>
                                        <p:attrNameLst>
                                          <p:attrName>ppt_x</p:attrName>
                                        </p:attrNameLst>
                                      </p:cBhvr>
                                      <p:tavLst>
                                        <p:tav tm="0">
                                          <p:val>
                                            <p:strVal val="#ppt_x"/>
                                          </p:val>
                                        </p:tav>
                                        <p:tav tm="100000">
                                          <p:val>
                                            <p:strVal val="#ppt_x"/>
                                          </p:val>
                                        </p:tav>
                                      </p:tavLst>
                                    </p:anim>
                                    <p:anim calcmode="lin" valueType="num">
                                      <p:cBhvr additive="base">
                                        <p:cTn id="13" dur="500" fill="hold"/>
                                        <p:tgtEl>
                                          <p:spTgt spid="12493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24934"/>
                                        </p:tgtEl>
                                        <p:attrNameLst>
                                          <p:attrName>style.visibility</p:attrName>
                                        </p:attrNameLst>
                                      </p:cBhvr>
                                      <p:to>
                                        <p:strVal val="visible"/>
                                      </p:to>
                                    </p:set>
                                    <p:anim calcmode="lin" valueType="num">
                                      <p:cBhvr additive="base">
                                        <p:cTn id="18" dur="500" fill="hold"/>
                                        <p:tgtEl>
                                          <p:spTgt spid="124934"/>
                                        </p:tgtEl>
                                        <p:attrNameLst>
                                          <p:attrName>ppt_x</p:attrName>
                                        </p:attrNameLst>
                                      </p:cBhvr>
                                      <p:tavLst>
                                        <p:tav tm="0">
                                          <p:val>
                                            <p:strVal val="#ppt_x"/>
                                          </p:val>
                                        </p:tav>
                                        <p:tav tm="100000">
                                          <p:val>
                                            <p:strVal val="#ppt_x"/>
                                          </p:val>
                                        </p:tav>
                                      </p:tavLst>
                                    </p:anim>
                                    <p:anim calcmode="lin" valueType="num">
                                      <p:cBhvr additive="base">
                                        <p:cTn id="19" dur="500" fill="hold"/>
                                        <p:tgtEl>
                                          <p:spTgt spid="1249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apitaux">
  <a:themeElements>
    <a:clrScheme name="Capitaux">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pitaux">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apitaux">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TotalTime>
  <Words>3801</Words>
  <Application>Microsoft Office PowerPoint</Application>
  <PresentationFormat>Affichage à l'écran (4:3)</PresentationFormat>
  <Paragraphs>1037</Paragraphs>
  <Slides>104</Slides>
  <Notes>56</Notes>
  <HiddenSlides>0</HiddenSlides>
  <MMClips>0</MMClips>
  <ScaleCrop>false</ScaleCrop>
  <HeadingPairs>
    <vt:vector size="6" baseType="variant">
      <vt:variant>
        <vt:lpstr>Thème</vt:lpstr>
      </vt:variant>
      <vt:variant>
        <vt:i4>1</vt:i4>
      </vt:variant>
      <vt:variant>
        <vt:lpstr>Serveurs OLE incorporés</vt:lpstr>
      </vt:variant>
      <vt:variant>
        <vt:i4>1</vt:i4>
      </vt:variant>
      <vt:variant>
        <vt:lpstr>Titres des diapositives</vt:lpstr>
      </vt:variant>
      <vt:variant>
        <vt:i4>104</vt:i4>
      </vt:variant>
    </vt:vector>
  </HeadingPairs>
  <TitlesOfParts>
    <vt:vector size="106" baseType="lpstr">
      <vt:lpstr>Capitaux</vt:lpstr>
      <vt:lpstr>Équation</vt:lpstr>
      <vt:lpstr>TP Analyse Numérique sous MATLAB</vt:lpstr>
      <vt:lpstr>Diapositive 2</vt:lpstr>
      <vt:lpstr>Outils de programmation pour les mathématiques</vt:lpstr>
      <vt:lpstr>Objectif</vt:lpstr>
      <vt:lpstr>Quelques Outils de programmation pour les mathématiques</vt:lpstr>
      <vt:lpstr>Livres intéressants</vt:lpstr>
      <vt:lpstr>Programme S3</vt:lpstr>
      <vt:lpstr>Chapitre 1 Introduction au Logiciel MATLAB</vt:lpstr>
      <vt:lpstr>Présentation générale</vt:lpstr>
      <vt:lpstr>Diapositive 10</vt:lpstr>
      <vt:lpstr>Le logiciel Matlab </vt:lpstr>
      <vt:lpstr>Diapositive 12</vt:lpstr>
      <vt:lpstr>Le logiciel Matlab </vt:lpstr>
      <vt:lpstr>Diapositive 14</vt:lpstr>
      <vt:lpstr>Diapositive 15</vt:lpstr>
      <vt:lpstr>Diapositive 16</vt:lpstr>
      <vt:lpstr>Diapositive 17</vt:lpstr>
      <vt:lpstr>Diapositive 18</vt:lpstr>
      <vt:lpstr>Premières Commandes Matlab</vt:lpstr>
      <vt:lpstr>Diapositive 20</vt:lpstr>
      <vt:lpstr>Diapositive 21</vt:lpstr>
      <vt:lpstr>Diapositive 22</vt:lpstr>
      <vt:lpstr>Diapositive 23</vt:lpstr>
      <vt:lpstr>Diapositive 24</vt:lpstr>
      <vt:lpstr>Diapositive 25</vt:lpstr>
      <vt:lpstr>Diapositive 26</vt:lpstr>
      <vt:lpstr>Diapositive 27</vt:lpstr>
      <vt:lpstr>Les Variables en Matlab</vt:lpstr>
      <vt:lpstr>Diapositive 29</vt:lpstr>
      <vt:lpstr>Diapositive 30</vt:lpstr>
      <vt:lpstr>Diapositive 31</vt:lpstr>
      <vt:lpstr>Diapositive 32</vt:lpstr>
      <vt:lpstr>Diapositive 33</vt:lpstr>
      <vt:lpstr>Diapositive 34</vt:lpstr>
      <vt:lpstr>Diapositive 35</vt:lpstr>
      <vt:lpstr>Diapositive 36</vt:lpstr>
      <vt:lpstr>Diapositive 37</vt:lpstr>
      <vt:lpstr>Diapositive 38</vt:lpstr>
      <vt:lpstr>Diapositive 39</vt:lpstr>
      <vt:lpstr>Diapositive 40</vt:lpstr>
      <vt:lpstr>Diapositive 41</vt:lpstr>
      <vt:lpstr>Diapositive 42</vt:lpstr>
      <vt:lpstr>Les opérateurs  dans Matlab</vt:lpstr>
      <vt:lpstr>Diapositive 44</vt:lpstr>
      <vt:lpstr>Diapositive 45</vt:lpstr>
      <vt:lpstr>Diapositive 46</vt:lpstr>
      <vt:lpstr>Diapositive 47</vt:lpstr>
      <vt:lpstr>Diapositive 48</vt:lpstr>
      <vt:lpstr>Les Fonctions prédéfinies</vt:lpstr>
      <vt:lpstr>Diapositive 50</vt:lpstr>
      <vt:lpstr>Diapositive 51</vt:lpstr>
      <vt:lpstr>Diapositive 52</vt:lpstr>
      <vt:lpstr>Diapositive 53</vt:lpstr>
      <vt:lpstr>Diapositive 54</vt:lpstr>
      <vt:lpstr>Diapositive 55</vt:lpstr>
      <vt:lpstr>Diapositive 56</vt:lpstr>
      <vt:lpstr>Diapositive 57</vt:lpstr>
      <vt:lpstr>Exercices</vt:lpstr>
      <vt:lpstr>Diapositive 59</vt:lpstr>
      <vt:lpstr>Diapositive 60</vt:lpstr>
      <vt:lpstr>Diapositive 61</vt:lpstr>
      <vt:lpstr>Diapositive 62</vt:lpstr>
      <vt:lpstr>  Manipulation des Vecteurs et Matrices</vt:lpstr>
      <vt:lpstr>Diapositive 64</vt:lpstr>
      <vt:lpstr>Diapositive 65</vt:lpstr>
      <vt:lpstr>Diapositive 66</vt:lpstr>
      <vt:lpstr>Diapositive 67</vt:lpstr>
      <vt:lpstr>Diapositive 68</vt:lpstr>
      <vt:lpstr>Diapositive 69</vt:lpstr>
      <vt:lpstr>Diapositive 70</vt:lpstr>
      <vt:lpstr>Diapositive 71</vt:lpstr>
      <vt:lpstr>Diapositive 72</vt:lpstr>
      <vt:lpstr>Diapositive 73</vt:lpstr>
      <vt:lpstr>Diapositive 74</vt:lpstr>
      <vt:lpstr>Diapositive 75</vt:lpstr>
      <vt:lpstr>Diapositive 76</vt:lpstr>
      <vt:lpstr>Diapositive 77</vt:lpstr>
      <vt:lpstr>Diapositive 78</vt:lpstr>
      <vt:lpstr>Diapositive 79</vt:lpstr>
      <vt:lpstr>Diapositive 80</vt:lpstr>
      <vt:lpstr>Diapositive 81</vt:lpstr>
      <vt:lpstr>Diapositive 82</vt:lpstr>
      <vt:lpstr>Diapositive 83</vt:lpstr>
      <vt:lpstr>Diapositive 84</vt:lpstr>
      <vt:lpstr>Diapositive 85</vt:lpstr>
      <vt:lpstr>Diapositive 86</vt:lpstr>
      <vt:lpstr>Diapositive 87</vt:lpstr>
      <vt:lpstr>Diapositive 88</vt:lpstr>
      <vt:lpstr>Diapositive 89</vt:lpstr>
      <vt:lpstr>Diapositive 90</vt:lpstr>
      <vt:lpstr>Diapositive 91</vt:lpstr>
      <vt:lpstr>Diapositive 92</vt:lpstr>
      <vt:lpstr>Diapositive 93</vt:lpstr>
      <vt:lpstr>Diapositive 94</vt:lpstr>
      <vt:lpstr>Diapositive 95</vt:lpstr>
      <vt:lpstr>Diapositive 96</vt:lpstr>
      <vt:lpstr>Diapositive 97</vt:lpstr>
      <vt:lpstr>Diapositive 98</vt:lpstr>
      <vt:lpstr>Diapositive 99</vt:lpstr>
      <vt:lpstr>Diapositive 100</vt:lpstr>
      <vt:lpstr>Diapositive 101</vt:lpstr>
      <vt:lpstr>Diapositive 102</vt:lpstr>
      <vt:lpstr>Diapositive 103</vt:lpstr>
      <vt:lpstr>Diapositive 104</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 Analyse Numérique avec MATLAB</dc:title>
  <dc:creator>user</dc:creator>
  <cp:lastModifiedBy>user</cp:lastModifiedBy>
  <cp:revision>7</cp:revision>
  <dcterms:created xsi:type="dcterms:W3CDTF">2020-12-23T20:23:38Z</dcterms:created>
  <dcterms:modified xsi:type="dcterms:W3CDTF">2024-10-30T19:18:39Z</dcterms:modified>
</cp:coreProperties>
</file>